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State the one-line claim: we built a transpiler that does not merely produce C, but produces C we can prove behaves like CPython — and we ship the falsifier. The numbers at the bottom are already achieved, not targets.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four arithmetic examples — they land instantly and they are the whole motivation. Emphasise: the failure mode is silent. Then the two cards: who benefits, and what the field currently does not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problem statement aloud — it is deliberately formal because the whole project is judged against it. Then: five objectives, each with a metric, a target and an instrument, and the right-hand column shows what is already achieved. Scope: what is in, and what is deferred with a named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concepts, one per card. Be ready to justify each choice, not just name it — especially why Pratt rather than a precedence cascade, and what bidirectional means (which rules synthesise, which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the table row by row. Point at the last two columns and state the pattern. Then the three-part gap. Close with the honesty line — we are not claiming to beat Codon; we are claiming to be checkable.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Requirements are unremarkable and that is the point — feasibility is not in question. Spend the time on the risk register, especially R1 and R6: R6 is the interesting one, because the oracle turns an unsoundness into a visible failure rather than a silent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six stages briskly — the audience can read. Land hard on two design decisions: the fidelity report lives in the compiler so it cannot go stale, and lists are monomorphised rather than boxed, which is what turns the type information into speed.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one program through the diagram left to right. Then the invariants table — each stage guarantees something the next one relies on. Finish on the interfaces: these are data-structure contracts, not calling conventions, which is why the four of us are not blocked on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Modules first — one owner, one reason to change. Then the catalogue: this is the table to know cold. Be ready to work −7//2 and −7%2 by hand in both languages, and to explain why D6 cannot be caught statically (the exponent's sign is a run-time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explicitly that nobody's row says 'documentation' or 'PPT' — the guidelines ask for division by module and measurable output. Then the secondary-owner line: that is our answer to R4.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Gantt has four swimlanes and 25 tasks; do not read it. Say: work is parallel from Week 2 because the interfaces are data structures, and the three gates on the right each have an acceptance criterion that is a number, not an opinion.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five stats. Then the gcd example — show the py_mod_i64 call and say what C's own % would have printed. Then, deliberately, the bugs: a Review 1 that reports only successes is describing a demonstration, not a project. Close on Collatz feeding Review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closing slide — slow down. Outcomes table shows targets against what is already measured. Three risks, each with a concrete response. Then the one-line conclusion, which is the sentence we want the evaluator to remember.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these. They are on the slide so the evaluator can see the work is grounded. If asked which mattered most: Pierce &amp; Turner for the type checker, McKeeman and Csmith for the oracle, and the Python Language Reference plus ISO C for the divergence catalogue.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use if asked about the grammar, the diagnostic quality, or how the negative suite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use if asked for the full results or to see the fidelity report in detail. The Collatz row is highlighted because it is the one that motivates Review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566928" y="777240"/>
            <a:ext cx="11057839" cy="274320"/>
          </a:xfrm>
          <a:prstGeom prst="rect">
            <a:avLst/>
          </a:prstGeom>
          <a:noFill/>
          <a:ln/>
        </p:spPr>
        <p:txBody>
          <a:bodyPr wrap="square" lIns="0" tIns="0" rIns="0" bIns="0" rtlCol="0" anchor="ctr"/>
          <a:lstStyle/>
          <a:p>
            <a:pPr indent="0" marL="0">
              <a:buNone/>
            </a:pPr>
            <a:r>
              <a:rPr lang="en-US" sz="1200" b="1" spc="220" kern="0" dirty="0">
                <a:solidFill>
                  <a:srgbClr val="F59E0B"/>
                </a:solidFill>
              </a:rPr>
              <a:t>BCSE307L  ·  COMPILER DESIGN  ·  PROJECT REVIEW 1</a:t>
            </a:r>
            <a:endParaRPr lang="en-US" sz="1200" dirty="0"/>
          </a:p>
        </p:txBody>
      </p:sp>
      <p:sp>
        <p:nvSpPr>
          <p:cNvPr id="3" name="Text 1"/>
          <p:cNvSpPr/>
          <p:nvPr/>
        </p:nvSpPr>
        <p:spPr>
          <a:xfrm>
            <a:off x="566928" y="1170432"/>
            <a:ext cx="11057839" cy="1234440"/>
          </a:xfrm>
          <a:prstGeom prst="rect">
            <a:avLst/>
          </a:prstGeom>
          <a:noFill/>
          <a:ln/>
        </p:spPr>
        <p:txBody>
          <a:bodyPr wrap="square" lIns="0" tIns="0" rIns="0" bIns="0" rtlCol="0" anchor="ctr"/>
          <a:lstStyle/>
          <a:p>
            <a:pPr indent="0" marL="0">
              <a:buNone/>
            </a:pPr>
            <a:r>
              <a:rPr lang="en-US" sz="7800" b="1" dirty="0">
                <a:solidFill>
                  <a:srgbClr val="FFFFFF"/>
                </a:solidFill>
              </a:rPr>
              <a:t>PYTHIA</a:t>
            </a:r>
            <a:endParaRPr lang="en-US" sz="7800" dirty="0"/>
          </a:p>
        </p:txBody>
      </p:sp>
      <p:sp>
        <p:nvSpPr>
          <p:cNvPr id="4" name="Text 2"/>
          <p:cNvSpPr/>
          <p:nvPr/>
        </p:nvSpPr>
        <p:spPr>
          <a:xfrm>
            <a:off x="566928" y="2395728"/>
            <a:ext cx="11057839" cy="329184"/>
          </a:xfrm>
          <a:prstGeom prst="rect">
            <a:avLst/>
          </a:prstGeom>
          <a:noFill/>
          <a:ln/>
        </p:spPr>
        <p:txBody>
          <a:bodyPr wrap="square" lIns="0" tIns="0" rIns="0" bIns="0" rtlCol="0" anchor="ctr"/>
          <a:lstStyle/>
          <a:p>
            <a:pPr indent="0" marL="0">
              <a:buNone/>
            </a:pPr>
            <a:r>
              <a:rPr lang="en-US" sz="2000" dirty="0">
                <a:solidFill>
                  <a:srgbClr val="CBD5E1"/>
                </a:solidFill>
              </a:rPr>
              <a:t>A statically typed Python-subset → C transpiler,</a:t>
            </a:r>
            <a:endParaRPr lang="en-US" sz="2000" dirty="0"/>
          </a:p>
        </p:txBody>
      </p:sp>
      <p:sp>
        <p:nvSpPr>
          <p:cNvPr id="5" name="Text 3"/>
          <p:cNvSpPr/>
          <p:nvPr/>
        </p:nvSpPr>
        <p:spPr>
          <a:xfrm>
            <a:off x="566928" y="2706624"/>
            <a:ext cx="11057839" cy="329184"/>
          </a:xfrm>
          <a:prstGeom prst="rect">
            <a:avLst/>
          </a:prstGeom>
          <a:noFill/>
          <a:ln/>
        </p:spPr>
        <p:txBody>
          <a:bodyPr wrap="square" lIns="0" tIns="0" rIns="0" bIns="0" rtlCol="0" anchor="ctr"/>
          <a:lstStyle/>
          <a:p>
            <a:pPr indent="0" marL="0">
              <a:buNone/>
            </a:pPr>
            <a:r>
              <a:rPr lang="en-US" sz="2000" i="1" dirty="0">
                <a:solidFill>
                  <a:srgbClr val="F59E0B"/>
                </a:solidFill>
              </a:rPr>
              <a:t>verified by a differential-testing oracle</a:t>
            </a:r>
            <a:endParaRPr lang="en-US" sz="2000" dirty="0"/>
          </a:p>
        </p:txBody>
      </p:sp>
      <p:sp>
        <p:nvSpPr>
          <p:cNvPr id="6" name="Shape 4"/>
          <p:cNvSpPr/>
          <p:nvPr/>
        </p:nvSpPr>
        <p:spPr>
          <a:xfrm>
            <a:off x="566928" y="3310128"/>
            <a:ext cx="11057839" cy="0"/>
          </a:xfrm>
          <a:prstGeom prst="line">
            <a:avLst/>
          </a:prstGeom>
          <a:noFill/>
          <a:ln w="19050">
            <a:solidFill>
              <a:srgbClr val="1E293B"/>
            </a:solidFill>
            <a:prstDash val="solid"/>
          </a:ln>
        </p:spPr>
      </p:sp>
      <p:sp>
        <p:nvSpPr>
          <p:cNvPr id="7" name="Text 5"/>
          <p:cNvSpPr/>
          <p:nvPr/>
        </p:nvSpPr>
        <p:spPr>
          <a:xfrm>
            <a:off x="566928" y="3493008"/>
            <a:ext cx="3474720" cy="219456"/>
          </a:xfrm>
          <a:prstGeom prst="rect">
            <a:avLst/>
          </a:prstGeom>
          <a:noFill/>
          <a:ln/>
        </p:spPr>
        <p:txBody>
          <a:bodyPr wrap="square" lIns="0" tIns="0" rIns="0" bIns="0" rtlCol="0" anchor="ctr"/>
          <a:lstStyle/>
          <a:p>
            <a:pPr indent="0" marL="0">
              <a:buNone/>
            </a:pPr>
            <a:r>
              <a:rPr lang="en-US" sz="900" b="1" spc="120" kern="0" dirty="0">
                <a:solidFill>
                  <a:srgbClr val="64748B"/>
                </a:solidFill>
              </a:rPr>
              <a:t>TEAM NUMBER</a:t>
            </a:r>
            <a:endParaRPr lang="en-US" sz="900" dirty="0"/>
          </a:p>
        </p:txBody>
      </p:sp>
      <p:sp>
        <p:nvSpPr>
          <p:cNvPr id="8" name="Text 6"/>
          <p:cNvSpPr/>
          <p:nvPr/>
        </p:nvSpPr>
        <p:spPr>
          <a:xfrm>
            <a:off x="566928" y="3703320"/>
            <a:ext cx="3474720" cy="274320"/>
          </a:xfrm>
          <a:prstGeom prst="rect">
            <a:avLst/>
          </a:prstGeom>
          <a:noFill/>
          <a:ln/>
        </p:spPr>
        <p:txBody>
          <a:bodyPr wrap="square" lIns="0" tIns="0" rIns="0" bIns="0" rtlCol="0" anchor="ctr"/>
          <a:lstStyle/>
          <a:p>
            <a:pPr indent="0" marL="0">
              <a:buNone/>
            </a:pPr>
            <a:r>
              <a:rPr lang="en-US" sz="1300" dirty="0">
                <a:solidFill>
                  <a:srgbClr val="FFFFFF"/>
                </a:solidFill>
              </a:rPr>
              <a:t>Team 2</a:t>
            </a:r>
            <a:endParaRPr lang="en-US" sz="1300" dirty="0"/>
          </a:p>
        </p:txBody>
      </p:sp>
      <p:sp>
        <p:nvSpPr>
          <p:cNvPr id="9" name="Text 7"/>
          <p:cNvSpPr/>
          <p:nvPr/>
        </p:nvSpPr>
        <p:spPr>
          <a:xfrm>
            <a:off x="4270248" y="3493008"/>
            <a:ext cx="3474720" cy="219456"/>
          </a:xfrm>
          <a:prstGeom prst="rect">
            <a:avLst/>
          </a:prstGeom>
          <a:noFill/>
          <a:ln/>
        </p:spPr>
        <p:txBody>
          <a:bodyPr wrap="square" lIns="0" tIns="0" rIns="0" bIns="0" rtlCol="0" anchor="ctr"/>
          <a:lstStyle/>
          <a:p>
            <a:pPr indent="0" marL="0">
              <a:buNone/>
            </a:pPr>
            <a:r>
              <a:rPr lang="en-US" sz="900" b="1" spc="120" kern="0" dirty="0">
                <a:solidFill>
                  <a:srgbClr val="64748B"/>
                </a:solidFill>
              </a:rPr>
              <a:t>PROJECT ID</a:t>
            </a:r>
            <a:endParaRPr lang="en-US" sz="900" dirty="0"/>
          </a:p>
        </p:txBody>
      </p:sp>
      <p:sp>
        <p:nvSpPr>
          <p:cNvPr id="10" name="Text 8"/>
          <p:cNvSpPr/>
          <p:nvPr/>
        </p:nvSpPr>
        <p:spPr>
          <a:xfrm>
            <a:off x="4270248" y="3703320"/>
            <a:ext cx="3474720" cy="274320"/>
          </a:xfrm>
          <a:prstGeom prst="rect">
            <a:avLst/>
          </a:prstGeom>
          <a:noFill/>
          <a:ln/>
        </p:spPr>
        <p:txBody>
          <a:bodyPr wrap="square" lIns="0" tIns="0" rIns="0" bIns="0" rtlCol="0" anchor="ctr"/>
          <a:lstStyle/>
          <a:p>
            <a:pPr indent="0" marL="0">
              <a:buNone/>
            </a:pPr>
            <a:r>
              <a:rPr lang="en-US" sz="1300" dirty="0">
                <a:solidFill>
                  <a:srgbClr val="FFFFFF"/>
                </a:solidFill>
              </a:rPr>
              <a:t>A15 — Typed Source-to-Source Transpiler</a:t>
            </a:r>
            <a:endParaRPr lang="en-US" sz="1300" dirty="0"/>
          </a:p>
        </p:txBody>
      </p:sp>
      <p:sp>
        <p:nvSpPr>
          <p:cNvPr id="11" name="Text 9"/>
          <p:cNvSpPr/>
          <p:nvPr/>
        </p:nvSpPr>
        <p:spPr>
          <a:xfrm>
            <a:off x="7973568" y="3493008"/>
            <a:ext cx="3474720" cy="219456"/>
          </a:xfrm>
          <a:prstGeom prst="rect">
            <a:avLst/>
          </a:prstGeom>
          <a:noFill/>
          <a:ln/>
        </p:spPr>
        <p:txBody>
          <a:bodyPr wrap="square" lIns="0" tIns="0" rIns="0" bIns="0" rtlCol="0" anchor="ctr"/>
          <a:lstStyle/>
          <a:p>
            <a:pPr indent="0" marL="0">
              <a:buNone/>
            </a:pPr>
            <a:r>
              <a:rPr lang="en-US" sz="900" b="1" spc="120" kern="0" dirty="0">
                <a:solidFill>
                  <a:srgbClr val="64748B"/>
                </a:solidFill>
              </a:rPr>
              <a:t>INSTITUTION</a:t>
            </a:r>
            <a:endParaRPr lang="en-US" sz="900" dirty="0"/>
          </a:p>
        </p:txBody>
      </p:sp>
      <p:sp>
        <p:nvSpPr>
          <p:cNvPr id="12" name="Text 10"/>
          <p:cNvSpPr/>
          <p:nvPr/>
        </p:nvSpPr>
        <p:spPr>
          <a:xfrm>
            <a:off x="7973568" y="3703320"/>
            <a:ext cx="3474720" cy="274320"/>
          </a:xfrm>
          <a:prstGeom prst="rect">
            <a:avLst/>
          </a:prstGeom>
          <a:noFill/>
          <a:ln/>
        </p:spPr>
        <p:txBody>
          <a:bodyPr wrap="square" lIns="0" tIns="0" rIns="0" bIns="0" rtlCol="0" anchor="ctr"/>
          <a:lstStyle/>
          <a:p>
            <a:pPr indent="0" marL="0">
              <a:buNone/>
            </a:pPr>
            <a:r>
              <a:rPr lang="en-US" sz="1300" dirty="0">
                <a:solidFill>
                  <a:srgbClr val="FFFFFF"/>
                </a:solidFill>
              </a:rPr>
              <a:t>VIT Vellore</a:t>
            </a:r>
            <a:endParaRPr lang="en-US" sz="1300" dirty="0"/>
          </a:p>
        </p:txBody>
      </p:sp>
      <p:sp>
        <p:nvSpPr>
          <p:cNvPr id="13" name="Shape 11"/>
          <p:cNvSpPr/>
          <p:nvPr/>
        </p:nvSpPr>
        <p:spPr>
          <a:xfrm>
            <a:off x="566928" y="4370832"/>
            <a:ext cx="2615184" cy="1298448"/>
          </a:xfrm>
          <a:prstGeom prst="roundRect">
            <a:avLst>
              <a:gd name="adj" fmla="val 5634"/>
            </a:avLst>
          </a:prstGeom>
          <a:solidFill>
            <a:srgbClr val="1E293B"/>
          </a:solidFill>
          <a:ln w="9525">
            <a:solidFill>
              <a:srgbClr val="334155"/>
            </a:solidFill>
            <a:prstDash val="solid"/>
          </a:ln>
        </p:spPr>
      </p:sp>
      <p:sp>
        <p:nvSpPr>
          <p:cNvPr id="14" name="Shape 12"/>
          <p:cNvSpPr/>
          <p:nvPr/>
        </p:nvSpPr>
        <p:spPr>
          <a:xfrm>
            <a:off x="749808" y="4535424"/>
            <a:ext cx="237744" cy="237744"/>
          </a:xfrm>
          <a:prstGeom prst="ellipse">
            <a:avLst/>
          </a:prstGeom>
          <a:solidFill>
            <a:srgbClr val="F59E0B"/>
          </a:solidFill>
          <a:ln w="12700">
            <a:solidFill>
              <a:srgbClr val="333333"/>
            </a:solidFill>
            <a:prstDash val="solid"/>
          </a:ln>
        </p:spPr>
      </p:sp>
      <p:sp>
        <p:nvSpPr>
          <p:cNvPr id="15" name="Text 13"/>
          <p:cNvSpPr/>
          <p:nvPr/>
        </p:nvSpPr>
        <p:spPr>
          <a:xfrm>
            <a:off x="749808" y="4535424"/>
            <a:ext cx="237744" cy="237744"/>
          </a:xfrm>
          <a:prstGeom prst="rect">
            <a:avLst/>
          </a:prstGeom>
          <a:noFill/>
          <a:ln/>
        </p:spPr>
        <p:txBody>
          <a:bodyPr wrap="square" lIns="0" tIns="0" rIns="0" bIns="0" rtlCol="0" anchor="ctr"/>
          <a:lstStyle/>
          <a:p>
            <a:pPr algn="ctr" indent="0" marL="0">
              <a:buNone/>
            </a:pPr>
            <a:r>
              <a:rPr lang="en-US" sz="800" b="1" dirty="0">
                <a:solidFill>
                  <a:srgbClr val="0F172A"/>
                </a:solidFill>
              </a:rPr>
              <a:t>M1</a:t>
            </a:r>
            <a:endParaRPr lang="en-US" sz="800" dirty="0"/>
          </a:p>
        </p:txBody>
      </p:sp>
      <p:sp>
        <p:nvSpPr>
          <p:cNvPr id="16" name="Text 14"/>
          <p:cNvSpPr/>
          <p:nvPr/>
        </p:nvSpPr>
        <p:spPr>
          <a:xfrm>
            <a:off x="1069848" y="4517136"/>
            <a:ext cx="2011680" cy="274320"/>
          </a:xfrm>
          <a:prstGeom prst="rect">
            <a:avLst/>
          </a:prstGeom>
          <a:noFill/>
          <a:ln/>
        </p:spPr>
        <p:txBody>
          <a:bodyPr wrap="square" lIns="0" tIns="0" rIns="0" bIns="0" rtlCol="0" anchor="ctr"/>
          <a:lstStyle/>
          <a:p>
            <a:pPr indent="0" marL="0">
              <a:buNone/>
            </a:pPr>
            <a:r>
              <a:rPr lang="en-US" sz="1150" b="1" dirty="0">
                <a:solidFill>
                  <a:srgbClr val="FFFFFF"/>
                </a:solidFill>
              </a:rPr>
              <a:t>VISHAL VIVEK</a:t>
            </a:r>
            <a:endParaRPr lang="en-US" sz="1150" dirty="0"/>
          </a:p>
        </p:txBody>
      </p:sp>
      <p:sp>
        <p:nvSpPr>
          <p:cNvPr id="17" name="Text 15"/>
          <p:cNvSpPr/>
          <p:nvPr/>
        </p:nvSpPr>
        <p:spPr>
          <a:xfrm>
            <a:off x="749808" y="4864608"/>
            <a:ext cx="2286000" cy="219456"/>
          </a:xfrm>
          <a:prstGeom prst="rect">
            <a:avLst/>
          </a:prstGeom>
          <a:noFill/>
          <a:ln/>
        </p:spPr>
        <p:txBody>
          <a:bodyPr wrap="square" lIns="0" tIns="0" rIns="0" bIns="0" rtlCol="0" anchor="ctr"/>
          <a:lstStyle/>
          <a:p>
            <a:pPr indent="0" marL="0">
              <a:buNone/>
            </a:pPr>
            <a:r>
              <a:rPr lang="en-US" sz="1000" dirty="0">
                <a:solidFill>
                  <a:srgbClr val="64748B"/>
                </a:solidFill>
              </a:rPr>
              <a:t>24BCE2377</a:t>
            </a:r>
            <a:endParaRPr lang="en-US" sz="1000" dirty="0"/>
          </a:p>
        </p:txBody>
      </p:sp>
      <p:sp>
        <p:nvSpPr>
          <p:cNvPr id="18" name="Text 16"/>
          <p:cNvSpPr/>
          <p:nvPr/>
        </p:nvSpPr>
        <p:spPr>
          <a:xfrm>
            <a:off x="749808" y="5120640"/>
            <a:ext cx="2286000" cy="457200"/>
          </a:xfrm>
          <a:prstGeom prst="rect">
            <a:avLst/>
          </a:prstGeom>
          <a:noFill/>
          <a:ln/>
        </p:spPr>
        <p:txBody>
          <a:bodyPr wrap="square" lIns="0" tIns="0" rIns="0" bIns="0" rtlCol="0" anchor="ctr"/>
          <a:lstStyle/>
          <a:p>
            <a:pPr indent="0" marL="0">
              <a:lnSpc>
                <a:spcPts val="1300"/>
              </a:lnSpc>
              <a:buNone/>
            </a:pPr>
            <a:r>
              <a:rPr lang="en-US" sz="1050" dirty="0">
                <a:solidFill>
                  <a:srgbClr val="CBD5E1"/>
                </a:solidFill>
              </a:rPr>
              <a:t>Project lead · Front end</a:t>
            </a:r>
            <a:endParaRPr lang="en-US" sz="1050" dirty="0"/>
          </a:p>
        </p:txBody>
      </p:sp>
      <p:sp>
        <p:nvSpPr>
          <p:cNvPr id="19" name="Shape 17"/>
          <p:cNvSpPr/>
          <p:nvPr/>
        </p:nvSpPr>
        <p:spPr>
          <a:xfrm>
            <a:off x="3364992" y="4370832"/>
            <a:ext cx="2615184" cy="1298448"/>
          </a:xfrm>
          <a:prstGeom prst="roundRect">
            <a:avLst>
              <a:gd name="adj" fmla="val 5634"/>
            </a:avLst>
          </a:prstGeom>
          <a:solidFill>
            <a:srgbClr val="1E293B"/>
          </a:solidFill>
          <a:ln w="9525">
            <a:solidFill>
              <a:srgbClr val="334155"/>
            </a:solidFill>
            <a:prstDash val="solid"/>
          </a:ln>
        </p:spPr>
      </p:sp>
      <p:sp>
        <p:nvSpPr>
          <p:cNvPr id="20" name="Shape 18"/>
          <p:cNvSpPr/>
          <p:nvPr/>
        </p:nvSpPr>
        <p:spPr>
          <a:xfrm>
            <a:off x="3547872" y="4535424"/>
            <a:ext cx="237744" cy="237744"/>
          </a:xfrm>
          <a:prstGeom prst="ellipse">
            <a:avLst/>
          </a:prstGeom>
          <a:solidFill>
            <a:srgbClr val="0D9488"/>
          </a:solidFill>
          <a:ln w="12700">
            <a:solidFill>
              <a:srgbClr val="333333"/>
            </a:solidFill>
            <a:prstDash val="solid"/>
          </a:ln>
        </p:spPr>
      </p:sp>
      <p:sp>
        <p:nvSpPr>
          <p:cNvPr id="21" name="Text 19"/>
          <p:cNvSpPr/>
          <p:nvPr/>
        </p:nvSpPr>
        <p:spPr>
          <a:xfrm>
            <a:off x="3547872" y="4535424"/>
            <a:ext cx="237744" cy="237744"/>
          </a:xfrm>
          <a:prstGeom prst="rect">
            <a:avLst/>
          </a:prstGeom>
          <a:noFill/>
          <a:ln/>
        </p:spPr>
        <p:txBody>
          <a:bodyPr wrap="square" lIns="0" tIns="0" rIns="0" bIns="0" rtlCol="0" anchor="ctr"/>
          <a:lstStyle/>
          <a:p>
            <a:pPr algn="ctr" indent="0" marL="0">
              <a:buNone/>
            </a:pPr>
            <a:r>
              <a:rPr lang="en-US" sz="800" b="1" dirty="0">
                <a:solidFill>
                  <a:srgbClr val="0F172A"/>
                </a:solidFill>
              </a:rPr>
              <a:t>M2</a:t>
            </a:r>
            <a:endParaRPr lang="en-US" sz="800" dirty="0"/>
          </a:p>
        </p:txBody>
      </p:sp>
      <p:sp>
        <p:nvSpPr>
          <p:cNvPr id="22" name="Text 20"/>
          <p:cNvSpPr/>
          <p:nvPr/>
        </p:nvSpPr>
        <p:spPr>
          <a:xfrm>
            <a:off x="3867912" y="4517136"/>
            <a:ext cx="2011680" cy="274320"/>
          </a:xfrm>
          <a:prstGeom prst="rect">
            <a:avLst/>
          </a:prstGeom>
          <a:noFill/>
          <a:ln/>
        </p:spPr>
        <p:txBody>
          <a:bodyPr wrap="square" lIns="0" tIns="0" rIns="0" bIns="0" rtlCol="0" anchor="ctr"/>
          <a:lstStyle/>
          <a:p>
            <a:pPr indent="0" marL="0">
              <a:buNone/>
            </a:pPr>
            <a:r>
              <a:rPr lang="en-US" sz="1150" b="1" dirty="0">
                <a:solidFill>
                  <a:srgbClr val="FFFFFF"/>
                </a:solidFill>
              </a:rPr>
              <a:t>RUJUTA M. KULKARNI</a:t>
            </a:r>
            <a:endParaRPr lang="en-US" sz="1150" dirty="0"/>
          </a:p>
        </p:txBody>
      </p:sp>
      <p:sp>
        <p:nvSpPr>
          <p:cNvPr id="23" name="Text 21"/>
          <p:cNvSpPr/>
          <p:nvPr/>
        </p:nvSpPr>
        <p:spPr>
          <a:xfrm>
            <a:off x="3547872" y="4864608"/>
            <a:ext cx="2286000" cy="219456"/>
          </a:xfrm>
          <a:prstGeom prst="rect">
            <a:avLst/>
          </a:prstGeom>
          <a:noFill/>
          <a:ln/>
        </p:spPr>
        <p:txBody>
          <a:bodyPr wrap="square" lIns="0" tIns="0" rIns="0" bIns="0" rtlCol="0" anchor="ctr"/>
          <a:lstStyle/>
          <a:p>
            <a:pPr indent="0" marL="0">
              <a:buNone/>
            </a:pPr>
            <a:r>
              <a:rPr lang="en-US" sz="1000" dirty="0">
                <a:solidFill>
                  <a:srgbClr val="64748B"/>
                </a:solidFill>
              </a:rPr>
              <a:t>24BDS0459</a:t>
            </a:r>
            <a:endParaRPr lang="en-US" sz="1000" dirty="0"/>
          </a:p>
        </p:txBody>
      </p:sp>
      <p:sp>
        <p:nvSpPr>
          <p:cNvPr id="24" name="Text 22"/>
          <p:cNvSpPr/>
          <p:nvPr/>
        </p:nvSpPr>
        <p:spPr>
          <a:xfrm>
            <a:off x="3547872" y="5120640"/>
            <a:ext cx="2286000" cy="457200"/>
          </a:xfrm>
          <a:prstGeom prst="rect">
            <a:avLst/>
          </a:prstGeom>
          <a:noFill/>
          <a:ln/>
        </p:spPr>
        <p:txBody>
          <a:bodyPr wrap="square" lIns="0" tIns="0" rIns="0" bIns="0" rtlCol="0" anchor="ctr"/>
          <a:lstStyle/>
          <a:p>
            <a:pPr indent="0" marL="0">
              <a:lnSpc>
                <a:spcPts val="1300"/>
              </a:lnSpc>
              <a:buNone/>
            </a:pPr>
            <a:r>
              <a:rPr lang="en-US" sz="1050" dirty="0">
                <a:solidFill>
                  <a:srgbClr val="CBD5E1"/>
                </a:solidFill>
              </a:rPr>
              <a:t>Type system · Semantics</a:t>
            </a:r>
            <a:endParaRPr lang="en-US" sz="1050" dirty="0"/>
          </a:p>
        </p:txBody>
      </p:sp>
      <p:sp>
        <p:nvSpPr>
          <p:cNvPr id="25" name="Shape 23"/>
          <p:cNvSpPr/>
          <p:nvPr/>
        </p:nvSpPr>
        <p:spPr>
          <a:xfrm>
            <a:off x="6163056" y="4370832"/>
            <a:ext cx="2615184" cy="1298448"/>
          </a:xfrm>
          <a:prstGeom prst="roundRect">
            <a:avLst>
              <a:gd name="adj" fmla="val 5634"/>
            </a:avLst>
          </a:prstGeom>
          <a:solidFill>
            <a:srgbClr val="1E293B"/>
          </a:solidFill>
          <a:ln w="9525">
            <a:solidFill>
              <a:srgbClr val="334155"/>
            </a:solidFill>
            <a:prstDash val="solid"/>
          </a:ln>
        </p:spPr>
      </p:sp>
      <p:sp>
        <p:nvSpPr>
          <p:cNvPr id="26" name="Shape 24"/>
          <p:cNvSpPr/>
          <p:nvPr/>
        </p:nvSpPr>
        <p:spPr>
          <a:xfrm>
            <a:off x="6345936" y="4535424"/>
            <a:ext cx="237744" cy="237744"/>
          </a:xfrm>
          <a:prstGeom prst="ellipse">
            <a:avLst/>
          </a:prstGeom>
          <a:solidFill>
            <a:srgbClr val="F97316"/>
          </a:solidFill>
          <a:ln w="12700">
            <a:solidFill>
              <a:srgbClr val="333333"/>
            </a:solidFill>
            <a:prstDash val="solid"/>
          </a:ln>
        </p:spPr>
      </p:sp>
      <p:sp>
        <p:nvSpPr>
          <p:cNvPr id="27" name="Text 25"/>
          <p:cNvSpPr/>
          <p:nvPr/>
        </p:nvSpPr>
        <p:spPr>
          <a:xfrm>
            <a:off x="6345936" y="4535424"/>
            <a:ext cx="237744" cy="237744"/>
          </a:xfrm>
          <a:prstGeom prst="rect">
            <a:avLst/>
          </a:prstGeom>
          <a:noFill/>
          <a:ln/>
        </p:spPr>
        <p:txBody>
          <a:bodyPr wrap="square" lIns="0" tIns="0" rIns="0" bIns="0" rtlCol="0" anchor="ctr"/>
          <a:lstStyle/>
          <a:p>
            <a:pPr algn="ctr" indent="0" marL="0">
              <a:buNone/>
            </a:pPr>
            <a:r>
              <a:rPr lang="en-US" sz="800" b="1" dirty="0">
                <a:solidFill>
                  <a:srgbClr val="0F172A"/>
                </a:solidFill>
              </a:rPr>
              <a:t>M3</a:t>
            </a:r>
            <a:endParaRPr lang="en-US" sz="800" dirty="0"/>
          </a:p>
        </p:txBody>
      </p:sp>
      <p:sp>
        <p:nvSpPr>
          <p:cNvPr id="28" name="Text 26"/>
          <p:cNvSpPr/>
          <p:nvPr/>
        </p:nvSpPr>
        <p:spPr>
          <a:xfrm>
            <a:off x="6665976" y="4517136"/>
            <a:ext cx="2011680" cy="274320"/>
          </a:xfrm>
          <a:prstGeom prst="rect">
            <a:avLst/>
          </a:prstGeom>
          <a:noFill/>
          <a:ln/>
        </p:spPr>
        <p:txBody>
          <a:bodyPr wrap="square" lIns="0" tIns="0" rIns="0" bIns="0" rtlCol="0" anchor="ctr"/>
          <a:lstStyle/>
          <a:p>
            <a:pPr indent="0" marL="0">
              <a:buNone/>
            </a:pPr>
            <a:r>
              <a:rPr lang="en-US" sz="1150" b="1" dirty="0">
                <a:solidFill>
                  <a:srgbClr val="FFFFFF"/>
                </a:solidFill>
              </a:rPr>
              <a:t>K. V. JAHNAVI</a:t>
            </a:r>
            <a:endParaRPr lang="en-US" sz="1150" dirty="0"/>
          </a:p>
        </p:txBody>
      </p:sp>
      <p:sp>
        <p:nvSpPr>
          <p:cNvPr id="29" name="Text 27"/>
          <p:cNvSpPr/>
          <p:nvPr/>
        </p:nvSpPr>
        <p:spPr>
          <a:xfrm>
            <a:off x="6345936" y="4864608"/>
            <a:ext cx="2286000" cy="219456"/>
          </a:xfrm>
          <a:prstGeom prst="rect">
            <a:avLst/>
          </a:prstGeom>
          <a:noFill/>
          <a:ln/>
        </p:spPr>
        <p:txBody>
          <a:bodyPr wrap="square" lIns="0" tIns="0" rIns="0" bIns="0" rtlCol="0" anchor="ctr"/>
          <a:lstStyle/>
          <a:p>
            <a:pPr indent="0" marL="0">
              <a:buNone/>
            </a:pPr>
            <a:r>
              <a:rPr lang="en-US" sz="1000" dirty="0">
                <a:solidFill>
                  <a:srgbClr val="64748B"/>
                </a:solidFill>
              </a:rPr>
              <a:t>24BDS0132</a:t>
            </a:r>
            <a:endParaRPr lang="en-US" sz="1000" dirty="0"/>
          </a:p>
        </p:txBody>
      </p:sp>
      <p:sp>
        <p:nvSpPr>
          <p:cNvPr id="30" name="Text 28"/>
          <p:cNvSpPr/>
          <p:nvPr/>
        </p:nvSpPr>
        <p:spPr>
          <a:xfrm>
            <a:off x="6345936" y="5120640"/>
            <a:ext cx="2286000" cy="457200"/>
          </a:xfrm>
          <a:prstGeom prst="rect">
            <a:avLst/>
          </a:prstGeom>
          <a:noFill/>
          <a:ln/>
        </p:spPr>
        <p:txBody>
          <a:bodyPr wrap="square" lIns="0" tIns="0" rIns="0" bIns="0" rtlCol="0" anchor="ctr"/>
          <a:lstStyle/>
          <a:p>
            <a:pPr indent="0" marL="0">
              <a:lnSpc>
                <a:spcPts val="1300"/>
              </a:lnSpc>
              <a:buNone/>
            </a:pPr>
            <a:r>
              <a:rPr lang="en-US" sz="1050" dirty="0">
                <a:solidFill>
                  <a:srgbClr val="CBD5E1"/>
                </a:solidFill>
              </a:rPr>
              <a:t>IR · Lowering · Runtime</a:t>
            </a:r>
            <a:endParaRPr lang="en-US" sz="1050" dirty="0"/>
          </a:p>
        </p:txBody>
      </p:sp>
      <p:sp>
        <p:nvSpPr>
          <p:cNvPr id="31" name="Shape 29"/>
          <p:cNvSpPr/>
          <p:nvPr/>
        </p:nvSpPr>
        <p:spPr>
          <a:xfrm>
            <a:off x="8961120" y="4370832"/>
            <a:ext cx="2615184" cy="1298448"/>
          </a:xfrm>
          <a:prstGeom prst="roundRect">
            <a:avLst>
              <a:gd name="adj" fmla="val 5634"/>
            </a:avLst>
          </a:prstGeom>
          <a:solidFill>
            <a:srgbClr val="1E293B"/>
          </a:solidFill>
          <a:ln w="9525">
            <a:solidFill>
              <a:srgbClr val="334155"/>
            </a:solidFill>
            <a:prstDash val="solid"/>
          </a:ln>
        </p:spPr>
      </p:sp>
      <p:sp>
        <p:nvSpPr>
          <p:cNvPr id="32" name="Shape 30"/>
          <p:cNvSpPr/>
          <p:nvPr/>
        </p:nvSpPr>
        <p:spPr>
          <a:xfrm>
            <a:off x="9144000" y="4535424"/>
            <a:ext cx="237744" cy="237744"/>
          </a:xfrm>
          <a:prstGeom prst="ellipse">
            <a:avLst/>
          </a:prstGeom>
          <a:solidFill>
            <a:srgbClr val="8B5CF6"/>
          </a:solidFill>
          <a:ln w="12700">
            <a:solidFill>
              <a:srgbClr val="333333"/>
            </a:solidFill>
            <a:prstDash val="solid"/>
          </a:ln>
        </p:spPr>
      </p:sp>
      <p:sp>
        <p:nvSpPr>
          <p:cNvPr id="33" name="Text 31"/>
          <p:cNvSpPr/>
          <p:nvPr/>
        </p:nvSpPr>
        <p:spPr>
          <a:xfrm>
            <a:off x="9144000" y="4535424"/>
            <a:ext cx="237744" cy="237744"/>
          </a:xfrm>
          <a:prstGeom prst="rect">
            <a:avLst/>
          </a:prstGeom>
          <a:noFill/>
          <a:ln/>
        </p:spPr>
        <p:txBody>
          <a:bodyPr wrap="square" lIns="0" tIns="0" rIns="0" bIns="0" rtlCol="0" anchor="ctr"/>
          <a:lstStyle/>
          <a:p>
            <a:pPr algn="ctr" indent="0" marL="0">
              <a:buNone/>
            </a:pPr>
            <a:r>
              <a:rPr lang="en-US" sz="800" b="1" dirty="0">
                <a:solidFill>
                  <a:srgbClr val="0F172A"/>
                </a:solidFill>
              </a:rPr>
              <a:t>M4</a:t>
            </a:r>
            <a:endParaRPr lang="en-US" sz="800" dirty="0"/>
          </a:p>
        </p:txBody>
      </p:sp>
      <p:sp>
        <p:nvSpPr>
          <p:cNvPr id="34" name="Text 32"/>
          <p:cNvSpPr/>
          <p:nvPr/>
        </p:nvSpPr>
        <p:spPr>
          <a:xfrm>
            <a:off x="9464040" y="4517136"/>
            <a:ext cx="2011680" cy="274320"/>
          </a:xfrm>
          <a:prstGeom prst="rect">
            <a:avLst/>
          </a:prstGeom>
          <a:noFill/>
          <a:ln/>
        </p:spPr>
        <p:txBody>
          <a:bodyPr wrap="square" lIns="0" tIns="0" rIns="0" bIns="0" rtlCol="0" anchor="ctr"/>
          <a:lstStyle/>
          <a:p>
            <a:pPr indent="0" marL="0">
              <a:buNone/>
            </a:pPr>
            <a:r>
              <a:rPr lang="en-US" sz="1150" b="1" dirty="0">
                <a:solidFill>
                  <a:srgbClr val="FFFFFF"/>
                </a:solidFill>
              </a:rPr>
              <a:t>AARYAN GUPTA</a:t>
            </a:r>
            <a:endParaRPr lang="en-US" sz="1150" dirty="0"/>
          </a:p>
        </p:txBody>
      </p:sp>
      <p:sp>
        <p:nvSpPr>
          <p:cNvPr id="35" name="Text 33"/>
          <p:cNvSpPr/>
          <p:nvPr/>
        </p:nvSpPr>
        <p:spPr>
          <a:xfrm>
            <a:off x="9144000" y="4864608"/>
            <a:ext cx="2286000" cy="219456"/>
          </a:xfrm>
          <a:prstGeom prst="rect">
            <a:avLst/>
          </a:prstGeom>
          <a:noFill/>
          <a:ln/>
        </p:spPr>
        <p:txBody>
          <a:bodyPr wrap="square" lIns="0" tIns="0" rIns="0" bIns="0" rtlCol="0" anchor="ctr"/>
          <a:lstStyle/>
          <a:p>
            <a:pPr indent="0" marL="0">
              <a:buNone/>
            </a:pPr>
            <a:r>
              <a:rPr lang="en-US" sz="1000" dirty="0">
                <a:solidFill>
                  <a:srgbClr val="64748B"/>
                </a:solidFill>
              </a:rPr>
              <a:t>24BDS0134</a:t>
            </a:r>
            <a:endParaRPr lang="en-US" sz="1000" dirty="0"/>
          </a:p>
        </p:txBody>
      </p:sp>
      <p:sp>
        <p:nvSpPr>
          <p:cNvPr id="36" name="Text 34"/>
          <p:cNvSpPr/>
          <p:nvPr/>
        </p:nvSpPr>
        <p:spPr>
          <a:xfrm>
            <a:off x="9144000" y="5120640"/>
            <a:ext cx="2286000" cy="457200"/>
          </a:xfrm>
          <a:prstGeom prst="rect">
            <a:avLst/>
          </a:prstGeom>
          <a:noFill/>
          <a:ln/>
        </p:spPr>
        <p:txBody>
          <a:bodyPr wrap="square" lIns="0" tIns="0" rIns="0" bIns="0" rtlCol="0" anchor="ctr"/>
          <a:lstStyle/>
          <a:p>
            <a:pPr indent="0" marL="0">
              <a:lnSpc>
                <a:spcPts val="1300"/>
              </a:lnSpc>
              <a:buNone/>
            </a:pPr>
            <a:r>
              <a:rPr lang="en-US" sz="1050" dirty="0">
                <a:solidFill>
                  <a:srgbClr val="CBD5E1"/>
                </a:solidFill>
              </a:rPr>
              <a:t>Codegen · Testing · Plan</a:t>
            </a:r>
            <a:endParaRPr lang="en-US" sz="1050" dirty="0"/>
          </a:p>
        </p:txBody>
      </p:sp>
      <p:sp>
        <p:nvSpPr>
          <p:cNvPr id="37" name="Text 35"/>
          <p:cNvSpPr/>
          <p:nvPr/>
        </p:nvSpPr>
        <p:spPr>
          <a:xfrm>
            <a:off x="566928" y="5897880"/>
            <a:ext cx="11057839" cy="310896"/>
          </a:xfrm>
          <a:prstGeom prst="rect">
            <a:avLst/>
          </a:prstGeom>
          <a:noFill/>
          <a:ln/>
        </p:spPr>
        <p:txBody>
          <a:bodyPr wrap="square" lIns="0" tIns="0" rIns="0" bIns="0" rtlCol="0" anchor="ctr"/>
          <a:lstStyle/>
          <a:p>
            <a:pPr algn="ctr" indent="0" marL="0">
              <a:buNone/>
            </a:pPr>
            <a:r>
              <a:rPr lang="en-US" sz="1200" b="1" dirty="0">
                <a:solidFill>
                  <a:srgbClr val="F59E0B"/>
                </a:solidFill>
              </a:rPr>
              <a:t>14 / 14 programs semantically equivalent to CPython  ·  12 / 12 ill-typed programs rejected  ·  9.4× median speedup</a:t>
            </a:r>
            <a:endParaRPr lang="en-US" sz="1200" dirty="0"/>
          </a:p>
        </p:txBody>
      </p:sp>
      <p:sp>
        <p:nvSpPr>
          <p:cNvPr id="38" name="Text 36"/>
          <p:cNvSpPr/>
          <p:nvPr/>
        </p:nvSpPr>
        <p:spPr>
          <a:xfrm>
            <a:off x="11076127" y="6382512"/>
            <a:ext cx="548640" cy="274320"/>
          </a:xfrm>
          <a:prstGeom prst="rect">
            <a:avLst/>
          </a:prstGeom>
          <a:noFill/>
          <a:ln/>
        </p:spPr>
        <p:txBody>
          <a:bodyPr wrap="square" lIns="0" tIns="0" rIns="0" bIns="0" rtlCol="0" anchor="ctr"/>
          <a:lstStyle/>
          <a:p>
            <a:pPr algn="r" indent="0" marL="0">
              <a:buNone/>
            </a:pPr>
            <a:r>
              <a:rPr lang="en-US" sz="1000" dirty="0">
                <a:solidFill>
                  <a:srgbClr val="475569"/>
                </a:solidFill>
              </a:rPr>
              <a:t>1</a:t>
            </a:r>
            <a:endParaRPr lang="en-US" sz="1000" dirty="0"/>
          </a:p>
        </p:txBody>
      </p:sp>
      <p:sp>
        <p:nvSpPr>
          <p:cNvPr id="39" name="Text 37"/>
          <p:cNvSpPr/>
          <p:nvPr/>
        </p:nvSpPr>
        <p:spPr>
          <a:xfrm>
            <a:off x="566928" y="6382512"/>
            <a:ext cx="5486400" cy="274320"/>
          </a:xfrm>
          <a:prstGeom prst="rect">
            <a:avLst/>
          </a:prstGeom>
          <a:noFill/>
          <a:ln/>
        </p:spPr>
        <p:txBody>
          <a:bodyPr wrap="square" lIns="0" tIns="0" rIns="0" bIns="0" rtlCol="0" anchor="ctr"/>
          <a:lstStyle/>
          <a:p>
            <a:pPr indent="0" marL="0">
              <a:buNone/>
            </a:pPr>
            <a:r>
              <a:rPr lang="en-US" sz="900" dirty="0">
                <a:solidFill>
                  <a:srgbClr val="475569"/>
                </a:solidFill>
              </a:rPr>
              <a:t>PYTHIA  ·  BCSE307L Team 2  ·  Project A15</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8040319" cy="566928"/>
          </a:xfrm>
          <a:prstGeom prst="rect">
            <a:avLst/>
          </a:prstGeom>
          <a:noFill/>
          <a:ln/>
        </p:spPr>
        <p:txBody>
          <a:bodyPr wrap="square" lIns="0" tIns="0" rIns="0" bIns="0" rtlCol="0" anchor="ctr"/>
          <a:lstStyle/>
          <a:p>
            <a:pPr indent="0" marL="0">
              <a:buNone/>
            </a:pPr>
            <a:r>
              <a:rPr lang="en-US" sz="3000" b="1" dirty="0">
                <a:solidFill>
                  <a:srgbClr val="0F172A"/>
                </a:solidFill>
              </a:rPr>
              <a:t>Why this problem is worth solving</a:t>
            </a:r>
            <a:endParaRPr lang="en-US" sz="3000" dirty="0"/>
          </a:p>
        </p:txBody>
      </p:sp>
      <p:sp>
        <p:nvSpPr>
          <p:cNvPr id="3" name="Shape 1"/>
          <p:cNvSpPr/>
          <p:nvPr/>
        </p:nvSpPr>
        <p:spPr>
          <a:xfrm>
            <a:off x="8835847" y="310896"/>
            <a:ext cx="2788920" cy="310896"/>
          </a:xfrm>
          <a:prstGeom prst="roundRect">
            <a:avLst>
              <a:gd name="adj" fmla="val 50000"/>
            </a:avLst>
          </a:prstGeom>
          <a:solidFill>
            <a:srgbClr val="F1F5F9"/>
          </a:solidFill>
          <a:ln w="9525">
            <a:solidFill>
              <a:srgbClr val="E2E8F0"/>
            </a:solidFill>
            <a:prstDash val="solid"/>
          </a:ln>
        </p:spPr>
      </p:sp>
      <p:sp>
        <p:nvSpPr>
          <p:cNvPr id="4" name="Text 2"/>
          <p:cNvSpPr/>
          <p:nvPr/>
        </p:nvSpPr>
        <p:spPr>
          <a:xfrm>
            <a:off x="8835847" y="310896"/>
            <a:ext cx="2788920" cy="310896"/>
          </a:xfrm>
          <a:prstGeom prst="rect">
            <a:avLst/>
          </a:prstGeom>
          <a:noFill/>
          <a:ln/>
        </p:spPr>
        <p:txBody>
          <a:bodyPr wrap="square" lIns="0" tIns="0" rIns="0" bIns="0" rtlCol="0" anchor="ctr"/>
          <a:lstStyle/>
          <a:p>
            <a:pPr algn="ctr" indent="0" marL="0">
              <a:buNone/>
            </a:pPr>
            <a:r>
              <a:rPr lang="en-US" sz="900" b="1" spc="80" kern="0" dirty="0">
                <a:solidFill>
                  <a:srgbClr val="334155"/>
                </a:solidFill>
              </a:rPr>
              <a:t>MEMBER 1 · VISHAL</a:t>
            </a:r>
            <a:endParaRPr lang="en-US" sz="900" dirty="0"/>
          </a:p>
        </p:txBody>
      </p:sp>
      <p:sp>
        <p:nvSpPr>
          <p:cNvPr id="5" name="Text 3"/>
          <p:cNvSpPr/>
          <p:nvPr/>
        </p:nvSpPr>
        <p:spPr>
          <a:xfrm>
            <a:off x="11076127" y="6382512"/>
            <a:ext cx="548640" cy="274320"/>
          </a:xfrm>
          <a:prstGeom prst="rect">
            <a:avLst/>
          </a:prstGeom>
          <a:noFill/>
          <a:ln/>
        </p:spPr>
        <p:txBody>
          <a:bodyPr wrap="square" lIns="0" tIns="0" rIns="0" bIns="0" rtlCol="0" anchor="ctr"/>
          <a:lstStyle/>
          <a:p>
            <a:pPr algn="r" indent="0" marL="0">
              <a:buNone/>
            </a:pPr>
            <a:r>
              <a:rPr lang="en-US" sz="1000" dirty="0">
                <a:solidFill>
                  <a:srgbClr val="64748B"/>
                </a:solidFill>
              </a:rPr>
              <a:t>2</a:t>
            </a:r>
            <a:endParaRPr lang="en-US" sz="1000" dirty="0"/>
          </a:p>
        </p:txBody>
      </p:sp>
      <p:sp>
        <p:nvSpPr>
          <p:cNvPr id="6" name="Text 4"/>
          <p:cNvSpPr/>
          <p:nvPr/>
        </p:nvSpPr>
        <p:spPr>
          <a:xfrm>
            <a:off x="566928" y="6382512"/>
            <a:ext cx="5486400" cy="274320"/>
          </a:xfrm>
          <a:prstGeom prst="rect">
            <a:avLst/>
          </a:prstGeom>
          <a:noFill/>
          <a:ln/>
        </p:spPr>
        <p:txBody>
          <a:bodyPr wrap="square" lIns="0" tIns="0" rIns="0" bIns="0" rtlCol="0" anchor="ctr"/>
          <a:lstStyle/>
          <a:p>
            <a:pPr indent="0" marL="0">
              <a:buNone/>
            </a:pPr>
            <a:r>
              <a:rPr lang="en-US" sz="900" dirty="0">
                <a:solidFill>
                  <a:srgbClr val="94A3B8"/>
                </a:solidFill>
              </a:rPr>
              <a:t>PYTHIA  ·  BCSE307L Team 2  ·  Project A15</a:t>
            </a:r>
            <a:endParaRPr lang="en-US" sz="900" dirty="0"/>
          </a:p>
        </p:txBody>
      </p:sp>
      <p:sp>
        <p:nvSpPr>
          <p:cNvPr id="7" name="Text 5"/>
          <p:cNvSpPr/>
          <p:nvPr/>
        </p:nvSpPr>
        <p:spPr>
          <a:xfrm>
            <a:off x="566928" y="914400"/>
            <a:ext cx="11057839" cy="530352"/>
          </a:xfrm>
          <a:prstGeom prst="rect">
            <a:avLst/>
          </a:prstGeom>
          <a:noFill/>
          <a:ln/>
        </p:spPr>
        <p:txBody>
          <a:bodyPr wrap="square" lIns="0" tIns="0" rIns="0" bIns="0" rtlCol="0" anchor="ctr"/>
          <a:lstStyle/>
          <a:p>
            <a:pPr indent="0" marL="0">
              <a:buNone/>
            </a:pPr>
            <a:r>
              <a:rPr lang="en-US" sz="1500" i="1" dirty="0">
                <a:solidFill>
                  <a:srgbClr val="334155"/>
                </a:solidFill>
              </a:rPr>
              <a:t>Python is where algorithms get written. C is where they have to run. The gap between them is not syntax — it is arithmetic.</a:t>
            </a:r>
            <a:endParaRPr lang="en-US" sz="1500" dirty="0"/>
          </a:p>
        </p:txBody>
      </p:sp>
      <p:sp>
        <p:nvSpPr>
          <p:cNvPr id="8" name="Shape 6"/>
          <p:cNvSpPr/>
          <p:nvPr/>
        </p:nvSpPr>
        <p:spPr>
          <a:xfrm>
            <a:off x="566928" y="1517904"/>
            <a:ext cx="2615184" cy="1572768"/>
          </a:xfrm>
          <a:prstGeom prst="roundRect">
            <a:avLst>
              <a:gd name="adj" fmla="val 4651"/>
            </a:avLst>
          </a:prstGeom>
          <a:solidFill>
            <a:srgbClr val="F1F5F9"/>
          </a:solidFill>
          <a:ln w="9525">
            <a:solidFill>
              <a:srgbClr val="E2E8F0"/>
            </a:solidFill>
            <a:prstDash val="solid"/>
          </a:ln>
        </p:spPr>
      </p:sp>
      <p:sp>
        <p:nvSpPr>
          <p:cNvPr id="9" name="Text 7"/>
          <p:cNvSpPr/>
          <p:nvPr/>
        </p:nvSpPr>
        <p:spPr>
          <a:xfrm>
            <a:off x="731520" y="1645920"/>
            <a:ext cx="2286000" cy="310896"/>
          </a:xfrm>
          <a:prstGeom prst="rect">
            <a:avLst/>
          </a:prstGeom>
          <a:noFill/>
          <a:ln/>
        </p:spPr>
        <p:txBody>
          <a:bodyPr wrap="square" lIns="0" tIns="0" rIns="0" bIns="0" rtlCol="0" anchor="ctr"/>
          <a:lstStyle/>
          <a:p>
            <a:pPr indent="0" marL="0">
              <a:buNone/>
            </a:pPr>
            <a:r>
              <a:rPr lang="en-US" sz="1700" b="1" dirty="0">
                <a:solidFill>
                  <a:srgbClr val="0F172A"/>
                </a:solidFill>
              </a:rPr>
              <a:t>−7 // 2</a:t>
            </a:r>
            <a:endParaRPr lang="en-US" sz="1700" dirty="0"/>
          </a:p>
        </p:txBody>
      </p:sp>
      <p:sp>
        <p:nvSpPr>
          <p:cNvPr id="10" name="Text 8"/>
          <p:cNvSpPr/>
          <p:nvPr/>
        </p:nvSpPr>
        <p:spPr>
          <a:xfrm>
            <a:off x="731520" y="2011680"/>
            <a:ext cx="2286000" cy="237744"/>
          </a:xfrm>
          <a:prstGeom prst="rect">
            <a:avLst/>
          </a:prstGeom>
          <a:noFill/>
          <a:ln/>
        </p:spPr>
        <p:txBody>
          <a:bodyPr wrap="square" lIns="0" tIns="0" rIns="0" bIns="0" rtlCol="0" anchor="ctr"/>
          <a:lstStyle/>
          <a:p>
            <a:pPr indent="0" marL="0">
              <a:buNone/>
            </a:pPr>
            <a:r>
              <a:rPr lang="en-US" sz="1200" b="1" dirty="0">
                <a:solidFill>
                  <a:srgbClr val="0D9488"/>
                </a:solidFill>
              </a:rPr>
              <a:t>Python  −4</a:t>
            </a:r>
            <a:endParaRPr lang="en-US" sz="1200" dirty="0"/>
          </a:p>
        </p:txBody>
      </p:sp>
      <p:sp>
        <p:nvSpPr>
          <p:cNvPr id="11" name="Text 9"/>
          <p:cNvSpPr/>
          <p:nvPr/>
        </p:nvSpPr>
        <p:spPr>
          <a:xfrm>
            <a:off x="731520" y="2249424"/>
            <a:ext cx="2286000" cy="237744"/>
          </a:xfrm>
          <a:prstGeom prst="rect">
            <a:avLst/>
          </a:prstGeom>
          <a:noFill/>
          <a:ln/>
        </p:spPr>
        <p:txBody>
          <a:bodyPr wrap="square" lIns="0" tIns="0" rIns="0" bIns="0" rtlCol="0" anchor="ctr"/>
          <a:lstStyle/>
          <a:p>
            <a:pPr indent="0" marL="0">
              <a:buNone/>
            </a:pPr>
            <a:r>
              <a:rPr lang="en-US" sz="1200" b="1" dirty="0">
                <a:solidFill>
                  <a:srgbClr val="BE123C"/>
                </a:solidFill>
              </a:rPr>
              <a:t>C  −3</a:t>
            </a:r>
            <a:endParaRPr lang="en-US" sz="1200" dirty="0"/>
          </a:p>
        </p:txBody>
      </p:sp>
      <p:sp>
        <p:nvSpPr>
          <p:cNvPr id="12" name="Text 10"/>
          <p:cNvSpPr/>
          <p:nvPr/>
        </p:nvSpPr>
        <p:spPr>
          <a:xfrm>
            <a:off x="731520" y="2523744"/>
            <a:ext cx="2286000" cy="475488"/>
          </a:xfrm>
          <a:prstGeom prst="rect">
            <a:avLst/>
          </a:prstGeom>
          <a:noFill/>
          <a:ln/>
        </p:spPr>
        <p:txBody>
          <a:bodyPr wrap="square" lIns="0" tIns="0" rIns="0" bIns="0" rtlCol="0" anchor="ctr"/>
          <a:lstStyle/>
          <a:p>
            <a:pPr indent="0" marL="0">
              <a:lnSpc>
                <a:spcPts val="1200"/>
              </a:lnSpc>
              <a:buNone/>
            </a:pPr>
            <a:r>
              <a:rPr lang="en-US" sz="1000" dirty="0">
                <a:solidFill>
                  <a:srgbClr val="64748B"/>
                </a:solidFill>
              </a:rPr>
              <a:t>floors toward −∞ vs truncates toward 0</a:t>
            </a:r>
            <a:endParaRPr lang="en-US" sz="1000" dirty="0"/>
          </a:p>
        </p:txBody>
      </p:sp>
      <p:sp>
        <p:nvSpPr>
          <p:cNvPr id="13" name="Shape 11"/>
          <p:cNvSpPr/>
          <p:nvPr/>
        </p:nvSpPr>
        <p:spPr>
          <a:xfrm>
            <a:off x="3364992" y="1517904"/>
            <a:ext cx="2615184" cy="1572768"/>
          </a:xfrm>
          <a:prstGeom prst="roundRect">
            <a:avLst>
              <a:gd name="adj" fmla="val 4651"/>
            </a:avLst>
          </a:prstGeom>
          <a:solidFill>
            <a:srgbClr val="F1F5F9"/>
          </a:solidFill>
          <a:ln w="9525">
            <a:solidFill>
              <a:srgbClr val="E2E8F0"/>
            </a:solidFill>
            <a:prstDash val="solid"/>
          </a:ln>
        </p:spPr>
      </p:sp>
      <p:sp>
        <p:nvSpPr>
          <p:cNvPr id="14" name="Text 12"/>
          <p:cNvSpPr/>
          <p:nvPr/>
        </p:nvSpPr>
        <p:spPr>
          <a:xfrm>
            <a:off x="3529584" y="1645920"/>
            <a:ext cx="2286000" cy="310896"/>
          </a:xfrm>
          <a:prstGeom prst="rect">
            <a:avLst/>
          </a:prstGeom>
          <a:noFill/>
          <a:ln/>
        </p:spPr>
        <p:txBody>
          <a:bodyPr wrap="square" lIns="0" tIns="0" rIns="0" bIns="0" rtlCol="0" anchor="ctr"/>
          <a:lstStyle/>
          <a:p>
            <a:pPr indent="0" marL="0">
              <a:buNone/>
            </a:pPr>
            <a:r>
              <a:rPr lang="en-US" sz="1700" b="1" dirty="0">
                <a:solidFill>
                  <a:srgbClr val="0F172A"/>
                </a:solidFill>
              </a:rPr>
              <a:t>−7 % 2</a:t>
            </a:r>
            <a:endParaRPr lang="en-US" sz="1700" dirty="0"/>
          </a:p>
        </p:txBody>
      </p:sp>
      <p:sp>
        <p:nvSpPr>
          <p:cNvPr id="15" name="Text 13"/>
          <p:cNvSpPr/>
          <p:nvPr/>
        </p:nvSpPr>
        <p:spPr>
          <a:xfrm>
            <a:off x="3529584" y="2011680"/>
            <a:ext cx="2286000" cy="237744"/>
          </a:xfrm>
          <a:prstGeom prst="rect">
            <a:avLst/>
          </a:prstGeom>
          <a:noFill/>
          <a:ln/>
        </p:spPr>
        <p:txBody>
          <a:bodyPr wrap="square" lIns="0" tIns="0" rIns="0" bIns="0" rtlCol="0" anchor="ctr"/>
          <a:lstStyle/>
          <a:p>
            <a:pPr indent="0" marL="0">
              <a:buNone/>
            </a:pPr>
            <a:r>
              <a:rPr lang="en-US" sz="1200" b="1" dirty="0">
                <a:solidFill>
                  <a:srgbClr val="0D9488"/>
                </a:solidFill>
              </a:rPr>
              <a:t>Python  1</a:t>
            </a:r>
            <a:endParaRPr lang="en-US" sz="1200" dirty="0"/>
          </a:p>
        </p:txBody>
      </p:sp>
      <p:sp>
        <p:nvSpPr>
          <p:cNvPr id="16" name="Text 14"/>
          <p:cNvSpPr/>
          <p:nvPr/>
        </p:nvSpPr>
        <p:spPr>
          <a:xfrm>
            <a:off x="3529584" y="2249424"/>
            <a:ext cx="2286000" cy="237744"/>
          </a:xfrm>
          <a:prstGeom prst="rect">
            <a:avLst/>
          </a:prstGeom>
          <a:noFill/>
          <a:ln/>
        </p:spPr>
        <p:txBody>
          <a:bodyPr wrap="square" lIns="0" tIns="0" rIns="0" bIns="0" rtlCol="0" anchor="ctr"/>
          <a:lstStyle/>
          <a:p>
            <a:pPr indent="0" marL="0">
              <a:buNone/>
            </a:pPr>
            <a:r>
              <a:rPr lang="en-US" sz="1200" b="1" dirty="0">
                <a:solidFill>
                  <a:srgbClr val="BE123C"/>
                </a:solidFill>
              </a:rPr>
              <a:t>C  −1</a:t>
            </a:r>
            <a:endParaRPr lang="en-US" sz="1200" dirty="0"/>
          </a:p>
        </p:txBody>
      </p:sp>
      <p:sp>
        <p:nvSpPr>
          <p:cNvPr id="17" name="Text 15"/>
          <p:cNvSpPr/>
          <p:nvPr/>
        </p:nvSpPr>
        <p:spPr>
          <a:xfrm>
            <a:off x="3529584" y="2523744"/>
            <a:ext cx="2286000" cy="475488"/>
          </a:xfrm>
          <a:prstGeom prst="rect">
            <a:avLst/>
          </a:prstGeom>
          <a:noFill/>
          <a:ln/>
        </p:spPr>
        <p:txBody>
          <a:bodyPr wrap="square" lIns="0" tIns="0" rIns="0" bIns="0" rtlCol="0" anchor="ctr"/>
          <a:lstStyle/>
          <a:p>
            <a:pPr indent="0" marL="0">
              <a:lnSpc>
                <a:spcPts val="1200"/>
              </a:lnSpc>
              <a:buNone/>
            </a:pPr>
            <a:r>
              <a:rPr lang="en-US" sz="1000" dirty="0">
                <a:solidFill>
                  <a:srgbClr val="64748B"/>
                </a:solidFill>
              </a:rPr>
              <a:t>sign follows divisor vs dividend</a:t>
            </a:r>
            <a:endParaRPr lang="en-US" sz="1000" dirty="0"/>
          </a:p>
        </p:txBody>
      </p:sp>
      <p:sp>
        <p:nvSpPr>
          <p:cNvPr id="18" name="Shape 16"/>
          <p:cNvSpPr/>
          <p:nvPr/>
        </p:nvSpPr>
        <p:spPr>
          <a:xfrm>
            <a:off x="6163056" y="1517904"/>
            <a:ext cx="2615184" cy="1572768"/>
          </a:xfrm>
          <a:prstGeom prst="roundRect">
            <a:avLst>
              <a:gd name="adj" fmla="val 4651"/>
            </a:avLst>
          </a:prstGeom>
          <a:solidFill>
            <a:srgbClr val="F1F5F9"/>
          </a:solidFill>
          <a:ln w="9525">
            <a:solidFill>
              <a:srgbClr val="E2E8F0"/>
            </a:solidFill>
            <a:prstDash val="solid"/>
          </a:ln>
        </p:spPr>
      </p:sp>
      <p:sp>
        <p:nvSpPr>
          <p:cNvPr id="19" name="Text 17"/>
          <p:cNvSpPr/>
          <p:nvPr/>
        </p:nvSpPr>
        <p:spPr>
          <a:xfrm>
            <a:off x="6327648" y="1645920"/>
            <a:ext cx="2286000" cy="310896"/>
          </a:xfrm>
          <a:prstGeom prst="rect">
            <a:avLst/>
          </a:prstGeom>
          <a:noFill/>
          <a:ln/>
        </p:spPr>
        <p:txBody>
          <a:bodyPr wrap="square" lIns="0" tIns="0" rIns="0" bIns="0" rtlCol="0" anchor="ctr"/>
          <a:lstStyle/>
          <a:p>
            <a:pPr indent="0" marL="0">
              <a:buNone/>
            </a:pPr>
            <a:r>
              <a:rPr lang="en-US" sz="1700" b="1" dirty="0">
                <a:solidFill>
                  <a:srgbClr val="0F172A"/>
                </a:solidFill>
              </a:rPr>
              <a:t>3 / 2</a:t>
            </a:r>
            <a:endParaRPr lang="en-US" sz="1700" dirty="0"/>
          </a:p>
        </p:txBody>
      </p:sp>
      <p:sp>
        <p:nvSpPr>
          <p:cNvPr id="20" name="Text 18"/>
          <p:cNvSpPr/>
          <p:nvPr/>
        </p:nvSpPr>
        <p:spPr>
          <a:xfrm>
            <a:off x="6327648" y="2011680"/>
            <a:ext cx="2286000" cy="237744"/>
          </a:xfrm>
          <a:prstGeom prst="rect">
            <a:avLst/>
          </a:prstGeom>
          <a:noFill/>
          <a:ln/>
        </p:spPr>
        <p:txBody>
          <a:bodyPr wrap="square" lIns="0" tIns="0" rIns="0" bIns="0" rtlCol="0" anchor="ctr"/>
          <a:lstStyle/>
          <a:p>
            <a:pPr indent="0" marL="0">
              <a:buNone/>
            </a:pPr>
            <a:r>
              <a:rPr lang="en-US" sz="1200" b="1" dirty="0">
                <a:solidFill>
                  <a:srgbClr val="0D9488"/>
                </a:solidFill>
              </a:rPr>
              <a:t>Python  1.5</a:t>
            </a:r>
            <a:endParaRPr lang="en-US" sz="1200" dirty="0"/>
          </a:p>
        </p:txBody>
      </p:sp>
      <p:sp>
        <p:nvSpPr>
          <p:cNvPr id="21" name="Text 19"/>
          <p:cNvSpPr/>
          <p:nvPr/>
        </p:nvSpPr>
        <p:spPr>
          <a:xfrm>
            <a:off x="6327648" y="2249424"/>
            <a:ext cx="2286000" cy="237744"/>
          </a:xfrm>
          <a:prstGeom prst="rect">
            <a:avLst/>
          </a:prstGeom>
          <a:noFill/>
          <a:ln/>
        </p:spPr>
        <p:txBody>
          <a:bodyPr wrap="square" lIns="0" tIns="0" rIns="0" bIns="0" rtlCol="0" anchor="ctr"/>
          <a:lstStyle/>
          <a:p>
            <a:pPr indent="0" marL="0">
              <a:buNone/>
            </a:pPr>
            <a:r>
              <a:rPr lang="en-US" sz="1200" b="1" dirty="0">
                <a:solidFill>
                  <a:srgbClr val="BE123C"/>
                </a:solidFill>
              </a:rPr>
              <a:t>C  1</a:t>
            </a:r>
            <a:endParaRPr lang="en-US" sz="1200" dirty="0"/>
          </a:p>
        </p:txBody>
      </p:sp>
      <p:sp>
        <p:nvSpPr>
          <p:cNvPr id="22" name="Text 20"/>
          <p:cNvSpPr/>
          <p:nvPr/>
        </p:nvSpPr>
        <p:spPr>
          <a:xfrm>
            <a:off x="6327648" y="2523744"/>
            <a:ext cx="2286000" cy="475488"/>
          </a:xfrm>
          <a:prstGeom prst="rect">
            <a:avLst/>
          </a:prstGeom>
          <a:noFill/>
          <a:ln/>
        </p:spPr>
        <p:txBody>
          <a:bodyPr wrap="square" lIns="0" tIns="0" rIns="0" bIns="0" rtlCol="0" anchor="ctr"/>
          <a:lstStyle/>
          <a:p>
            <a:pPr indent="0" marL="0">
              <a:lnSpc>
                <a:spcPts val="1200"/>
              </a:lnSpc>
              <a:buNone/>
            </a:pPr>
            <a:r>
              <a:rPr lang="en-US" sz="1000" dirty="0">
                <a:solidFill>
                  <a:srgbClr val="64748B"/>
                </a:solidFill>
              </a:rPr>
              <a:t>true division always yields a float</a:t>
            </a:r>
            <a:endParaRPr lang="en-US" sz="1000" dirty="0"/>
          </a:p>
        </p:txBody>
      </p:sp>
      <p:sp>
        <p:nvSpPr>
          <p:cNvPr id="23" name="Shape 21"/>
          <p:cNvSpPr/>
          <p:nvPr/>
        </p:nvSpPr>
        <p:spPr>
          <a:xfrm>
            <a:off x="8961120" y="1517904"/>
            <a:ext cx="2615184" cy="1572768"/>
          </a:xfrm>
          <a:prstGeom prst="roundRect">
            <a:avLst>
              <a:gd name="adj" fmla="val 4651"/>
            </a:avLst>
          </a:prstGeom>
          <a:solidFill>
            <a:srgbClr val="F1F5F9"/>
          </a:solidFill>
          <a:ln w="9525">
            <a:solidFill>
              <a:srgbClr val="E2E8F0"/>
            </a:solidFill>
            <a:prstDash val="solid"/>
          </a:ln>
        </p:spPr>
      </p:sp>
      <p:sp>
        <p:nvSpPr>
          <p:cNvPr id="24" name="Text 22"/>
          <p:cNvSpPr/>
          <p:nvPr/>
        </p:nvSpPr>
        <p:spPr>
          <a:xfrm>
            <a:off x="9125712" y="1645920"/>
            <a:ext cx="2286000" cy="310896"/>
          </a:xfrm>
          <a:prstGeom prst="rect">
            <a:avLst/>
          </a:prstGeom>
          <a:noFill/>
          <a:ln/>
        </p:spPr>
        <p:txBody>
          <a:bodyPr wrap="square" lIns="0" tIns="0" rIns="0" bIns="0" rtlCol="0" anchor="ctr"/>
          <a:lstStyle/>
          <a:p>
            <a:pPr indent="0" marL="0">
              <a:buNone/>
            </a:pPr>
            <a:r>
              <a:rPr lang="en-US" sz="1700" b="1" dirty="0">
                <a:solidFill>
                  <a:srgbClr val="0F172A"/>
                </a:solidFill>
              </a:rPr>
              <a:t>xs[−1]</a:t>
            </a:r>
            <a:endParaRPr lang="en-US" sz="1700" dirty="0"/>
          </a:p>
        </p:txBody>
      </p:sp>
      <p:sp>
        <p:nvSpPr>
          <p:cNvPr id="25" name="Text 23"/>
          <p:cNvSpPr/>
          <p:nvPr/>
        </p:nvSpPr>
        <p:spPr>
          <a:xfrm>
            <a:off x="9125712" y="2011680"/>
            <a:ext cx="2286000" cy="237744"/>
          </a:xfrm>
          <a:prstGeom prst="rect">
            <a:avLst/>
          </a:prstGeom>
          <a:noFill/>
          <a:ln/>
        </p:spPr>
        <p:txBody>
          <a:bodyPr wrap="square" lIns="0" tIns="0" rIns="0" bIns="0" rtlCol="0" anchor="ctr"/>
          <a:lstStyle/>
          <a:p>
            <a:pPr indent="0" marL="0">
              <a:buNone/>
            </a:pPr>
            <a:r>
              <a:rPr lang="en-US" sz="1200" b="1" dirty="0">
                <a:solidFill>
                  <a:srgbClr val="0D9488"/>
                </a:solidFill>
              </a:rPr>
              <a:t>Python  last</a:t>
            </a:r>
            <a:endParaRPr lang="en-US" sz="1200" dirty="0"/>
          </a:p>
        </p:txBody>
      </p:sp>
      <p:sp>
        <p:nvSpPr>
          <p:cNvPr id="26" name="Text 24"/>
          <p:cNvSpPr/>
          <p:nvPr/>
        </p:nvSpPr>
        <p:spPr>
          <a:xfrm>
            <a:off x="9125712" y="2249424"/>
            <a:ext cx="2286000" cy="237744"/>
          </a:xfrm>
          <a:prstGeom prst="rect">
            <a:avLst/>
          </a:prstGeom>
          <a:noFill/>
          <a:ln/>
        </p:spPr>
        <p:txBody>
          <a:bodyPr wrap="square" lIns="0" tIns="0" rIns="0" bIns="0" rtlCol="0" anchor="ctr"/>
          <a:lstStyle/>
          <a:p>
            <a:pPr indent="0" marL="0">
              <a:buNone/>
            </a:pPr>
            <a:r>
              <a:rPr lang="en-US" sz="1200" b="1" dirty="0">
                <a:solidFill>
                  <a:srgbClr val="BE123C"/>
                </a:solidFill>
              </a:rPr>
              <a:t>C  ✗</a:t>
            </a:r>
            <a:endParaRPr lang="en-US" sz="1200" dirty="0"/>
          </a:p>
        </p:txBody>
      </p:sp>
      <p:sp>
        <p:nvSpPr>
          <p:cNvPr id="27" name="Text 25"/>
          <p:cNvSpPr/>
          <p:nvPr/>
        </p:nvSpPr>
        <p:spPr>
          <a:xfrm>
            <a:off x="9125712" y="2523744"/>
            <a:ext cx="2286000" cy="475488"/>
          </a:xfrm>
          <a:prstGeom prst="rect">
            <a:avLst/>
          </a:prstGeom>
          <a:noFill/>
          <a:ln/>
        </p:spPr>
        <p:txBody>
          <a:bodyPr wrap="square" lIns="0" tIns="0" rIns="0" bIns="0" rtlCol="0" anchor="ctr"/>
          <a:lstStyle/>
          <a:p>
            <a:pPr indent="0" marL="0">
              <a:lnSpc>
                <a:spcPts val="1200"/>
              </a:lnSpc>
              <a:buNone/>
            </a:pPr>
            <a:r>
              <a:rPr lang="en-US" sz="1000" dirty="0">
                <a:solidFill>
                  <a:srgbClr val="64748B"/>
                </a:solidFill>
              </a:rPr>
              <a:t>negative indexing, bounds checks</a:t>
            </a:r>
            <a:endParaRPr lang="en-US" sz="1000" dirty="0"/>
          </a:p>
        </p:txBody>
      </p:sp>
      <p:sp>
        <p:nvSpPr>
          <p:cNvPr id="28" name="Text 26"/>
          <p:cNvSpPr/>
          <p:nvPr/>
        </p:nvSpPr>
        <p:spPr>
          <a:xfrm>
            <a:off x="566928" y="3218688"/>
            <a:ext cx="11057839" cy="402336"/>
          </a:xfrm>
          <a:prstGeom prst="rect">
            <a:avLst/>
          </a:prstGeom>
          <a:noFill/>
          <a:ln/>
        </p:spPr>
        <p:txBody>
          <a:bodyPr wrap="square" lIns="0" tIns="0" rIns="0" bIns="0" rtlCol="0" anchor="ctr"/>
          <a:lstStyle/>
          <a:p>
            <a:pPr indent="0" marL="0">
              <a:buNone/>
            </a:pPr>
            <a:r>
              <a:rPr lang="en-US" sz="1250" dirty="0">
                <a:solidFill>
                  <a:srgbClr val="334155"/>
                </a:solidFill>
              </a:rPr>
              <a:t>Each is a one-line difference that changes a program's output without changing its shape. A transpiler that gets any of them wrong still compiles, still runs, and still prints something plausible.</a:t>
            </a:r>
            <a:endParaRPr lang="en-US" sz="1250" dirty="0"/>
          </a:p>
        </p:txBody>
      </p:sp>
      <p:sp>
        <p:nvSpPr>
          <p:cNvPr id="29" name="Shape 27"/>
          <p:cNvSpPr/>
          <p:nvPr/>
        </p:nvSpPr>
        <p:spPr>
          <a:xfrm>
            <a:off x="566928" y="3785616"/>
            <a:ext cx="5486400" cy="2121408"/>
          </a:xfrm>
          <a:prstGeom prst="roundRect">
            <a:avLst>
              <a:gd name="adj" fmla="val 3448"/>
            </a:avLst>
          </a:prstGeom>
          <a:solidFill>
            <a:srgbClr val="F1F5F9"/>
          </a:solidFill>
          <a:ln w="9525">
            <a:solidFill>
              <a:srgbClr val="E2E8F0"/>
            </a:solidFill>
            <a:prstDash val="solid"/>
          </a:ln>
        </p:spPr>
      </p:sp>
      <p:sp>
        <p:nvSpPr>
          <p:cNvPr id="30" name="Text 28"/>
          <p:cNvSpPr/>
          <p:nvPr/>
        </p:nvSpPr>
        <p:spPr>
          <a:xfrm>
            <a:off x="768096" y="3922776"/>
            <a:ext cx="5084064" cy="219456"/>
          </a:xfrm>
          <a:prstGeom prst="rect">
            <a:avLst/>
          </a:prstGeom>
          <a:noFill/>
          <a:ln/>
        </p:spPr>
        <p:txBody>
          <a:bodyPr wrap="square" lIns="0" tIns="0" rIns="0" bIns="0" rtlCol="0" anchor="ctr"/>
          <a:lstStyle/>
          <a:p>
            <a:pPr indent="0" marL="0">
              <a:buNone/>
            </a:pPr>
            <a:r>
              <a:rPr lang="en-US" sz="950" b="1" spc="90" kern="0" dirty="0">
                <a:solidFill>
                  <a:srgbClr val="B45309"/>
                </a:solidFill>
              </a:rPr>
              <a:t>WHO NEEDS IT</a:t>
            </a:r>
            <a:endParaRPr lang="en-US" sz="950" dirty="0"/>
          </a:p>
        </p:txBody>
      </p:sp>
      <p:sp>
        <p:nvSpPr>
          <p:cNvPr id="31" name="Text 29"/>
          <p:cNvSpPr/>
          <p:nvPr/>
        </p:nvSpPr>
        <p:spPr>
          <a:xfrm>
            <a:off x="768096" y="4160520"/>
            <a:ext cx="5084064" cy="274320"/>
          </a:xfrm>
          <a:prstGeom prst="rect">
            <a:avLst/>
          </a:prstGeom>
          <a:noFill/>
          <a:ln/>
        </p:spPr>
        <p:txBody>
          <a:bodyPr wrap="square" lIns="0" tIns="0" rIns="0" bIns="0" rtlCol="0" anchor="t"/>
          <a:lstStyle/>
          <a:p>
            <a:pPr indent="0" marL="0">
              <a:lnSpc>
                <a:spcPts val="1700"/>
              </a:lnSpc>
              <a:buNone/>
            </a:pPr>
            <a:r>
              <a:rPr lang="en-US" sz="1500" b="1" dirty="0">
                <a:solidFill>
                  <a:srgbClr val="0F172A"/>
                </a:solidFill>
              </a:rPr>
              <a:t>Practical relevance</a:t>
            </a:r>
            <a:endParaRPr lang="en-US" sz="1500" dirty="0"/>
          </a:p>
        </p:txBody>
      </p:sp>
      <p:sp>
        <p:nvSpPr>
          <p:cNvPr id="32" name="Text 30"/>
          <p:cNvSpPr/>
          <p:nvPr/>
        </p:nvSpPr>
        <p:spPr>
          <a:xfrm>
            <a:off x="768096" y="4453128"/>
            <a:ext cx="5084064" cy="1325880"/>
          </a:xfrm>
          <a:prstGeom prst="rect">
            <a:avLst/>
          </a:prstGeom>
          <a:noFill/>
          <a:ln/>
        </p:spPr>
        <p:txBody>
          <a:bodyPr wrap="square" lIns="0" tIns="0" rIns="0" bIns="0" rtlCol="0" anchor="t"/>
          <a:lstStyle/>
          <a:p>
            <a:pPr indent="0" marL="0">
              <a:lnSpc>
                <a:spcPts val="1500"/>
              </a:lnSpc>
              <a:buNone/>
            </a:pPr>
            <a:r>
              <a:rPr lang="en-US" sz="1150" dirty="0">
                <a:solidFill>
                  <a:srgbClr val="334155"/>
                </a:solidFill>
              </a:rPr>
              <a:t>Embedded and edge developers who cannot ship a 30 MB interpreter.</a:t>
            </a:r>
            <a:endParaRPr lang="en-US" sz="1150" dirty="0"/>
          </a:p>
          <a:p>
            <a:pPr indent="0" marL="0">
              <a:lnSpc>
                <a:spcPts val="1500"/>
              </a:lnSpc>
              <a:buNone/>
            </a:pPr>
            <a:endParaRPr lang="en-US" sz="1150" dirty="0"/>
          </a:p>
          <a:p>
            <a:pPr indent="0" marL="0">
              <a:lnSpc>
                <a:spcPts val="1500"/>
              </a:lnSpc>
              <a:buNone/>
            </a:pPr>
            <a:r>
              <a:rPr lang="en-US" sz="1150" dirty="0">
                <a:solidFill>
                  <a:srgbClr val="334155"/>
                </a:solidFill>
              </a:rPr>
              <a:t>Teams porting legacy Python who need an audit trail, not “it seemed to work”.</a:t>
            </a:r>
            <a:endParaRPr lang="en-US" sz="1150" dirty="0"/>
          </a:p>
          <a:p>
            <a:pPr indent="0" marL="0">
              <a:lnSpc>
                <a:spcPts val="1500"/>
              </a:lnSpc>
              <a:buNone/>
            </a:pPr>
            <a:endParaRPr lang="en-US" sz="1150" dirty="0"/>
          </a:p>
          <a:p>
            <a:pPr indent="0" marL="0">
              <a:lnSpc>
                <a:spcPts val="1500"/>
              </a:lnSpc>
              <a:buNone/>
            </a:pPr>
            <a:r>
              <a:rPr lang="en-US" sz="1150" dirty="0">
                <a:solidFill>
                  <a:srgbClr val="334155"/>
                </a:solidFill>
              </a:rPr>
              <a:t>Compiler students: every classical phase is present, and the semantic gap is made explicit instead of assumed away.</a:t>
            </a:r>
            <a:endParaRPr lang="en-US" sz="1150" dirty="0"/>
          </a:p>
        </p:txBody>
      </p:sp>
      <p:sp>
        <p:nvSpPr>
          <p:cNvPr id="33" name="Shape 31"/>
          <p:cNvSpPr/>
          <p:nvPr/>
        </p:nvSpPr>
        <p:spPr>
          <a:xfrm>
            <a:off x="6327648" y="3785616"/>
            <a:ext cx="5294376" cy="2121408"/>
          </a:xfrm>
          <a:prstGeom prst="roundRect">
            <a:avLst>
              <a:gd name="adj" fmla="val 3448"/>
            </a:avLst>
          </a:prstGeom>
          <a:solidFill>
            <a:srgbClr val="FFFBEB"/>
          </a:solidFill>
          <a:ln w="9525">
            <a:solidFill>
              <a:srgbClr val="FDE68A"/>
            </a:solidFill>
            <a:prstDash val="solid"/>
          </a:ln>
        </p:spPr>
      </p:sp>
      <p:sp>
        <p:nvSpPr>
          <p:cNvPr id="34" name="Text 32"/>
          <p:cNvSpPr/>
          <p:nvPr/>
        </p:nvSpPr>
        <p:spPr>
          <a:xfrm>
            <a:off x="6528816" y="3922776"/>
            <a:ext cx="4892040" cy="219456"/>
          </a:xfrm>
          <a:prstGeom prst="rect">
            <a:avLst/>
          </a:prstGeom>
          <a:noFill/>
          <a:ln/>
        </p:spPr>
        <p:txBody>
          <a:bodyPr wrap="square" lIns="0" tIns="0" rIns="0" bIns="0" rtlCol="0" anchor="ctr"/>
          <a:lstStyle/>
          <a:p>
            <a:pPr indent="0" marL="0">
              <a:buNone/>
            </a:pPr>
            <a:r>
              <a:rPr lang="en-US" sz="950" b="1" spc="90" kern="0" dirty="0">
                <a:solidFill>
                  <a:srgbClr val="B45309"/>
                </a:solidFill>
              </a:rPr>
              <a:t>THE OBSERVATION</a:t>
            </a:r>
            <a:endParaRPr lang="en-US" sz="950" dirty="0"/>
          </a:p>
        </p:txBody>
      </p:sp>
      <p:sp>
        <p:nvSpPr>
          <p:cNvPr id="35" name="Text 33"/>
          <p:cNvSpPr/>
          <p:nvPr/>
        </p:nvSpPr>
        <p:spPr>
          <a:xfrm>
            <a:off x="6528816" y="4160520"/>
            <a:ext cx="4892040" cy="475488"/>
          </a:xfrm>
          <a:prstGeom prst="rect">
            <a:avLst/>
          </a:prstGeom>
          <a:noFill/>
          <a:ln/>
        </p:spPr>
        <p:txBody>
          <a:bodyPr wrap="square" lIns="0" tIns="0" rIns="0" bIns="0" rtlCol="0" anchor="t"/>
          <a:lstStyle/>
          <a:p>
            <a:pPr indent="0" marL="0">
              <a:lnSpc>
                <a:spcPts val="1700"/>
              </a:lnSpc>
              <a:buNone/>
            </a:pPr>
            <a:r>
              <a:rPr lang="en-US" sz="1500" b="1" dirty="0">
                <a:solidFill>
                  <a:srgbClr val="0F172A"/>
                </a:solidFill>
              </a:rPr>
              <a:t>Nobody tells you where translation</a:t>
            </a:r>
            <a:endParaRPr lang="en-US" sz="1500" dirty="0"/>
          </a:p>
          <a:p>
            <a:pPr indent="0" marL="0">
              <a:lnSpc>
                <a:spcPts val="1700"/>
              </a:lnSpc>
              <a:buNone/>
            </a:pPr>
            <a:r>
              <a:rPr lang="en-US" sz="1500" b="1" dirty="0">
                <a:solidFill>
                  <a:srgbClr val="0F172A"/>
                </a:solidFill>
              </a:rPr>
              <a:t>stopped being faithful</a:t>
            </a:r>
            <a:endParaRPr lang="en-US" sz="1500" dirty="0"/>
          </a:p>
        </p:txBody>
      </p:sp>
      <p:sp>
        <p:nvSpPr>
          <p:cNvPr id="36" name="Text 34"/>
          <p:cNvSpPr/>
          <p:nvPr/>
        </p:nvSpPr>
        <p:spPr>
          <a:xfrm>
            <a:off x="6528816" y="4672584"/>
            <a:ext cx="4892040" cy="1106424"/>
          </a:xfrm>
          <a:prstGeom prst="rect">
            <a:avLst/>
          </a:prstGeom>
          <a:noFill/>
          <a:ln/>
        </p:spPr>
        <p:txBody>
          <a:bodyPr wrap="square" lIns="0" tIns="0" rIns="0" bIns="0" rtlCol="0" anchor="t"/>
          <a:lstStyle/>
          <a:p>
            <a:pPr indent="0" marL="0">
              <a:lnSpc>
                <a:spcPts val="1500"/>
              </a:lnSpc>
              <a:buNone/>
            </a:pPr>
            <a:r>
              <a:rPr lang="en-US" sz="1150" dirty="0">
                <a:solidFill>
                  <a:srgbClr val="334155"/>
                </a:solidFill>
              </a:rPr>
              <a:t>Codon silently redefines int as 64-bit. Cython and Nuitka emit unreviewable generated C. Transcrypt does not type-check at all.</a:t>
            </a:r>
            <a:endParaRPr lang="en-US" sz="1150" dirty="0"/>
          </a:p>
          <a:p>
            <a:pPr indent="0" marL="0">
              <a:lnSpc>
                <a:spcPts val="1500"/>
              </a:lnSpc>
              <a:buNone/>
            </a:pPr>
            <a:endParaRPr lang="en-US" sz="1150" dirty="0"/>
          </a:p>
          <a:p>
            <a:pPr indent="0" marL="0">
              <a:lnSpc>
                <a:spcPts val="1500"/>
              </a:lnSpc>
              <a:buNone/>
            </a:pPr>
            <a:r>
              <a:rPr lang="en-US" sz="1150" dirty="0">
                <a:solidFill>
                  <a:srgbClr val="334155"/>
                </a:solidFill>
              </a:rPr>
              <a:t>Every one of them asserts semantic preservation. None of them demonstrates it.</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8040319" cy="566928"/>
          </a:xfrm>
          <a:prstGeom prst="rect">
            <a:avLst/>
          </a:prstGeom>
          <a:noFill/>
          <a:ln/>
        </p:spPr>
        <p:txBody>
          <a:bodyPr wrap="square" lIns="0" tIns="0" rIns="0" bIns="0" rtlCol="0" anchor="ctr"/>
          <a:lstStyle/>
          <a:p>
            <a:pPr indent="0" marL="0">
              <a:buNone/>
            </a:pPr>
            <a:r>
              <a:rPr lang="en-US" sz="2400" b="1" dirty="0">
                <a:solidFill>
                  <a:srgbClr val="0F172A"/>
                </a:solidFill>
              </a:rPr>
              <a:t>Problem statement, scope and objectives</a:t>
            </a:r>
            <a:endParaRPr lang="en-US" sz="2400" dirty="0"/>
          </a:p>
        </p:txBody>
      </p:sp>
      <p:sp>
        <p:nvSpPr>
          <p:cNvPr id="3" name="Shape 1"/>
          <p:cNvSpPr/>
          <p:nvPr/>
        </p:nvSpPr>
        <p:spPr>
          <a:xfrm>
            <a:off x="8835847" y="310896"/>
            <a:ext cx="2788920" cy="310896"/>
          </a:xfrm>
          <a:prstGeom prst="roundRect">
            <a:avLst>
              <a:gd name="adj" fmla="val 50000"/>
            </a:avLst>
          </a:prstGeom>
          <a:solidFill>
            <a:srgbClr val="F1F5F9"/>
          </a:solidFill>
          <a:ln w="9525">
            <a:solidFill>
              <a:srgbClr val="E2E8F0"/>
            </a:solidFill>
            <a:prstDash val="solid"/>
          </a:ln>
        </p:spPr>
      </p:sp>
      <p:sp>
        <p:nvSpPr>
          <p:cNvPr id="4" name="Text 2"/>
          <p:cNvSpPr/>
          <p:nvPr/>
        </p:nvSpPr>
        <p:spPr>
          <a:xfrm>
            <a:off x="8835847" y="310896"/>
            <a:ext cx="2788920" cy="310896"/>
          </a:xfrm>
          <a:prstGeom prst="rect">
            <a:avLst/>
          </a:prstGeom>
          <a:noFill/>
          <a:ln/>
        </p:spPr>
        <p:txBody>
          <a:bodyPr wrap="square" lIns="0" tIns="0" rIns="0" bIns="0" rtlCol="0" anchor="ctr"/>
          <a:lstStyle/>
          <a:p>
            <a:pPr algn="ctr" indent="0" marL="0">
              <a:buNone/>
            </a:pPr>
            <a:r>
              <a:rPr lang="en-US" sz="900" b="1" spc="80" kern="0" dirty="0">
                <a:solidFill>
                  <a:srgbClr val="334155"/>
                </a:solidFill>
              </a:rPr>
              <a:t>MEMBER 1 · VISHAL</a:t>
            </a:r>
            <a:endParaRPr lang="en-US" sz="900" dirty="0"/>
          </a:p>
        </p:txBody>
      </p:sp>
      <p:sp>
        <p:nvSpPr>
          <p:cNvPr id="5" name="Text 3"/>
          <p:cNvSpPr/>
          <p:nvPr/>
        </p:nvSpPr>
        <p:spPr>
          <a:xfrm>
            <a:off x="11076127" y="6382512"/>
            <a:ext cx="548640" cy="274320"/>
          </a:xfrm>
          <a:prstGeom prst="rect">
            <a:avLst/>
          </a:prstGeom>
          <a:noFill/>
          <a:ln/>
        </p:spPr>
        <p:txBody>
          <a:bodyPr wrap="square" lIns="0" tIns="0" rIns="0" bIns="0" rtlCol="0" anchor="ctr"/>
          <a:lstStyle/>
          <a:p>
            <a:pPr algn="r" indent="0" marL="0">
              <a:buNone/>
            </a:pPr>
            <a:r>
              <a:rPr lang="en-US" sz="1000" dirty="0">
                <a:solidFill>
                  <a:srgbClr val="64748B"/>
                </a:solidFill>
              </a:rPr>
              <a:t>3</a:t>
            </a:r>
            <a:endParaRPr lang="en-US" sz="1000" dirty="0"/>
          </a:p>
        </p:txBody>
      </p:sp>
      <p:sp>
        <p:nvSpPr>
          <p:cNvPr id="6" name="Text 4"/>
          <p:cNvSpPr/>
          <p:nvPr/>
        </p:nvSpPr>
        <p:spPr>
          <a:xfrm>
            <a:off x="566928" y="6382512"/>
            <a:ext cx="5486400" cy="274320"/>
          </a:xfrm>
          <a:prstGeom prst="rect">
            <a:avLst/>
          </a:prstGeom>
          <a:noFill/>
          <a:ln/>
        </p:spPr>
        <p:txBody>
          <a:bodyPr wrap="square" lIns="0" tIns="0" rIns="0" bIns="0" rtlCol="0" anchor="ctr"/>
          <a:lstStyle/>
          <a:p>
            <a:pPr indent="0" marL="0">
              <a:buNone/>
            </a:pPr>
            <a:r>
              <a:rPr lang="en-US" sz="900" dirty="0">
                <a:solidFill>
                  <a:srgbClr val="94A3B8"/>
                </a:solidFill>
              </a:rPr>
              <a:t>PYTHIA  ·  BCSE307L Team 2  ·  Project A15</a:t>
            </a:r>
            <a:endParaRPr lang="en-US" sz="900" dirty="0"/>
          </a:p>
        </p:txBody>
      </p:sp>
      <p:sp>
        <p:nvSpPr>
          <p:cNvPr id="7" name="Shape 5"/>
          <p:cNvSpPr/>
          <p:nvPr/>
        </p:nvSpPr>
        <p:spPr>
          <a:xfrm>
            <a:off x="566928" y="950976"/>
            <a:ext cx="11057839" cy="1298448"/>
          </a:xfrm>
          <a:prstGeom prst="roundRect">
            <a:avLst>
              <a:gd name="adj" fmla="val 5634"/>
            </a:avLst>
          </a:prstGeom>
          <a:solidFill>
            <a:srgbClr val="0F172A"/>
          </a:solidFill>
          <a:ln w="12700">
            <a:solidFill>
              <a:srgbClr val="333333"/>
            </a:solidFill>
            <a:prstDash val="solid"/>
          </a:ln>
        </p:spPr>
      </p:sp>
      <p:sp>
        <p:nvSpPr>
          <p:cNvPr id="8" name="Text 6"/>
          <p:cNvSpPr/>
          <p:nvPr/>
        </p:nvSpPr>
        <p:spPr>
          <a:xfrm>
            <a:off x="786384" y="1078992"/>
            <a:ext cx="10618927" cy="1060704"/>
          </a:xfrm>
          <a:prstGeom prst="rect">
            <a:avLst/>
          </a:prstGeom>
          <a:noFill/>
          <a:ln/>
        </p:spPr>
        <p:txBody>
          <a:bodyPr wrap="square" lIns="0" tIns="0" rIns="0" bIns="0" rtlCol="0" anchor="ctr"/>
          <a:lstStyle/>
          <a:p>
            <a:pPr indent="0" marL="0">
              <a:lnSpc>
                <a:spcPts val="1600"/>
              </a:lnSpc>
              <a:buNone/>
            </a:pPr>
            <a:r>
              <a:rPr lang="en-US" sz="1200" b="1" dirty="0">
                <a:solidFill>
                  <a:srgbClr val="FFFFFF"/>
                </a:solidFill>
              </a:rPr>
              <a:t>Given a program P in PySub, produce a C11 program C(P) and a report R(P) such that:  </a:t>
            </a:r>
            <a:pPr indent="0" marL="0">
              <a:lnSpc>
                <a:spcPts val="1600"/>
              </a:lnSpc>
              <a:buNone/>
            </a:pPr>
            <a:r>
              <a:rPr lang="en-US" sz="1200" b="1" dirty="0">
                <a:solidFill>
                  <a:srgbClr val="F59E0B"/>
                </a:solidFill>
              </a:rPr>
              <a:t>(i) </a:t>
            </a:r>
            <a:pPr indent="0" marL="0">
              <a:lnSpc>
                <a:spcPts val="1600"/>
              </a:lnSpc>
              <a:buNone/>
            </a:pPr>
            <a:r>
              <a:rPr lang="en-US" sz="1200" dirty="0">
                <a:solidFill>
                  <a:srgbClr val="CBD5E1"/>
                </a:solidFill>
              </a:rPr>
              <a:t>C(P) compiles anywhere with no dependency beyond our runtime;  </a:t>
            </a:r>
            <a:pPr indent="0" marL="0">
              <a:lnSpc>
                <a:spcPts val="1600"/>
              </a:lnSpc>
              <a:buNone/>
            </a:pPr>
            <a:r>
              <a:rPr lang="en-US" sz="1200" b="1" dirty="0">
                <a:solidFill>
                  <a:srgbClr val="F59E0B"/>
                </a:solidFill>
              </a:rPr>
              <a:t>(ii) </a:t>
            </a:r>
            <a:pPr indent="0" marL="0">
              <a:lnSpc>
                <a:spcPts val="1600"/>
              </a:lnSpc>
              <a:buNone/>
            </a:pPr>
            <a:r>
              <a:rPr lang="en-US" sz="1200" dirty="0">
                <a:solidFill>
                  <a:srgbClr val="CBD5E1"/>
                </a:solidFill>
              </a:rPr>
              <a:t>for every input on which P terminates, C(P) produces byte-identical stdout and the same exception class as CPython 3.12;  </a:t>
            </a:r>
            <a:pPr indent="0" marL="0">
              <a:lnSpc>
                <a:spcPts val="1600"/>
              </a:lnSpc>
              <a:buNone/>
            </a:pPr>
            <a:r>
              <a:rPr lang="en-US" sz="1200" b="1" dirty="0">
                <a:solidFill>
                  <a:srgbClr val="F59E0B"/>
                </a:solidFill>
              </a:rPr>
              <a:t>(iii) </a:t>
            </a:r>
            <a:pPr indent="0" marL="0">
              <a:lnSpc>
                <a:spcPts val="1600"/>
              </a:lnSpc>
              <a:buNone/>
            </a:pPr>
            <a:r>
              <a:rPr lang="en-US" sz="1200" dirty="0">
                <a:solidFill>
                  <a:srgbClr val="CBD5E1"/>
                </a:solidFill>
              </a:rPr>
              <a:t>every construct whose C image is not provably equivalent appears in R(P) with its position, class and mitigation;  </a:t>
            </a:r>
            <a:pPr indent="0" marL="0">
              <a:lnSpc>
                <a:spcPts val="1600"/>
              </a:lnSpc>
              <a:buNone/>
            </a:pPr>
            <a:r>
              <a:rPr lang="en-US" sz="1200" b="1" dirty="0">
                <a:solidFill>
                  <a:srgbClr val="F59E0B"/>
                </a:solidFill>
              </a:rPr>
              <a:t>(iv) </a:t>
            </a:r>
            <a:pPr indent="0" marL="0">
              <a:lnSpc>
                <a:spcPts val="1600"/>
              </a:lnSpc>
              <a:buNone/>
            </a:pPr>
            <a:r>
              <a:rPr lang="en-US" sz="1200" dirty="0">
                <a:solidFill>
                  <a:srgbClr val="CBD5E1"/>
                </a:solidFill>
              </a:rPr>
              <a:t>any ill-typed P is rejected before a line of C is emitted.</a:t>
            </a:r>
            <a:endParaRPr lang="en-US" sz="1200" dirty="0"/>
          </a:p>
        </p:txBody>
      </p:sp>
      <p:sp>
        <p:nvSpPr>
          <p:cNvPr id="9" name="Text 7"/>
          <p:cNvSpPr/>
          <p:nvPr/>
        </p:nvSpPr>
        <p:spPr>
          <a:xfrm>
            <a:off x="566928" y="2304288"/>
            <a:ext cx="11057839" cy="274320"/>
          </a:xfrm>
          <a:prstGeom prst="rect">
            <a:avLst/>
          </a:prstGeom>
          <a:noFill/>
          <a:ln/>
        </p:spPr>
        <p:txBody>
          <a:bodyPr wrap="square" lIns="0" tIns="0" rIns="0" bIns="0" rtlCol="0" anchor="ctr"/>
          <a:lstStyle/>
          <a:p>
            <a:pPr indent="0" marL="0">
              <a:buNone/>
            </a:pPr>
            <a:r>
              <a:rPr lang="en-US" sz="1100" i="1" dirty="0">
                <a:solidFill>
                  <a:srgbClr val="64748B"/>
                </a:solidFill>
              </a:rPr>
              <a:t>(ii) is what every transpiler claims. (iii) is what makes it auditable when (ii) cannot be met. Together they are the contribution.</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66928" y="2688336"/>
          <a:ext cx="6903720" cy="914400"/>
        </p:xfrm>
        <a:graphic>
          <a:graphicData uri="http://schemas.openxmlformats.org/drawingml/2006/table">
            <a:tbl>
              <a:tblPr/>
              <a:tblGrid>
                <a:gridCol w="384048"/>
                <a:gridCol w="3246120"/>
                <a:gridCol w="2148840"/>
                <a:gridCol w="1124712"/>
              </a:tblGrid>
              <a:tr h="274320">
                <a:tc>
                  <a:txBody>
                    <a:bodyPr/>
                    <a:lstStyle/>
                    <a:p>
                      <a:pPr indent="0" marL="0">
                        <a:buNone/>
                      </a:pPr>
                      <a:r>
                        <a:rPr lang="en-US" sz="950" b="1" dirty="0">
                          <a:solidFill>
                            <a:srgbClr val="1E293B"/>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950" b="1" dirty="0">
                          <a:solidFill>
                            <a:srgbClr val="1E293B"/>
                          </a:solidFill>
                          <a:latin typeface="Calibri" pitchFamily="34" charset="0"/>
                          <a:ea typeface="Calibri" pitchFamily="34" charset="-122"/>
                          <a:cs typeface="Calibri" pitchFamily="34" charset="-120"/>
                        </a:rPr>
                        <a:t>Measurable objective</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950" b="1" dirty="0">
                          <a:solidFill>
                            <a:srgbClr val="1E293B"/>
                          </a:solidFill>
                          <a:latin typeface="Calibri" pitchFamily="34" charset="0"/>
                          <a:ea typeface="Calibri" pitchFamily="34" charset="-122"/>
                          <a:cs typeface="Calibri" pitchFamily="34" charset="-120"/>
                        </a:rPr>
                        <a:t>Target</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950" b="1" dirty="0">
                          <a:solidFill>
                            <a:srgbClr val="1E293B"/>
                          </a:solidFill>
                          <a:latin typeface="Calibri" pitchFamily="34" charset="0"/>
                          <a:ea typeface="Calibri" pitchFamily="34" charset="-122"/>
                          <a:cs typeface="Calibri" pitchFamily="34" charset="-120"/>
                        </a:rPr>
                        <a:t>At R1</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1F5F9"/>
                    </a:solidFill>
                  </a:tcPr>
                </a:tc>
              </a:tr>
              <a:tr h="274320">
                <a:tc>
                  <a:txBody>
                    <a:bodyPr/>
                    <a:lstStyle/>
                    <a:p>
                      <a:pPr indent="0" marL="0">
                        <a:buNone/>
                      </a:pPr>
                      <a:r>
                        <a:rPr lang="en-US" sz="950" b="1" dirty="0">
                          <a:solidFill>
                            <a:srgbClr val="0F172A"/>
                          </a:solidFill>
                          <a:latin typeface="Calibri" pitchFamily="34" charset="0"/>
                          <a:ea typeface="Calibri" pitchFamily="34" charset="-122"/>
                          <a:cs typeface="Calibri" pitchFamily="34" charset="-120"/>
                        </a:rPr>
                        <a:t>O1</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Formally specify PySub in EBNF</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 40 productions</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41 ✓</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r>
              <a:tr h="274320">
                <a:tc>
                  <a:txBody>
                    <a:bodyPr/>
                    <a:lstStyle/>
                    <a:p>
                      <a:pPr indent="0" marL="0">
                        <a:buNone/>
                      </a:pPr>
                      <a:r>
                        <a:rPr lang="en-US" sz="950" b="1" dirty="0">
                          <a:solidFill>
                            <a:srgbClr val="0F172A"/>
                          </a:solidFill>
                          <a:latin typeface="Calibri" pitchFamily="34" charset="0"/>
                          <a:ea typeface="Calibri" pitchFamily="34" charset="-122"/>
                          <a:cs typeface="Calibri" pitchFamily="34" charset="-120"/>
                        </a:rPr>
                        <a:t>O2</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Reject every ill-typed program</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 95% of 60 cases</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12/12 ✓</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r>
              <a:tr h="274320">
                <a:tc>
                  <a:txBody>
                    <a:bodyPr/>
                    <a:lstStyle/>
                    <a:p>
                      <a:pPr indent="0" marL="0">
                        <a:buNone/>
                      </a:pPr>
                      <a:r>
                        <a:rPr lang="en-US" sz="950" b="1" dirty="0">
                          <a:solidFill>
                            <a:srgbClr val="0F172A"/>
                          </a:solidFill>
                          <a:latin typeface="Calibri" pitchFamily="34" charset="0"/>
                          <a:ea typeface="Calibri" pitchFamily="34" charset="-122"/>
                          <a:cs typeface="Calibri" pitchFamily="34" charset="-120"/>
                        </a:rPr>
                        <a:t>O3</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Preserve semantics vs CPython 3.12</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 98% of 120 programs</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14/14 ✓</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r>
              <a:tr h="274320">
                <a:tc>
                  <a:txBody>
                    <a:bodyPr/>
                    <a:lstStyle/>
                    <a:p>
                      <a:pPr indent="0" marL="0">
                        <a:buNone/>
                      </a:pPr>
                      <a:r>
                        <a:rPr lang="en-US" sz="950" b="1" dirty="0">
                          <a:solidFill>
                            <a:srgbClr val="0F172A"/>
                          </a:solidFill>
                          <a:latin typeface="Calibri" pitchFamily="34" charset="0"/>
                          <a:ea typeface="Calibri" pitchFamily="34" charset="-122"/>
                          <a:cs typeface="Calibri" pitchFamily="34" charset="-120"/>
                        </a:rPr>
                        <a:t>O4</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Catalogue + report every divergence</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 7 classes, positioned</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7 ✓</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r>
              <a:tr h="274320">
                <a:tc>
                  <a:txBody>
                    <a:bodyPr/>
                    <a:lstStyle/>
                    <a:p>
                      <a:pPr indent="0" marL="0">
                        <a:buNone/>
                      </a:pPr>
                      <a:r>
                        <a:rPr lang="en-US" sz="950" b="1" dirty="0">
                          <a:solidFill>
                            <a:srgbClr val="0F172A"/>
                          </a:solidFill>
                          <a:latin typeface="Calibri" pitchFamily="34" charset="0"/>
                          <a:ea typeface="Calibri" pitchFamily="34" charset="-122"/>
                          <a:cs typeface="Calibri" pitchFamily="34" charset="-120"/>
                        </a:rPr>
                        <a:t>O5</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Produce competitive native code</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median ≥ 8× speedup</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9.4× ✓</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r>
            </a:tbl>
          </a:graphicData>
        </a:graphic>
      </p:graphicFrame>
      <p:sp>
        <p:nvSpPr>
          <p:cNvPr id="11" name="Shape 8"/>
          <p:cNvSpPr/>
          <p:nvPr/>
        </p:nvSpPr>
        <p:spPr>
          <a:xfrm>
            <a:off x="7744968" y="2688336"/>
            <a:ext cx="3877056" cy="1481328"/>
          </a:xfrm>
          <a:prstGeom prst="roundRect">
            <a:avLst>
              <a:gd name="adj" fmla="val 4938"/>
            </a:avLst>
          </a:prstGeom>
          <a:solidFill>
            <a:srgbClr val="F1F5F9"/>
          </a:solidFill>
          <a:ln w="9525">
            <a:solidFill>
              <a:srgbClr val="E2E8F0"/>
            </a:solidFill>
            <a:prstDash val="solid"/>
          </a:ln>
        </p:spPr>
      </p:sp>
      <p:sp>
        <p:nvSpPr>
          <p:cNvPr id="12" name="Text 9"/>
          <p:cNvSpPr/>
          <p:nvPr/>
        </p:nvSpPr>
        <p:spPr>
          <a:xfrm>
            <a:off x="7946136" y="2825496"/>
            <a:ext cx="3474720" cy="219456"/>
          </a:xfrm>
          <a:prstGeom prst="rect">
            <a:avLst/>
          </a:prstGeom>
          <a:noFill/>
          <a:ln/>
        </p:spPr>
        <p:txBody>
          <a:bodyPr wrap="square" lIns="0" tIns="0" rIns="0" bIns="0" rtlCol="0" anchor="ctr"/>
          <a:lstStyle/>
          <a:p>
            <a:pPr indent="0" marL="0">
              <a:buNone/>
            </a:pPr>
            <a:r>
              <a:rPr lang="en-US" sz="950" b="1" spc="90" kern="0" dirty="0">
                <a:solidFill>
                  <a:srgbClr val="0D9488"/>
                </a:solidFill>
              </a:rPr>
              <a:t>IN SCOPE — PySub v0.1</a:t>
            </a:r>
            <a:endParaRPr lang="en-US" sz="950" dirty="0"/>
          </a:p>
        </p:txBody>
      </p:sp>
      <p:sp>
        <p:nvSpPr>
          <p:cNvPr id="13" name="Text 10"/>
          <p:cNvSpPr/>
          <p:nvPr/>
        </p:nvSpPr>
        <p:spPr>
          <a:xfrm>
            <a:off x="7946136" y="3063240"/>
            <a:ext cx="3474720" cy="978408"/>
          </a:xfrm>
          <a:prstGeom prst="rect">
            <a:avLst/>
          </a:prstGeom>
          <a:noFill/>
          <a:ln/>
        </p:spPr>
        <p:txBody>
          <a:bodyPr wrap="square" lIns="0" tIns="0" rIns="0" bIns="0" rtlCol="0" anchor="t"/>
          <a:lstStyle/>
          <a:p>
            <a:pPr indent="0" marL="0">
              <a:lnSpc>
                <a:spcPts val="1350"/>
              </a:lnSpc>
              <a:buNone/>
            </a:pPr>
            <a:r>
              <a:rPr lang="en-US" sz="1000" dirty="0">
                <a:solidFill>
                  <a:srgbClr val="334155"/>
                </a:solidFill>
              </a:rPr>
              <a:t>int · float · bool · str · list[T] · None</a:t>
            </a:r>
            <a:endParaRPr lang="en-US" sz="1000" dirty="0"/>
          </a:p>
          <a:p>
            <a:pPr indent="0" marL="0">
              <a:lnSpc>
                <a:spcPts val="1350"/>
              </a:lnSpc>
              <a:buNone/>
            </a:pPr>
            <a:r>
              <a:rPr lang="en-US" sz="1000" dirty="0">
                <a:solidFill>
                  <a:srgbClr val="334155"/>
                </a:solidFill>
              </a:rPr>
              <a:t>def with mandatory annotations · mutual recursion</a:t>
            </a:r>
            <a:endParaRPr lang="en-US" sz="1000" dirty="0"/>
          </a:p>
          <a:p>
            <a:pPr indent="0" marL="0">
              <a:lnSpc>
                <a:spcPts val="1350"/>
              </a:lnSpc>
              <a:buNone/>
            </a:pPr>
            <a:r>
              <a:rPr lang="en-US" sz="1000" dirty="0">
                <a:solidFill>
                  <a:srgbClr val="334155"/>
                </a:solidFill>
              </a:rPr>
              <a:t>if/elif/else · while · for-in-range · for-in-list</a:t>
            </a:r>
            <a:endParaRPr lang="en-US" sz="1000" dirty="0"/>
          </a:p>
          <a:p>
            <a:pPr indent="0" marL="0">
              <a:lnSpc>
                <a:spcPts val="1350"/>
              </a:lnSpc>
              <a:buNone/>
            </a:pPr>
            <a:r>
              <a:rPr lang="en-US" sz="1000" dirty="0">
                <a:solidFill>
                  <a:srgbClr val="334155"/>
                </a:solidFill>
              </a:rPr>
              <a:t>+ − * / // % ** with Python's rounding rules</a:t>
            </a:r>
            <a:endParaRPr lang="en-US" sz="1000" dirty="0"/>
          </a:p>
          <a:p>
            <a:pPr indent="0" marL="0">
              <a:lnSpc>
                <a:spcPts val="1350"/>
              </a:lnSpc>
              <a:buNone/>
            </a:pPr>
            <a:r>
              <a:rPr lang="en-US" sz="1000" dirty="0">
                <a:solidFill>
                  <a:srgbClr val="334155"/>
                </a:solidFill>
              </a:rPr>
              <a:t>indexing with negative subscripts · print · len · abs</a:t>
            </a:r>
            <a:endParaRPr lang="en-US" sz="1000" dirty="0"/>
          </a:p>
        </p:txBody>
      </p:sp>
      <p:sp>
        <p:nvSpPr>
          <p:cNvPr id="14" name="Shape 11"/>
          <p:cNvSpPr/>
          <p:nvPr/>
        </p:nvSpPr>
        <p:spPr>
          <a:xfrm>
            <a:off x="7744968" y="4224528"/>
            <a:ext cx="3877056" cy="1755648"/>
          </a:xfrm>
          <a:prstGeom prst="roundRect">
            <a:avLst>
              <a:gd name="adj" fmla="val 4167"/>
            </a:avLst>
          </a:prstGeom>
          <a:solidFill>
            <a:srgbClr val="FEF2F2"/>
          </a:solidFill>
          <a:ln w="9525">
            <a:solidFill>
              <a:srgbClr val="FECACA"/>
            </a:solidFill>
            <a:prstDash val="solid"/>
          </a:ln>
        </p:spPr>
      </p:sp>
      <p:sp>
        <p:nvSpPr>
          <p:cNvPr id="15" name="Text 12"/>
          <p:cNvSpPr/>
          <p:nvPr/>
        </p:nvSpPr>
        <p:spPr>
          <a:xfrm>
            <a:off x="7946136" y="4361688"/>
            <a:ext cx="3474720" cy="219456"/>
          </a:xfrm>
          <a:prstGeom prst="rect">
            <a:avLst/>
          </a:prstGeom>
          <a:noFill/>
          <a:ln/>
        </p:spPr>
        <p:txBody>
          <a:bodyPr wrap="square" lIns="0" tIns="0" rIns="0" bIns="0" rtlCol="0" anchor="ctr"/>
          <a:lstStyle/>
          <a:p>
            <a:pPr indent="0" marL="0">
              <a:buNone/>
            </a:pPr>
            <a:r>
              <a:rPr lang="en-US" sz="950" b="1" spc="90" kern="0" dirty="0">
                <a:solidFill>
                  <a:srgbClr val="BE123C"/>
                </a:solidFill>
              </a:rPr>
              <a:t>DEFERRED — DATED, NOT FORGOTTEN</a:t>
            </a:r>
            <a:endParaRPr lang="en-US" sz="950" dirty="0"/>
          </a:p>
        </p:txBody>
      </p:sp>
      <p:sp>
        <p:nvSpPr>
          <p:cNvPr id="16" name="Text 13"/>
          <p:cNvSpPr/>
          <p:nvPr/>
        </p:nvSpPr>
        <p:spPr>
          <a:xfrm>
            <a:off x="7946136" y="4599432"/>
            <a:ext cx="3474720" cy="1252728"/>
          </a:xfrm>
          <a:prstGeom prst="rect">
            <a:avLst/>
          </a:prstGeom>
          <a:noFill/>
          <a:ln/>
        </p:spPr>
        <p:txBody>
          <a:bodyPr wrap="square" lIns="0" tIns="0" rIns="0" bIns="0" rtlCol="0" anchor="t"/>
          <a:lstStyle/>
          <a:p>
            <a:pPr indent="0" marL="0">
              <a:lnSpc>
                <a:spcPts val="1350"/>
              </a:lnSpc>
              <a:buNone/>
            </a:pPr>
            <a:r>
              <a:rPr lang="en-US" sz="1000" dirty="0">
                <a:solidFill>
                  <a:srgbClr val="334155"/>
                </a:solidFill>
              </a:rPr>
              <a:t>Nested list[list[T]]  →  Review 2</a:t>
            </a:r>
            <a:endParaRPr lang="en-US" sz="1000" dirty="0"/>
          </a:p>
          <a:p>
            <a:pPr indent="0" marL="0">
              <a:lnSpc>
                <a:spcPts val="1350"/>
              </a:lnSpc>
              <a:buNone/>
            </a:pPr>
            <a:r>
              <a:rPr lang="en-US" sz="1000" dirty="0">
                <a:solidFill>
                  <a:srgbClr val="334155"/>
                </a:solidFill>
              </a:rPr>
              <a:t>Classes · dict · try/except  →  Review 3</a:t>
            </a:r>
            <a:endParaRPr lang="en-US" sz="1000" dirty="0"/>
          </a:p>
          <a:p>
            <a:pPr indent="0" marL="0">
              <a:lnSpc>
                <a:spcPts val="1350"/>
              </a:lnSpc>
              <a:buNone/>
            </a:pPr>
            <a:r>
              <a:rPr lang="en-US" sz="1000" dirty="0">
                <a:solidFill>
                  <a:srgbClr val="334155"/>
                </a:solidFill>
              </a:rPr>
              <a:t>Closures · slicing  →  out of scope</a:t>
            </a:r>
            <a:endParaRPr lang="en-US" sz="1000" dirty="0"/>
          </a:p>
          <a:p>
            <a:pPr indent="0" marL="0">
              <a:lnSpc>
                <a:spcPts val="1350"/>
              </a:lnSpc>
              <a:buNone/>
            </a:pPr>
            <a:r>
              <a:rPr lang="en-US" sz="1000" dirty="0">
                <a:solidFill>
                  <a:srgbClr val="334155"/>
                </a:solidFill>
              </a:rPr>
              <a:t>Arbitrary-precision int  →  D1, guarded</a:t>
            </a:r>
            <a:endParaRPr lang="en-US" sz="1000" dirty="0"/>
          </a:p>
          <a:p>
            <a:pPr indent="0" marL="0">
              <a:lnSpc>
                <a:spcPts val="1350"/>
              </a:lnSpc>
              <a:buNone/>
            </a:pPr>
            <a:endParaRPr lang="en-US" sz="1000" dirty="0"/>
          </a:p>
          <a:p>
            <a:pPr indent="0" marL="0">
              <a:lnSpc>
                <a:spcPts val="1350"/>
              </a:lnSpc>
              <a:buNone/>
            </a:pPr>
            <a:r>
              <a:rPr lang="en-US" sz="1000" dirty="0">
                <a:solidFill>
                  <a:srgbClr val="334155"/>
                </a:solidFill>
              </a:rPr>
              <a:t>The checker names the review in its rejection message, so scope creep stays visible.</a:t>
            </a:r>
            <a:endParaRPr lang="en-US" sz="1000" dirty="0"/>
          </a:p>
        </p:txBody>
      </p:sp>
      <p:sp>
        <p:nvSpPr>
          <p:cNvPr id="17" name="Text 14"/>
          <p:cNvSpPr/>
          <p:nvPr/>
        </p:nvSpPr>
        <p:spPr>
          <a:xfrm>
            <a:off x="566928" y="4443984"/>
            <a:ext cx="6903720" cy="274320"/>
          </a:xfrm>
          <a:prstGeom prst="rect">
            <a:avLst/>
          </a:prstGeom>
          <a:noFill/>
          <a:ln/>
        </p:spPr>
        <p:txBody>
          <a:bodyPr wrap="square" lIns="0" tIns="0" rIns="0" bIns="0" rtlCol="0" anchor="ctr"/>
          <a:lstStyle/>
          <a:p>
            <a:pPr indent="0" marL="0">
              <a:buNone/>
            </a:pPr>
            <a:r>
              <a:rPr lang="en-US" sz="1050" i="1" dirty="0">
                <a:solidFill>
                  <a:srgbClr val="64748B"/>
                </a:solidFill>
              </a:rPr>
              <a:t>O2 and O3 corpora grow to 60 and 120 by Review 2, largely via the grammar-directed program generator.</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8040319" cy="566928"/>
          </a:xfrm>
          <a:prstGeom prst="rect">
            <a:avLst/>
          </a:prstGeom>
          <a:noFill/>
          <a:ln/>
        </p:spPr>
        <p:txBody>
          <a:bodyPr wrap="square" lIns="0" tIns="0" rIns="0" bIns="0" rtlCol="0" anchor="ctr"/>
          <a:lstStyle/>
          <a:p>
            <a:pPr indent="0" marL="0">
              <a:buNone/>
            </a:pPr>
            <a:r>
              <a:rPr lang="en-US" sz="2400" b="1" dirty="0">
                <a:solidFill>
                  <a:srgbClr val="0F172A"/>
                </a:solidFill>
              </a:rPr>
              <a:t>Compiler-design concepts the project rests on</a:t>
            </a:r>
            <a:endParaRPr lang="en-US" sz="2400" dirty="0"/>
          </a:p>
        </p:txBody>
      </p:sp>
      <p:sp>
        <p:nvSpPr>
          <p:cNvPr id="3" name="Shape 1"/>
          <p:cNvSpPr/>
          <p:nvPr/>
        </p:nvSpPr>
        <p:spPr>
          <a:xfrm>
            <a:off x="8835847" y="310896"/>
            <a:ext cx="2788920" cy="310896"/>
          </a:xfrm>
          <a:prstGeom prst="roundRect">
            <a:avLst>
              <a:gd name="adj" fmla="val 50000"/>
            </a:avLst>
          </a:prstGeom>
          <a:solidFill>
            <a:srgbClr val="F1F5F9"/>
          </a:solidFill>
          <a:ln w="9525">
            <a:solidFill>
              <a:srgbClr val="E2E8F0"/>
            </a:solidFill>
            <a:prstDash val="solid"/>
          </a:ln>
        </p:spPr>
      </p:sp>
      <p:sp>
        <p:nvSpPr>
          <p:cNvPr id="4" name="Text 2"/>
          <p:cNvSpPr/>
          <p:nvPr/>
        </p:nvSpPr>
        <p:spPr>
          <a:xfrm>
            <a:off x="8835847" y="310896"/>
            <a:ext cx="2788920" cy="310896"/>
          </a:xfrm>
          <a:prstGeom prst="rect">
            <a:avLst/>
          </a:prstGeom>
          <a:noFill/>
          <a:ln/>
        </p:spPr>
        <p:txBody>
          <a:bodyPr wrap="square" lIns="0" tIns="0" rIns="0" bIns="0" rtlCol="0" anchor="ctr"/>
          <a:lstStyle/>
          <a:p>
            <a:pPr algn="ctr" indent="0" marL="0">
              <a:buNone/>
            </a:pPr>
            <a:r>
              <a:rPr lang="en-US" sz="900" b="1" spc="80" kern="0" dirty="0">
                <a:solidFill>
                  <a:srgbClr val="334155"/>
                </a:solidFill>
              </a:rPr>
              <a:t>MEMBER 2 · RUJUTA</a:t>
            </a:r>
            <a:endParaRPr lang="en-US" sz="900" dirty="0"/>
          </a:p>
        </p:txBody>
      </p:sp>
      <p:sp>
        <p:nvSpPr>
          <p:cNvPr id="5" name="Text 3"/>
          <p:cNvSpPr/>
          <p:nvPr/>
        </p:nvSpPr>
        <p:spPr>
          <a:xfrm>
            <a:off x="11076127" y="6382512"/>
            <a:ext cx="548640" cy="274320"/>
          </a:xfrm>
          <a:prstGeom prst="rect">
            <a:avLst/>
          </a:prstGeom>
          <a:noFill/>
          <a:ln/>
        </p:spPr>
        <p:txBody>
          <a:bodyPr wrap="square" lIns="0" tIns="0" rIns="0" bIns="0" rtlCol="0" anchor="ctr"/>
          <a:lstStyle/>
          <a:p>
            <a:pPr algn="r" indent="0" marL="0">
              <a:buNone/>
            </a:pPr>
            <a:r>
              <a:rPr lang="en-US" sz="1000" dirty="0">
                <a:solidFill>
                  <a:srgbClr val="64748B"/>
                </a:solidFill>
              </a:rPr>
              <a:t>4</a:t>
            </a:r>
            <a:endParaRPr lang="en-US" sz="1000" dirty="0"/>
          </a:p>
        </p:txBody>
      </p:sp>
      <p:sp>
        <p:nvSpPr>
          <p:cNvPr id="6" name="Text 4"/>
          <p:cNvSpPr/>
          <p:nvPr/>
        </p:nvSpPr>
        <p:spPr>
          <a:xfrm>
            <a:off x="566928" y="6382512"/>
            <a:ext cx="5486400" cy="274320"/>
          </a:xfrm>
          <a:prstGeom prst="rect">
            <a:avLst/>
          </a:prstGeom>
          <a:noFill/>
          <a:ln/>
        </p:spPr>
        <p:txBody>
          <a:bodyPr wrap="square" lIns="0" tIns="0" rIns="0" bIns="0" rtlCol="0" anchor="ctr"/>
          <a:lstStyle/>
          <a:p>
            <a:pPr indent="0" marL="0">
              <a:buNone/>
            </a:pPr>
            <a:r>
              <a:rPr lang="en-US" sz="900" dirty="0">
                <a:solidFill>
                  <a:srgbClr val="94A3B8"/>
                </a:solidFill>
              </a:rPr>
              <a:t>PYTHIA  ·  BCSE307L Team 2  ·  Project A15</a:t>
            </a:r>
            <a:endParaRPr lang="en-US" sz="900" dirty="0"/>
          </a:p>
        </p:txBody>
      </p:sp>
      <p:sp>
        <p:nvSpPr>
          <p:cNvPr id="7" name="Shape 5"/>
          <p:cNvSpPr/>
          <p:nvPr/>
        </p:nvSpPr>
        <p:spPr>
          <a:xfrm>
            <a:off x="566928" y="1024128"/>
            <a:ext cx="3547872" cy="2286000"/>
          </a:xfrm>
          <a:prstGeom prst="roundRect">
            <a:avLst>
              <a:gd name="adj" fmla="val 3200"/>
            </a:avLst>
          </a:prstGeom>
          <a:solidFill>
            <a:srgbClr val="F1F5F9"/>
          </a:solidFill>
          <a:ln w="9525">
            <a:solidFill>
              <a:srgbClr val="E2E8F0"/>
            </a:solidFill>
            <a:prstDash val="solid"/>
          </a:ln>
        </p:spPr>
      </p:sp>
      <p:sp>
        <p:nvSpPr>
          <p:cNvPr id="8" name="Shape 6"/>
          <p:cNvSpPr/>
          <p:nvPr/>
        </p:nvSpPr>
        <p:spPr>
          <a:xfrm>
            <a:off x="768096" y="1225296"/>
            <a:ext cx="384048" cy="384048"/>
          </a:xfrm>
          <a:prstGeom prst="ellipse">
            <a:avLst/>
          </a:prstGeom>
          <a:solidFill>
            <a:srgbClr val="F59E0B"/>
          </a:solidFill>
          <a:ln w="12700">
            <a:solidFill>
              <a:srgbClr val="333333"/>
            </a:solidFill>
            <a:prstDash val="solid"/>
          </a:ln>
        </p:spPr>
      </p:sp>
      <p:sp>
        <p:nvSpPr>
          <p:cNvPr id="9" name="Text 7"/>
          <p:cNvSpPr/>
          <p:nvPr/>
        </p:nvSpPr>
        <p:spPr>
          <a:xfrm>
            <a:off x="768096" y="1225296"/>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rPr>
              <a:t>01</a:t>
            </a:r>
            <a:endParaRPr lang="en-US" sz="1100" dirty="0"/>
          </a:p>
        </p:txBody>
      </p:sp>
      <p:sp>
        <p:nvSpPr>
          <p:cNvPr id="10" name="Text 8"/>
          <p:cNvSpPr/>
          <p:nvPr/>
        </p:nvSpPr>
        <p:spPr>
          <a:xfrm>
            <a:off x="1261872" y="1243584"/>
            <a:ext cx="2651760" cy="347472"/>
          </a:xfrm>
          <a:prstGeom prst="rect">
            <a:avLst/>
          </a:prstGeom>
          <a:noFill/>
          <a:ln/>
        </p:spPr>
        <p:txBody>
          <a:bodyPr wrap="square" lIns="0" tIns="0" rIns="0" bIns="0" rtlCol="0" anchor="ctr"/>
          <a:lstStyle/>
          <a:p>
            <a:pPr indent="0" marL="0">
              <a:buNone/>
            </a:pPr>
            <a:r>
              <a:rPr lang="en-US" sz="1400" b="1" dirty="0">
                <a:solidFill>
                  <a:srgbClr val="0F172A"/>
                </a:solidFill>
              </a:rPr>
              <a:t>Off-side rule</a:t>
            </a:r>
            <a:endParaRPr lang="en-US" sz="1400" dirty="0"/>
          </a:p>
        </p:txBody>
      </p:sp>
      <p:sp>
        <p:nvSpPr>
          <p:cNvPr id="11" name="Text 9"/>
          <p:cNvSpPr/>
          <p:nvPr/>
        </p:nvSpPr>
        <p:spPr>
          <a:xfrm>
            <a:off x="768096" y="1719072"/>
            <a:ext cx="3145536" cy="1463040"/>
          </a:xfrm>
          <a:prstGeom prst="rect">
            <a:avLst/>
          </a:prstGeom>
          <a:noFill/>
          <a:ln/>
        </p:spPr>
        <p:txBody>
          <a:bodyPr wrap="square" lIns="0" tIns="0" rIns="0" bIns="0" rtlCol="0" anchor="t"/>
          <a:lstStyle/>
          <a:p>
            <a:pPr indent="0" marL="0">
              <a:lnSpc>
                <a:spcPts val="1350"/>
              </a:lnSpc>
              <a:buNone/>
            </a:pPr>
            <a:r>
              <a:rPr lang="en-US" sz="1050" dirty="0">
                <a:solidFill>
                  <a:srgbClr val="334155"/>
                </a:solidFill>
              </a:rPr>
              <a:t>Python's block structure lives in whitespace, so the token stream is not context-free until layout is reified. A stack of indentation widths synthesises INDENT / DEDENT; the parser then uses an ordinary block grammar.</a:t>
            </a:r>
            <a:endParaRPr lang="en-US" sz="1050" dirty="0"/>
          </a:p>
        </p:txBody>
      </p:sp>
      <p:sp>
        <p:nvSpPr>
          <p:cNvPr id="12" name="Shape 10"/>
          <p:cNvSpPr/>
          <p:nvPr/>
        </p:nvSpPr>
        <p:spPr>
          <a:xfrm>
            <a:off x="4297680" y="1024128"/>
            <a:ext cx="3547872" cy="2286000"/>
          </a:xfrm>
          <a:prstGeom prst="roundRect">
            <a:avLst>
              <a:gd name="adj" fmla="val 3200"/>
            </a:avLst>
          </a:prstGeom>
          <a:solidFill>
            <a:srgbClr val="F1F5F9"/>
          </a:solidFill>
          <a:ln w="9525">
            <a:solidFill>
              <a:srgbClr val="E2E8F0"/>
            </a:solidFill>
            <a:prstDash val="solid"/>
          </a:ln>
        </p:spPr>
      </p:sp>
      <p:sp>
        <p:nvSpPr>
          <p:cNvPr id="13" name="Shape 11"/>
          <p:cNvSpPr/>
          <p:nvPr/>
        </p:nvSpPr>
        <p:spPr>
          <a:xfrm>
            <a:off x="4498848" y="1225296"/>
            <a:ext cx="384048" cy="384048"/>
          </a:xfrm>
          <a:prstGeom prst="ellipse">
            <a:avLst/>
          </a:prstGeom>
          <a:solidFill>
            <a:srgbClr val="0D9488"/>
          </a:solidFill>
          <a:ln w="12700">
            <a:solidFill>
              <a:srgbClr val="333333"/>
            </a:solidFill>
            <a:prstDash val="solid"/>
          </a:ln>
        </p:spPr>
      </p:sp>
      <p:sp>
        <p:nvSpPr>
          <p:cNvPr id="14" name="Text 12"/>
          <p:cNvSpPr/>
          <p:nvPr/>
        </p:nvSpPr>
        <p:spPr>
          <a:xfrm>
            <a:off x="4498848" y="1225296"/>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rPr>
              <a:t>02</a:t>
            </a:r>
            <a:endParaRPr lang="en-US" sz="1100" dirty="0"/>
          </a:p>
        </p:txBody>
      </p:sp>
      <p:sp>
        <p:nvSpPr>
          <p:cNvPr id="15" name="Text 13"/>
          <p:cNvSpPr/>
          <p:nvPr/>
        </p:nvSpPr>
        <p:spPr>
          <a:xfrm>
            <a:off x="4992624" y="1243584"/>
            <a:ext cx="2651760" cy="347472"/>
          </a:xfrm>
          <a:prstGeom prst="rect">
            <a:avLst/>
          </a:prstGeom>
          <a:noFill/>
          <a:ln/>
        </p:spPr>
        <p:txBody>
          <a:bodyPr wrap="square" lIns="0" tIns="0" rIns="0" bIns="0" rtlCol="0" anchor="ctr"/>
          <a:lstStyle/>
          <a:p>
            <a:pPr indent="0" marL="0">
              <a:buNone/>
            </a:pPr>
            <a:r>
              <a:rPr lang="en-US" sz="1400" b="1" dirty="0">
                <a:solidFill>
                  <a:srgbClr val="0F172A"/>
                </a:solidFill>
              </a:rPr>
              <a:t>Recursive descent</a:t>
            </a:r>
            <a:endParaRPr lang="en-US" sz="1400" dirty="0"/>
          </a:p>
        </p:txBody>
      </p:sp>
      <p:sp>
        <p:nvSpPr>
          <p:cNvPr id="16" name="Text 14"/>
          <p:cNvSpPr/>
          <p:nvPr/>
        </p:nvSpPr>
        <p:spPr>
          <a:xfrm>
            <a:off x="4498848" y="1719072"/>
            <a:ext cx="3145536" cy="1463040"/>
          </a:xfrm>
          <a:prstGeom prst="rect">
            <a:avLst/>
          </a:prstGeom>
          <a:noFill/>
          <a:ln/>
        </p:spPr>
        <p:txBody>
          <a:bodyPr wrap="square" lIns="0" tIns="0" rIns="0" bIns="0" rtlCol="0" anchor="t"/>
          <a:lstStyle/>
          <a:p>
            <a:pPr indent="0" marL="0">
              <a:lnSpc>
                <a:spcPts val="1350"/>
              </a:lnSpc>
              <a:buNone/>
            </a:pPr>
            <a:r>
              <a:rPr lang="en-US" sz="1050" dirty="0">
                <a:solidFill>
                  <a:srgbClr val="334155"/>
                </a:solidFill>
              </a:rPr>
              <a:t>One mutually recursive procedure per non-terminal. Chosen for recoverability: panic-mode synchronisation at NEWLINE and statement keywords lets one run report several syntax errors.</a:t>
            </a:r>
            <a:endParaRPr lang="en-US" sz="1050" dirty="0"/>
          </a:p>
        </p:txBody>
      </p:sp>
      <p:sp>
        <p:nvSpPr>
          <p:cNvPr id="17" name="Shape 15"/>
          <p:cNvSpPr/>
          <p:nvPr/>
        </p:nvSpPr>
        <p:spPr>
          <a:xfrm>
            <a:off x="8028432" y="1024128"/>
            <a:ext cx="3547872" cy="2286000"/>
          </a:xfrm>
          <a:prstGeom prst="roundRect">
            <a:avLst>
              <a:gd name="adj" fmla="val 3200"/>
            </a:avLst>
          </a:prstGeom>
          <a:solidFill>
            <a:srgbClr val="F1F5F9"/>
          </a:solidFill>
          <a:ln w="9525">
            <a:solidFill>
              <a:srgbClr val="E2E8F0"/>
            </a:solidFill>
            <a:prstDash val="solid"/>
          </a:ln>
        </p:spPr>
      </p:sp>
      <p:sp>
        <p:nvSpPr>
          <p:cNvPr id="18" name="Shape 16"/>
          <p:cNvSpPr/>
          <p:nvPr/>
        </p:nvSpPr>
        <p:spPr>
          <a:xfrm>
            <a:off x="8229600" y="1225296"/>
            <a:ext cx="384048" cy="384048"/>
          </a:xfrm>
          <a:prstGeom prst="ellipse">
            <a:avLst/>
          </a:prstGeom>
          <a:solidFill>
            <a:srgbClr val="F97316"/>
          </a:solidFill>
          <a:ln w="12700">
            <a:solidFill>
              <a:srgbClr val="333333"/>
            </a:solidFill>
            <a:prstDash val="solid"/>
          </a:ln>
        </p:spPr>
      </p:sp>
      <p:sp>
        <p:nvSpPr>
          <p:cNvPr id="19" name="Text 17"/>
          <p:cNvSpPr/>
          <p:nvPr/>
        </p:nvSpPr>
        <p:spPr>
          <a:xfrm>
            <a:off x="8229600" y="1225296"/>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rPr>
              <a:t>03</a:t>
            </a:r>
            <a:endParaRPr lang="en-US" sz="1100" dirty="0"/>
          </a:p>
        </p:txBody>
      </p:sp>
      <p:sp>
        <p:nvSpPr>
          <p:cNvPr id="20" name="Text 18"/>
          <p:cNvSpPr/>
          <p:nvPr/>
        </p:nvSpPr>
        <p:spPr>
          <a:xfrm>
            <a:off x="8723376" y="1243584"/>
            <a:ext cx="2651760" cy="347472"/>
          </a:xfrm>
          <a:prstGeom prst="rect">
            <a:avLst/>
          </a:prstGeom>
          <a:noFill/>
          <a:ln/>
        </p:spPr>
        <p:txBody>
          <a:bodyPr wrap="square" lIns="0" tIns="0" rIns="0" bIns="0" rtlCol="0" anchor="ctr"/>
          <a:lstStyle/>
          <a:p>
            <a:pPr indent="0" marL="0">
              <a:buNone/>
            </a:pPr>
            <a:r>
              <a:rPr lang="en-US" sz="1400" b="1" dirty="0">
                <a:solidFill>
                  <a:srgbClr val="0F172A"/>
                </a:solidFill>
              </a:rPr>
              <a:t>Pratt parsing</a:t>
            </a:r>
            <a:endParaRPr lang="en-US" sz="1400" dirty="0"/>
          </a:p>
        </p:txBody>
      </p:sp>
      <p:sp>
        <p:nvSpPr>
          <p:cNvPr id="21" name="Text 19"/>
          <p:cNvSpPr/>
          <p:nvPr/>
        </p:nvSpPr>
        <p:spPr>
          <a:xfrm>
            <a:off x="8229600" y="1719072"/>
            <a:ext cx="3145536" cy="1463040"/>
          </a:xfrm>
          <a:prstGeom prst="rect">
            <a:avLst/>
          </a:prstGeom>
          <a:noFill/>
          <a:ln/>
        </p:spPr>
        <p:txBody>
          <a:bodyPr wrap="square" lIns="0" tIns="0" rIns="0" bIns="0" rtlCol="0" anchor="t"/>
          <a:lstStyle/>
          <a:p>
            <a:pPr indent="0" marL="0">
              <a:lnSpc>
                <a:spcPts val="1350"/>
              </a:lnSpc>
              <a:buNone/>
            </a:pPr>
            <a:r>
              <a:rPr lang="en-US" sz="1050" dirty="0">
                <a:solidFill>
                  <a:srgbClr val="334155"/>
                </a:solidFill>
              </a:rPr>
              <a:t>Top-down operator precedence (Pratt, 1973) with a binding-power table handles eight precedence levels and the right-associativity of ** without an eight-rule cascade.</a:t>
            </a:r>
            <a:endParaRPr lang="en-US" sz="1050" dirty="0"/>
          </a:p>
        </p:txBody>
      </p:sp>
      <p:sp>
        <p:nvSpPr>
          <p:cNvPr id="22" name="Shape 20"/>
          <p:cNvSpPr/>
          <p:nvPr/>
        </p:nvSpPr>
        <p:spPr>
          <a:xfrm>
            <a:off x="566928" y="3511296"/>
            <a:ext cx="3547872" cy="2286000"/>
          </a:xfrm>
          <a:prstGeom prst="roundRect">
            <a:avLst>
              <a:gd name="adj" fmla="val 3200"/>
            </a:avLst>
          </a:prstGeom>
          <a:solidFill>
            <a:srgbClr val="F1F5F9"/>
          </a:solidFill>
          <a:ln w="9525">
            <a:solidFill>
              <a:srgbClr val="E2E8F0"/>
            </a:solidFill>
            <a:prstDash val="solid"/>
          </a:ln>
        </p:spPr>
      </p:sp>
      <p:sp>
        <p:nvSpPr>
          <p:cNvPr id="23" name="Shape 21"/>
          <p:cNvSpPr/>
          <p:nvPr/>
        </p:nvSpPr>
        <p:spPr>
          <a:xfrm>
            <a:off x="768096" y="3712464"/>
            <a:ext cx="384048" cy="384048"/>
          </a:xfrm>
          <a:prstGeom prst="ellipse">
            <a:avLst/>
          </a:prstGeom>
          <a:solidFill>
            <a:srgbClr val="8B5CF6"/>
          </a:solidFill>
          <a:ln w="12700">
            <a:solidFill>
              <a:srgbClr val="333333"/>
            </a:solidFill>
            <a:prstDash val="solid"/>
          </a:ln>
        </p:spPr>
      </p:sp>
      <p:sp>
        <p:nvSpPr>
          <p:cNvPr id="24" name="Text 22"/>
          <p:cNvSpPr/>
          <p:nvPr/>
        </p:nvSpPr>
        <p:spPr>
          <a:xfrm>
            <a:off x="768096" y="3712464"/>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rPr>
              <a:t>04</a:t>
            </a:r>
            <a:endParaRPr lang="en-US" sz="1100" dirty="0"/>
          </a:p>
        </p:txBody>
      </p:sp>
      <p:sp>
        <p:nvSpPr>
          <p:cNvPr id="25" name="Text 23"/>
          <p:cNvSpPr/>
          <p:nvPr/>
        </p:nvSpPr>
        <p:spPr>
          <a:xfrm>
            <a:off x="1261872" y="3730752"/>
            <a:ext cx="2651760" cy="347472"/>
          </a:xfrm>
          <a:prstGeom prst="rect">
            <a:avLst/>
          </a:prstGeom>
          <a:noFill/>
          <a:ln/>
        </p:spPr>
        <p:txBody>
          <a:bodyPr wrap="square" lIns="0" tIns="0" rIns="0" bIns="0" rtlCol="0" anchor="ctr"/>
          <a:lstStyle/>
          <a:p>
            <a:pPr indent="0" marL="0">
              <a:buNone/>
            </a:pPr>
            <a:r>
              <a:rPr lang="en-US" sz="1400" b="1" dirty="0">
                <a:solidFill>
                  <a:srgbClr val="0F172A"/>
                </a:solidFill>
              </a:rPr>
              <a:t>Bidirectional typing</a:t>
            </a:r>
            <a:endParaRPr lang="en-US" sz="1400" dirty="0"/>
          </a:p>
        </p:txBody>
      </p:sp>
      <p:sp>
        <p:nvSpPr>
          <p:cNvPr id="26" name="Text 24"/>
          <p:cNvSpPr/>
          <p:nvPr/>
        </p:nvSpPr>
        <p:spPr>
          <a:xfrm>
            <a:off x="768096" y="4206240"/>
            <a:ext cx="3145536" cy="1463040"/>
          </a:xfrm>
          <a:prstGeom prst="rect">
            <a:avLst/>
          </a:prstGeom>
          <a:noFill/>
          <a:ln/>
        </p:spPr>
        <p:txBody>
          <a:bodyPr wrap="square" lIns="0" tIns="0" rIns="0" bIns="0" rtlCol="0" anchor="t"/>
          <a:lstStyle/>
          <a:p>
            <a:pPr indent="0" marL="0">
              <a:lnSpc>
                <a:spcPts val="1350"/>
              </a:lnSpc>
              <a:buNone/>
            </a:pPr>
            <a:r>
              <a:rPr lang="en-US" sz="1050" dirty="0">
                <a:solidFill>
                  <a:srgbClr val="334155"/>
                </a:solidFill>
              </a:rPr>
              <a:t>Expressions synthesise bottom-up; where an expected type exists — annotation, return, argument, append — it is pushed inward and checked. Pierce &amp; Turner's local type inference.</a:t>
            </a:r>
            <a:endParaRPr lang="en-US" sz="1050" dirty="0"/>
          </a:p>
        </p:txBody>
      </p:sp>
      <p:sp>
        <p:nvSpPr>
          <p:cNvPr id="27" name="Shape 25"/>
          <p:cNvSpPr/>
          <p:nvPr/>
        </p:nvSpPr>
        <p:spPr>
          <a:xfrm>
            <a:off x="4297680" y="3511296"/>
            <a:ext cx="3547872" cy="2286000"/>
          </a:xfrm>
          <a:prstGeom prst="roundRect">
            <a:avLst>
              <a:gd name="adj" fmla="val 3200"/>
            </a:avLst>
          </a:prstGeom>
          <a:solidFill>
            <a:srgbClr val="F1F5F9"/>
          </a:solidFill>
          <a:ln w="9525">
            <a:solidFill>
              <a:srgbClr val="E2E8F0"/>
            </a:solidFill>
            <a:prstDash val="solid"/>
          </a:ln>
        </p:spPr>
      </p:sp>
      <p:sp>
        <p:nvSpPr>
          <p:cNvPr id="28" name="Shape 26"/>
          <p:cNvSpPr/>
          <p:nvPr/>
        </p:nvSpPr>
        <p:spPr>
          <a:xfrm>
            <a:off x="4498848" y="3712464"/>
            <a:ext cx="384048" cy="384048"/>
          </a:xfrm>
          <a:prstGeom prst="ellipse">
            <a:avLst/>
          </a:prstGeom>
          <a:solidFill>
            <a:srgbClr val="0EA5E9"/>
          </a:solidFill>
          <a:ln w="12700">
            <a:solidFill>
              <a:srgbClr val="333333"/>
            </a:solidFill>
            <a:prstDash val="solid"/>
          </a:ln>
        </p:spPr>
      </p:sp>
      <p:sp>
        <p:nvSpPr>
          <p:cNvPr id="29" name="Text 27"/>
          <p:cNvSpPr/>
          <p:nvPr/>
        </p:nvSpPr>
        <p:spPr>
          <a:xfrm>
            <a:off x="4498848" y="3712464"/>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rPr>
              <a:t>05</a:t>
            </a:r>
            <a:endParaRPr lang="en-US" sz="1100" dirty="0"/>
          </a:p>
        </p:txBody>
      </p:sp>
      <p:sp>
        <p:nvSpPr>
          <p:cNvPr id="30" name="Text 28"/>
          <p:cNvSpPr/>
          <p:nvPr/>
        </p:nvSpPr>
        <p:spPr>
          <a:xfrm>
            <a:off x="4992624" y="3730752"/>
            <a:ext cx="2651760" cy="347472"/>
          </a:xfrm>
          <a:prstGeom prst="rect">
            <a:avLst/>
          </a:prstGeom>
          <a:noFill/>
          <a:ln/>
        </p:spPr>
        <p:txBody>
          <a:bodyPr wrap="square" lIns="0" tIns="0" rIns="0" bIns="0" rtlCol="0" anchor="ctr"/>
          <a:lstStyle/>
          <a:p>
            <a:pPr indent="0" marL="0">
              <a:buNone/>
            </a:pPr>
            <a:r>
              <a:rPr lang="en-US" sz="1400" b="1" dirty="0">
                <a:solidFill>
                  <a:srgbClr val="0F172A"/>
                </a:solidFill>
              </a:rPr>
              <a:t>IR + translation</a:t>
            </a:r>
            <a:endParaRPr lang="en-US" sz="1400" dirty="0"/>
          </a:p>
        </p:txBody>
      </p:sp>
      <p:sp>
        <p:nvSpPr>
          <p:cNvPr id="31" name="Text 29"/>
          <p:cNvSpPr/>
          <p:nvPr/>
        </p:nvSpPr>
        <p:spPr>
          <a:xfrm>
            <a:off x="4498848" y="4206240"/>
            <a:ext cx="3145536" cy="1463040"/>
          </a:xfrm>
          <a:prstGeom prst="rect">
            <a:avLst/>
          </a:prstGeom>
          <a:noFill/>
          <a:ln/>
        </p:spPr>
        <p:txBody>
          <a:bodyPr wrap="square" lIns="0" tIns="0" rIns="0" bIns="0" rtlCol="0" anchor="t"/>
          <a:lstStyle/>
          <a:p>
            <a:pPr indent="0" marL="0">
              <a:lnSpc>
                <a:spcPts val="1350"/>
              </a:lnSpc>
              <a:buNone/>
            </a:pPr>
            <a:r>
              <a:rPr lang="en-US" sz="1050" dirty="0">
                <a:solidFill>
                  <a:srgbClr val="334155"/>
                </a:solidFill>
              </a:rPr>
              <a:t>The typed AST is normalised into PIR by making every implicit coercion explicit. After that the emitter never infers anything, which is what keeps the back end small.</a:t>
            </a:r>
            <a:endParaRPr lang="en-US" sz="1050" dirty="0"/>
          </a:p>
        </p:txBody>
      </p:sp>
      <p:sp>
        <p:nvSpPr>
          <p:cNvPr id="32" name="Shape 30"/>
          <p:cNvSpPr/>
          <p:nvPr/>
        </p:nvSpPr>
        <p:spPr>
          <a:xfrm>
            <a:off x="8028432" y="3511296"/>
            <a:ext cx="3547872" cy="2286000"/>
          </a:xfrm>
          <a:prstGeom prst="roundRect">
            <a:avLst>
              <a:gd name="adj" fmla="val 3200"/>
            </a:avLst>
          </a:prstGeom>
          <a:solidFill>
            <a:srgbClr val="F1F5F9"/>
          </a:solidFill>
          <a:ln w="9525">
            <a:solidFill>
              <a:srgbClr val="E2E8F0"/>
            </a:solidFill>
            <a:prstDash val="solid"/>
          </a:ln>
        </p:spPr>
      </p:sp>
      <p:sp>
        <p:nvSpPr>
          <p:cNvPr id="33" name="Shape 31"/>
          <p:cNvSpPr/>
          <p:nvPr/>
        </p:nvSpPr>
        <p:spPr>
          <a:xfrm>
            <a:off x="8229600" y="3712464"/>
            <a:ext cx="384048" cy="384048"/>
          </a:xfrm>
          <a:prstGeom prst="ellipse">
            <a:avLst/>
          </a:prstGeom>
          <a:solidFill>
            <a:srgbClr val="BE123C"/>
          </a:solidFill>
          <a:ln w="12700">
            <a:solidFill>
              <a:srgbClr val="333333"/>
            </a:solidFill>
            <a:prstDash val="solid"/>
          </a:ln>
        </p:spPr>
      </p:sp>
      <p:sp>
        <p:nvSpPr>
          <p:cNvPr id="34" name="Text 32"/>
          <p:cNvSpPr/>
          <p:nvPr/>
        </p:nvSpPr>
        <p:spPr>
          <a:xfrm>
            <a:off x="8229600" y="3712464"/>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rPr>
              <a:t>06</a:t>
            </a:r>
            <a:endParaRPr lang="en-US" sz="1100" dirty="0"/>
          </a:p>
        </p:txBody>
      </p:sp>
      <p:sp>
        <p:nvSpPr>
          <p:cNvPr id="35" name="Text 33"/>
          <p:cNvSpPr/>
          <p:nvPr/>
        </p:nvSpPr>
        <p:spPr>
          <a:xfrm>
            <a:off x="8723376" y="3730752"/>
            <a:ext cx="2651760" cy="347472"/>
          </a:xfrm>
          <a:prstGeom prst="rect">
            <a:avLst/>
          </a:prstGeom>
          <a:noFill/>
          <a:ln/>
        </p:spPr>
        <p:txBody>
          <a:bodyPr wrap="square" lIns="0" tIns="0" rIns="0" bIns="0" rtlCol="0" anchor="ctr"/>
          <a:lstStyle/>
          <a:p>
            <a:pPr indent="0" marL="0">
              <a:buNone/>
            </a:pPr>
            <a:r>
              <a:rPr lang="en-US" sz="1400" b="1" dirty="0">
                <a:solidFill>
                  <a:srgbClr val="0F172A"/>
                </a:solidFill>
              </a:rPr>
              <a:t>Differential testing</a:t>
            </a:r>
            <a:endParaRPr lang="en-US" sz="1400" dirty="0"/>
          </a:p>
        </p:txBody>
      </p:sp>
      <p:sp>
        <p:nvSpPr>
          <p:cNvPr id="36" name="Text 34"/>
          <p:cNvSpPr/>
          <p:nvPr/>
        </p:nvSpPr>
        <p:spPr>
          <a:xfrm>
            <a:off x="8229600" y="4206240"/>
            <a:ext cx="3145536" cy="1463040"/>
          </a:xfrm>
          <a:prstGeom prst="rect">
            <a:avLst/>
          </a:prstGeom>
          <a:noFill/>
          <a:ln/>
        </p:spPr>
        <p:txBody>
          <a:bodyPr wrap="square" lIns="0" tIns="0" rIns="0" bIns="0" rtlCol="0" anchor="t"/>
          <a:lstStyle/>
          <a:p>
            <a:pPr indent="0" marL="0">
              <a:lnSpc>
                <a:spcPts val="1350"/>
              </a:lnSpc>
              <a:buNone/>
            </a:pPr>
            <a:r>
              <a:rPr lang="en-US" sz="1050" dirty="0">
                <a:solidFill>
                  <a:srgbClr val="334155"/>
                </a:solidFill>
              </a:rPr>
              <a:t>Rather than prove equivalence, falsify it: run both implementations, compare. McKeeman's method, applied to a translator instead of a compiler — the approach behind Csmith.</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8040319" cy="566928"/>
          </a:xfrm>
          <a:prstGeom prst="rect">
            <a:avLst/>
          </a:prstGeom>
          <a:noFill/>
          <a:ln/>
        </p:spPr>
        <p:txBody>
          <a:bodyPr wrap="square" lIns="0" tIns="0" rIns="0" bIns="0" rtlCol="0" anchor="ctr"/>
          <a:lstStyle/>
          <a:p>
            <a:pPr indent="0" marL="0">
              <a:buNone/>
            </a:pPr>
            <a:r>
              <a:rPr lang="en-US" sz="2400" b="1" dirty="0">
                <a:solidFill>
                  <a:srgbClr val="0F172A"/>
                </a:solidFill>
              </a:rPr>
              <a:t>Existing approaches, comparison and the gap</a:t>
            </a:r>
            <a:endParaRPr lang="en-US" sz="2400" dirty="0"/>
          </a:p>
        </p:txBody>
      </p:sp>
      <p:sp>
        <p:nvSpPr>
          <p:cNvPr id="3" name="Shape 1"/>
          <p:cNvSpPr/>
          <p:nvPr/>
        </p:nvSpPr>
        <p:spPr>
          <a:xfrm>
            <a:off x="8835847" y="310896"/>
            <a:ext cx="2788920" cy="310896"/>
          </a:xfrm>
          <a:prstGeom prst="roundRect">
            <a:avLst>
              <a:gd name="adj" fmla="val 50000"/>
            </a:avLst>
          </a:prstGeom>
          <a:solidFill>
            <a:srgbClr val="F1F5F9"/>
          </a:solidFill>
          <a:ln w="9525">
            <a:solidFill>
              <a:srgbClr val="E2E8F0"/>
            </a:solidFill>
            <a:prstDash val="solid"/>
          </a:ln>
        </p:spPr>
      </p:sp>
      <p:sp>
        <p:nvSpPr>
          <p:cNvPr id="4" name="Text 2"/>
          <p:cNvSpPr/>
          <p:nvPr/>
        </p:nvSpPr>
        <p:spPr>
          <a:xfrm>
            <a:off x="8835847" y="310896"/>
            <a:ext cx="2788920" cy="310896"/>
          </a:xfrm>
          <a:prstGeom prst="rect">
            <a:avLst/>
          </a:prstGeom>
          <a:noFill/>
          <a:ln/>
        </p:spPr>
        <p:txBody>
          <a:bodyPr wrap="square" lIns="0" tIns="0" rIns="0" bIns="0" rtlCol="0" anchor="ctr"/>
          <a:lstStyle/>
          <a:p>
            <a:pPr algn="ctr" indent="0" marL="0">
              <a:buNone/>
            </a:pPr>
            <a:r>
              <a:rPr lang="en-US" sz="900" b="1" spc="80" kern="0" dirty="0">
                <a:solidFill>
                  <a:srgbClr val="334155"/>
                </a:solidFill>
              </a:rPr>
              <a:t>MEMBER 2 · RUJUTA</a:t>
            </a:r>
            <a:endParaRPr lang="en-US" sz="900" dirty="0"/>
          </a:p>
        </p:txBody>
      </p:sp>
      <p:sp>
        <p:nvSpPr>
          <p:cNvPr id="5" name="Text 3"/>
          <p:cNvSpPr/>
          <p:nvPr/>
        </p:nvSpPr>
        <p:spPr>
          <a:xfrm>
            <a:off x="11076127" y="6382512"/>
            <a:ext cx="548640" cy="274320"/>
          </a:xfrm>
          <a:prstGeom prst="rect">
            <a:avLst/>
          </a:prstGeom>
          <a:noFill/>
          <a:ln/>
        </p:spPr>
        <p:txBody>
          <a:bodyPr wrap="square" lIns="0" tIns="0" rIns="0" bIns="0" rtlCol="0" anchor="ctr"/>
          <a:lstStyle/>
          <a:p>
            <a:pPr algn="r" indent="0" marL="0">
              <a:buNone/>
            </a:pPr>
            <a:r>
              <a:rPr lang="en-US" sz="1000" dirty="0">
                <a:solidFill>
                  <a:srgbClr val="64748B"/>
                </a:solidFill>
              </a:rPr>
              <a:t>5</a:t>
            </a:r>
            <a:endParaRPr lang="en-US" sz="1000" dirty="0"/>
          </a:p>
        </p:txBody>
      </p:sp>
      <p:sp>
        <p:nvSpPr>
          <p:cNvPr id="6" name="Text 4"/>
          <p:cNvSpPr/>
          <p:nvPr/>
        </p:nvSpPr>
        <p:spPr>
          <a:xfrm>
            <a:off x="566928" y="6382512"/>
            <a:ext cx="5486400" cy="274320"/>
          </a:xfrm>
          <a:prstGeom prst="rect">
            <a:avLst/>
          </a:prstGeom>
          <a:noFill/>
          <a:ln/>
        </p:spPr>
        <p:txBody>
          <a:bodyPr wrap="square" lIns="0" tIns="0" rIns="0" bIns="0" rtlCol="0" anchor="ctr"/>
          <a:lstStyle/>
          <a:p>
            <a:pPr indent="0" marL="0">
              <a:buNone/>
            </a:pPr>
            <a:r>
              <a:rPr lang="en-US" sz="900" dirty="0">
                <a:solidFill>
                  <a:srgbClr val="94A3B8"/>
                </a:solidFill>
              </a:rPr>
              <a:t>PYTHIA  ·  BCSE307L Team 2  ·  Project A15</a:t>
            </a:r>
            <a:endParaRPr lang="en-US" sz="9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66928" y="969264"/>
          <a:ext cx="11055096" cy="914400"/>
        </p:xfrm>
        <a:graphic>
          <a:graphicData uri="http://schemas.openxmlformats.org/drawingml/2006/table">
            <a:tbl>
              <a:tblPr/>
              <a:tblGrid>
                <a:gridCol w="1417320"/>
                <a:gridCol w="3063240"/>
                <a:gridCol w="1600200"/>
                <a:gridCol w="1737360"/>
                <a:gridCol w="1325880"/>
                <a:gridCol w="1911096"/>
              </a:tblGrid>
              <a:tr h="260604">
                <a:tc>
                  <a:txBody>
                    <a:bodyPr/>
                    <a:lstStyle/>
                    <a:p>
                      <a:pPr indent="0" marL="0">
                        <a:buNone/>
                      </a:pPr>
                      <a:r>
                        <a:rPr lang="en-US" sz="950" b="1" dirty="0">
                          <a:solidFill>
                            <a:srgbClr val="1E293B"/>
                          </a:solidFill>
                          <a:latin typeface="Calibri" pitchFamily="34" charset="0"/>
                          <a:ea typeface="Calibri" pitchFamily="34" charset="-122"/>
                          <a:cs typeface="Calibri" pitchFamily="34" charset="-120"/>
                        </a:rPr>
                        <a:t>System</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950" b="1" dirty="0">
                          <a:solidFill>
                            <a:srgbClr val="1E293B"/>
                          </a:solidFill>
                          <a:latin typeface="Calibri" pitchFamily="34" charset="0"/>
                          <a:ea typeface="Calibri" pitchFamily="34" charset="-122"/>
                          <a:cs typeface="Calibri" pitchFamily="34" charset="-120"/>
                        </a:rPr>
                        <a:t>Approach</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950" b="1" dirty="0">
                          <a:solidFill>
                            <a:srgbClr val="1E293B"/>
                          </a:solidFill>
                          <a:latin typeface="Calibri" pitchFamily="34" charset="0"/>
                          <a:ea typeface="Calibri" pitchFamily="34" charset="-122"/>
                          <a:cs typeface="Calibri" pitchFamily="34" charset="-120"/>
                        </a:rPr>
                        <a:t>Type checking</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950" b="1" dirty="0">
                          <a:solidFill>
                            <a:srgbClr val="1E293B"/>
                          </a:solidFill>
                          <a:latin typeface="Calibri" pitchFamily="34" charset="0"/>
                          <a:ea typeface="Calibri" pitchFamily="34" charset="-122"/>
                          <a:cs typeface="Calibri" pitchFamily="34" charset="-120"/>
                        </a:rPr>
                        <a:t>Output artefact</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950" b="1" dirty="0">
                          <a:solidFill>
                            <a:srgbClr val="1E293B"/>
                          </a:solidFill>
                          <a:latin typeface="Calibri" pitchFamily="34" charset="0"/>
                          <a:ea typeface="Calibri" pitchFamily="34" charset="-122"/>
                          <a:cs typeface="Calibri" pitchFamily="34" charset="-120"/>
                        </a:rPr>
                        <a:t>Interpreter-free</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950" b="1" dirty="0">
                          <a:solidFill>
                            <a:srgbClr val="1E293B"/>
                          </a:solidFill>
                          <a:latin typeface="Calibri" pitchFamily="34" charset="0"/>
                          <a:ea typeface="Calibri" pitchFamily="34" charset="-122"/>
                          <a:cs typeface="Calibri" pitchFamily="34" charset="-120"/>
                        </a:rPr>
                        <a:t>Reports divergence</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1F5F9"/>
                    </a:solidFill>
                  </a:tcPr>
                </a:tc>
              </a:tr>
              <a:tr h="260604">
                <a:tc>
                  <a:txBody>
                    <a:bodyPr/>
                    <a:lstStyle/>
                    <a:p>
                      <a:pPr indent="0" marL="0">
                        <a:buNone/>
                      </a:pPr>
                      <a:r>
                        <a:rPr lang="en-US" sz="950" b="1" dirty="0">
                          <a:solidFill>
                            <a:srgbClr val="0F172A"/>
                          </a:solidFill>
                          <a:latin typeface="Calibri" pitchFamily="34" charset="0"/>
                          <a:ea typeface="Calibri" pitchFamily="34" charset="-122"/>
                          <a:cs typeface="Calibri" pitchFamily="34" charset="-120"/>
                        </a:rPr>
                        <a:t>mypy</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Type checker only, no codegen</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None</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n/a</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n/a</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r>
              <a:tr h="260604">
                <a:tc>
                  <a:txBody>
                    <a:bodyPr/>
                    <a:lstStyle/>
                    <a:p>
                      <a:pPr indent="0" marL="0">
                        <a:buNone/>
                      </a:pPr>
                      <a:r>
                        <a:rPr lang="en-US" sz="950" b="1" dirty="0">
                          <a:solidFill>
                            <a:srgbClr val="0F172A"/>
                          </a:solidFill>
                          <a:latin typeface="Calibri" pitchFamily="34" charset="0"/>
                          <a:ea typeface="Calibri" pitchFamily="34" charset="-122"/>
                          <a:cs typeface="Calibri" pitchFamily="34" charset="-120"/>
                        </a:rPr>
                        <a:t>mypyc</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Typed Python → C extension</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Yes (via mypy)</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C extension</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r>
              <a:tr h="260604">
                <a:tc>
                  <a:txBody>
                    <a:bodyPr/>
                    <a:lstStyle/>
                    <a:p>
                      <a:pPr indent="0" marL="0">
                        <a:buNone/>
                      </a:pPr>
                      <a:r>
                        <a:rPr lang="en-US" sz="950" b="1" dirty="0">
                          <a:solidFill>
                            <a:srgbClr val="0F172A"/>
                          </a:solidFill>
                          <a:latin typeface="Calibri" pitchFamily="34" charset="0"/>
                          <a:ea typeface="Calibri" pitchFamily="34" charset="-122"/>
                          <a:cs typeface="Calibri" pitchFamily="34" charset="-120"/>
                        </a:rPr>
                        <a:t>Cython</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Annotated Python → C via CPython API</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Partial (cdef)</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C extension</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r>
              <a:tr h="260604">
                <a:tc>
                  <a:txBody>
                    <a:bodyPr/>
                    <a:lstStyle/>
                    <a:p>
                      <a:pPr indent="0" marL="0">
                        <a:buNone/>
                      </a:pPr>
                      <a:r>
                        <a:rPr lang="en-US" sz="950" b="1" dirty="0">
                          <a:solidFill>
                            <a:srgbClr val="0F172A"/>
                          </a:solidFill>
                          <a:latin typeface="Calibri" pitchFamily="34" charset="0"/>
                          <a:ea typeface="Calibri" pitchFamily="34" charset="-122"/>
                          <a:cs typeface="Calibri" pitchFamily="34" charset="-120"/>
                        </a:rPr>
                        <a:t>Nuitka</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Whole-program Python → C++</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Binary + runtime</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r>
              <a:tr h="260604">
                <a:tc>
                  <a:txBody>
                    <a:bodyPr/>
                    <a:lstStyle/>
                    <a:p>
                      <a:pPr indent="0" marL="0">
                        <a:buNone/>
                      </a:pPr>
                      <a:r>
                        <a:rPr lang="en-US" sz="950" b="1" dirty="0">
                          <a:solidFill>
                            <a:srgbClr val="0F172A"/>
                          </a:solidFill>
                          <a:latin typeface="Calibri" pitchFamily="34" charset="0"/>
                          <a:ea typeface="Calibri" pitchFamily="34" charset="-122"/>
                          <a:cs typeface="Calibri" pitchFamily="34" charset="-120"/>
                        </a:rPr>
                        <a:t>Codon</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Python-like language → LLVM IR</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Yes (inference)</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Native binary</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No — silently redefines int</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r>
              <a:tr h="260604">
                <a:tc>
                  <a:txBody>
                    <a:bodyPr/>
                    <a:lstStyle/>
                    <a:p>
                      <a:pPr indent="0" marL="0">
                        <a:buNone/>
                      </a:pPr>
                      <a:r>
                        <a:rPr lang="en-US" sz="950" b="1" dirty="0">
                          <a:solidFill>
                            <a:srgbClr val="0F172A"/>
                          </a:solidFill>
                          <a:latin typeface="Calibri" pitchFamily="34" charset="0"/>
                          <a:ea typeface="Calibri" pitchFamily="34" charset="-122"/>
                          <a:cs typeface="Calibri" pitchFamily="34" charset="-120"/>
                        </a:rPr>
                        <a:t>Shed Skin</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Implicitly typed Python → C++</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Inference only</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C++ / binary</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r>
              <a:tr h="260604">
                <a:tc>
                  <a:txBody>
                    <a:bodyPr/>
                    <a:lstStyle/>
                    <a:p>
                      <a:pPr indent="0" marL="0">
                        <a:buNone/>
                      </a:pPr>
                      <a:r>
                        <a:rPr lang="en-US" sz="950" b="1" dirty="0">
                          <a:solidFill>
                            <a:srgbClr val="0F172A"/>
                          </a:solidFill>
                          <a:latin typeface="Calibri" pitchFamily="34" charset="0"/>
                          <a:ea typeface="Calibri" pitchFamily="34" charset="-122"/>
                          <a:cs typeface="Calibri" pitchFamily="34" charset="-120"/>
                        </a:rPr>
                        <a:t>Transcrypt</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Python → JavaScript</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JavaScript</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n/a</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r>
              <a:tr h="260604">
                <a:tc>
                  <a:txBody>
                    <a:bodyPr/>
                    <a:lstStyle/>
                    <a:p>
                      <a:pPr indent="0" marL="0">
                        <a:buNone/>
                      </a:pPr>
                      <a:r>
                        <a:rPr lang="en-US" sz="950" b="1" dirty="0">
                          <a:solidFill>
                            <a:srgbClr val="0F172A"/>
                          </a:solidFill>
                          <a:latin typeface="Calibri" pitchFamily="34" charset="0"/>
                          <a:ea typeface="Calibri" pitchFamily="34" charset="-122"/>
                          <a:cs typeface="Calibri" pitchFamily="34" charset="-120"/>
                        </a:rPr>
                        <a:t>py2many</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Python → C++/Rust/Go/Julia</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Shallow</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Source</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Varies</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r>
              <a:tr h="260604">
                <a:tc>
                  <a:txBody>
                    <a:bodyPr/>
                    <a:lstStyle/>
                    <a:p>
                      <a:pPr indent="0" marL="0">
                        <a:buNone/>
                      </a:pPr>
                      <a:r>
                        <a:rPr lang="en-US" sz="950" b="1" dirty="0">
                          <a:solidFill>
                            <a:srgbClr val="0F172A"/>
                          </a:solidFill>
                          <a:latin typeface="Calibri" pitchFamily="34" charset="0"/>
                          <a:ea typeface="Calibri" pitchFamily="34" charset="-122"/>
                          <a:cs typeface="Calibri" pitchFamily="34" charset="-120"/>
                        </a:rPr>
                        <a:t>PYTHIA</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Typed Python subset → readable C11</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Yes, bidirectional</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C source + binary</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Yes — positioned</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r>
            </a:tbl>
          </a:graphicData>
        </a:graphic>
      </p:graphicFrame>
      <p:sp>
        <p:nvSpPr>
          <p:cNvPr id="8" name="Text 5"/>
          <p:cNvSpPr/>
          <p:nvPr/>
        </p:nvSpPr>
        <p:spPr>
          <a:xfrm>
            <a:off x="566928" y="3950208"/>
            <a:ext cx="3291840" cy="274320"/>
          </a:xfrm>
          <a:prstGeom prst="rect">
            <a:avLst/>
          </a:prstGeom>
          <a:noFill/>
          <a:ln/>
        </p:spPr>
        <p:txBody>
          <a:bodyPr wrap="square" lIns="0" tIns="0" rIns="0" bIns="0" rtlCol="0" anchor="ctr"/>
          <a:lstStyle/>
          <a:p>
            <a:pPr indent="0" marL="0">
              <a:buNone/>
            </a:pPr>
            <a:r>
              <a:rPr lang="en-US" sz="1300" b="1" dirty="0">
                <a:solidFill>
                  <a:srgbClr val="0F172A"/>
                </a:solidFill>
              </a:rPr>
              <a:t>Read down the last two columns.</a:t>
            </a:r>
            <a:endParaRPr lang="en-US" sz="1300" dirty="0"/>
          </a:p>
        </p:txBody>
      </p:sp>
      <p:sp>
        <p:nvSpPr>
          <p:cNvPr id="9" name="Text 6"/>
          <p:cNvSpPr/>
          <p:nvPr/>
        </p:nvSpPr>
        <p:spPr>
          <a:xfrm>
            <a:off x="566928" y="4224528"/>
            <a:ext cx="3291840" cy="1005840"/>
          </a:xfrm>
          <a:prstGeom prst="rect">
            <a:avLst/>
          </a:prstGeom>
          <a:noFill/>
          <a:ln/>
        </p:spPr>
        <p:txBody>
          <a:bodyPr wrap="square" lIns="0" tIns="0" rIns="0" bIns="0" rtlCol="0" anchor="ctr"/>
          <a:lstStyle/>
          <a:p>
            <a:pPr indent="0" marL="0">
              <a:lnSpc>
                <a:spcPts val="1400"/>
              </a:lnSpc>
              <a:buNone/>
            </a:pPr>
            <a:r>
              <a:rPr lang="en-US" sz="1100" dirty="0">
                <a:solidFill>
                  <a:srgbClr val="334155"/>
                </a:solidFill>
              </a:rPr>
              <a:t>Everything that produces an interpreter-free artefact does so by quietly choosing a semantics. Everything that type-checks carefully declines to generate code.</a:t>
            </a:r>
            <a:endParaRPr lang="en-US" sz="1100" dirty="0"/>
          </a:p>
        </p:txBody>
      </p:sp>
      <p:sp>
        <p:nvSpPr>
          <p:cNvPr id="10" name="Shape 7"/>
          <p:cNvSpPr/>
          <p:nvPr/>
        </p:nvSpPr>
        <p:spPr>
          <a:xfrm>
            <a:off x="4133088" y="3950208"/>
            <a:ext cx="2359152" cy="1572768"/>
          </a:xfrm>
          <a:prstGeom prst="roundRect">
            <a:avLst>
              <a:gd name="adj" fmla="val 4651"/>
            </a:avLst>
          </a:prstGeom>
          <a:solidFill>
            <a:srgbClr val="FFFBEB"/>
          </a:solidFill>
          <a:ln w="9525">
            <a:solidFill>
              <a:srgbClr val="FDE68A"/>
            </a:solidFill>
            <a:prstDash val="solid"/>
          </a:ln>
        </p:spPr>
      </p:sp>
      <p:sp>
        <p:nvSpPr>
          <p:cNvPr id="11" name="Text 8"/>
          <p:cNvSpPr/>
          <p:nvPr/>
        </p:nvSpPr>
        <p:spPr>
          <a:xfrm>
            <a:off x="4315968" y="4059936"/>
            <a:ext cx="914400" cy="274320"/>
          </a:xfrm>
          <a:prstGeom prst="rect">
            <a:avLst/>
          </a:prstGeom>
          <a:noFill/>
          <a:ln/>
        </p:spPr>
        <p:txBody>
          <a:bodyPr wrap="square" lIns="0" tIns="0" rIns="0" bIns="0" rtlCol="0" anchor="ctr"/>
          <a:lstStyle/>
          <a:p>
            <a:pPr indent="0" marL="0">
              <a:buNone/>
            </a:pPr>
            <a:r>
              <a:rPr lang="en-US" sz="1100" b="1" dirty="0">
                <a:solidFill>
                  <a:srgbClr val="0D9488"/>
                </a:solidFill>
              </a:rPr>
              <a:t>01</a:t>
            </a:r>
            <a:endParaRPr lang="en-US" sz="1100" dirty="0"/>
          </a:p>
        </p:txBody>
      </p:sp>
      <p:sp>
        <p:nvSpPr>
          <p:cNvPr id="12" name="Text 9"/>
          <p:cNvSpPr/>
          <p:nvPr/>
        </p:nvSpPr>
        <p:spPr>
          <a:xfrm>
            <a:off x="4315968" y="4315968"/>
            <a:ext cx="2011680" cy="457200"/>
          </a:xfrm>
          <a:prstGeom prst="rect">
            <a:avLst/>
          </a:prstGeom>
          <a:noFill/>
          <a:ln/>
        </p:spPr>
        <p:txBody>
          <a:bodyPr wrap="square" lIns="0" tIns="0" rIns="0" bIns="0" rtlCol="0" anchor="ctr"/>
          <a:lstStyle/>
          <a:p>
            <a:pPr indent="0" marL="0">
              <a:lnSpc>
                <a:spcPts val="1400"/>
              </a:lnSpc>
              <a:buNone/>
            </a:pPr>
            <a:r>
              <a:rPr lang="en-US" sz="1250" b="1" dirty="0">
                <a:solidFill>
                  <a:srgbClr val="0F172A"/>
                </a:solidFill>
              </a:rPr>
              <a:t>Verification, not assertion</a:t>
            </a:r>
            <a:endParaRPr lang="en-US" sz="1250" dirty="0"/>
          </a:p>
        </p:txBody>
      </p:sp>
      <p:sp>
        <p:nvSpPr>
          <p:cNvPr id="13" name="Text 10"/>
          <p:cNvSpPr/>
          <p:nvPr/>
        </p:nvSpPr>
        <p:spPr>
          <a:xfrm>
            <a:off x="4315968" y="4791456"/>
            <a:ext cx="2011680" cy="658368"/>
          </a:xfrm>
          <a:prstGeom prst="rect">
            <a:avLst/>
          </a:prstGeom>
          <a:noFill/>
          <a:ln/>
        </p:spPr>
        <p:txBody>
          <a:bodyPr wrap="square" lIns="0" tIns="0" rIns="0" bIns="0" rtlCol="0" anchor="ctr"/>
          <a:lstStyle/>
          <a:p>
            <a:pPr indent="0" marL="0">
              <a:lnSpc>
                <a:spcPts val="1250"/>
              </a:lnSpc>
              <a:buNone/>
            </a:pPr>
            <a:r>
              <a:rPr lang="en-US" sz="1000" dirty="0">
                <a:solidFill>
                  <a:srgbClr val="334155"/>
                </a:solidFill>
              </a:rPr>
              <a:t>An executable differential oracle turns a universal claim into a CI number that can fail.</a:t>
            </a:r>
            <a:endParaRPr lang="en-US" sz="1000" dirty="0"/>
          </a:p>
        </p:txBody>
      </p:sp>
      <p:sp>
        <p:nvSpPr>
          <p:cNvPr id="14" name="Shape 11"/>
          <p:cNvSpPr/>
          <p:nvPr/>
        </p:nvSpPr>
        <p:spPr>
          <a:xfrm>
            <a:off x="6675120" y="3950208"/>
            <a:ext cx="2359152" cy="1572768"/>
          </a:xfrm>
          <a:prstGeom prst="roundRect">
            <a:avLst>
              <a:gd name="adj" fmla="val 4651"/>
            </a:avLst>
          </a:prstGeom>
          <a:solidFill>
            <a:srgbClr val="FFFBEB"/>
          </a:solidFill>
          <a:ln w="9525">
            <a:solidFill>
              <a:srgbClr val="FDE68A"/>
            </a:solidFill>
            <a:prstDash val="solid"/>
          </a:ln>
        </p:spPr>
      </p:sp>
      <p:sp>
        <p:nvSpPr>
          <p:cNvPr id="15" name="Text 12"/>
          <p:cNvSpPr/>
          <p:nvPr/>
        </p:nvSpPr>
        <p:spPr>
          <a:xfrm>
            <a:off x="6858000" y="4059936"/>
            <a:ext cx="914400" cy="274320"/>
          </a:xfrm>
          <a:prstGeom prst="rect">
            <a:avLst/>
          </a:prstGeom>
          <a:noFill/>
          <a:ln/>
        </p:spPr>
        <p:txBody>
          <a:bodyPr wrap="square" lIns="0" tIns="0" rIns="0" bIns="0" rtlCol="0" anchor="ctr"/>
          <a:lstStyle/>
          <a:p>
            <a:pPr indent="0" marL="0">
              <a:buNone/>
            </a:pPr>
            <a:r>
              <a:rPr lang="en-US" sz="1100" b="1" dirty="0">
                <a:solidFill>
                  <a:srgbClr val="B45309"/>
                </a:solidFill>
              </a:rPr>
              <a:t>02</a:t>
            </a:r>
            <a:endParaRPr lang="en-US" sz="1100" dirty="0"/>
          </a:p>
        </p:txBody>
      </p:sp>
      <p:sp>
        <p:nvSpPr>
          <p:cNvPr id="16" name="Text 13"/>
          <p:cNvSpPr/>
          <p:nvPr/>
        </p:nvSpPr>
        <p:spPr>
          <a:xfrm>
            <a:off x="6858000" y="4315968"/>
            <a:ext cx="2011680" cy="457200"/>
          </a:xfrm>
          <a:prstGeom prst="rect">
            <a:avLst/>
          </a:prstGeom>
          <a:noFill/>
          <a:ln/>
        </p:spPr>
        <p:txBody>
          <a:bodyPr wrap="square" lIns="0" tIns="0" rIns="0" bIns="0" rtlCol="0" anchor="ctr"/>
          <a:lstStyle/>
          <a:p>
            <a:pPr indent="0" marL="0">
              <a:lnSpc>
                <a:spcPts val="1400"/>
              </a:lnSpc>
              <a:buNone/>
            </a:pPr>
            <a:r>
              <a:rPr lang="en-US" sz="1250" b="1" dirty="0">
                <a:solidFill>
                  <a:srgbClr val="0F172A"/>
                </a:solidFill>
              </a:rPr>
              <a:t>Divergence as an output</a:t>
            </a:r>
            <a:endParaRPr lang="en-US" sz="1250" dirty="0"/>
          </a:p>
        </p:txBody>
      </p:sp>
      <p:sp>
        <p:nvSpPr>
          <p:cNvPr id="17" name="Text 14"/>
          <p:cNvSpPr/>
          <p:nvPr/>
        </p:nvSpPr>
        <p:spPr>
          <a:xfrm>
            <a:off x="6858000" y="4791456"/>
            <a:ext cx="2011680" cy="658368"/>
          </a:xfrm>
          <a:prstGeom prst="rect">
            <a:avLst/>
          </a:prstGeom>
          <a:noFill/>
          <a:ln/>
        </p:spPr>
        <p:txBody>
          <a:bodyPr wrap="square" lIns="0" tIns="0" rIns="0" bIns="0" rtlCol="0" anchor="ctr"/>
          <a:lstStyle/>
          <a:p>
            <a:pPr indent="0" marL="0">
              <a:lnSpc>
                <a:spcPts val="1250"/>
              </a:lnSpc>
              <a:buNone/>
            </a:pPr>
            <a:r>
              <a:rPr lang="en-US" sz="1000" dirty="0">
                <a:solidFill>
                  <a:srgbClr val="334155"/>
                </a:solidFill>
              </a:rPr>
              <a:t>No surveyed tool emits a machine-generated, source-positioned account of its own approximations.</a:t>
            </a:r>
            <a:endParaRPr lang="en-US" sz="1000" dirty="0"/>
          </a:p>
        </p:txBody>
      </p:sp>
      <p:sp>
        <p:nvSpPr>
          <p:cNvPr id="18" name="Shape 15"/>
          <p:cNvSpPr/>
          <p:nvPr/>
        </p:nvSpPr>
        <p:spPr>
          <a:xfrm>
            <a:off x="9217152" y="3950208"/>
            <a:ext cx="2359152" cy="1572768"/>
          </a:xfrm>
          <a:prstGeom prst="roundRect">
            <a:avLst>
              <a:gd name="adj" fmla="val 4651"/>
            </a:avLst>
          </a:prstGeom>
          <a:solidFill>
            <a:srgbClr val="FFFBEB"/>
          </a:solidFill>
          <a:ln w="9525">
            <a:solidFill>
              <a:srgbClr val="FDE68A"/>
            </a:solidFill>
            <a:prstDash val="solid"/>
          </a:ln>
        </p:spPr>
      </p:sp>
      <p:sp>
        <p:nvSpPr>
          <p:cNvPr id="19" name="Text 16"/>
          <p:cNvSpPr/>
          <p:nvPr/>
        </p:nvSpPr>
        <p:spPr>
          <a:xfrm>
            <a:off x="9400032" y="4059936"/>
            <a:ext cx="914400" cy="274320"/>
          </a:xfrm>
          <a:prstGeom prst="rect">
            <a:avLst/>
          </a:prstGeom>
          <a:noFill/>
          <a:ln/>
        </p:spPr>
        <p:txBody>
          <a:bodyPr wrap="square" lIns="0" tIns="0" rIns="0" bIns="0" rtlCol="0" anchor="ctr"/>
          <a:lstStyle/>
          <a:p>
            <a:pPr indent="0" marL="0">
              <a:buNone/>
            </a:pPr>
            <a:r>
              <a:rPr lang="en-US" sz="1100" b="1" dirty="0">
                <a:solidFill>
                  <a:srgbClr val="8B5CF6"/>
                </a:solidFill>
              </a:rPr>
              <a:t>03</a:t>
            </a:r>
            <a:endParaRPr lang="en-US" sz="1100" dirty="0"/>
          </a:p>
        </p:txBody>
      </p:sp>
      <p:sp>
        <p:nvSpPr>
          <p:cNvPr id="20" name="Text 17"/>
          <p:cNvSpPr/>
          <p:nvPr/>
        </p:nvSpPr>
        <p:spPr>
          <a:xfrm>
            <a:off x="9400032" y="4315968"/>
            <a:ext cx="2011680" cy="457200"/>
          </a:xfrm>
          <a:prstGeom prst="rect">
            <a:avLst/>
          </a:prstGeom>
          <a:noFill/>
          <a:ln/>
        </p:spPr>
        <p:txBody>
          <a:bodyPr wrap="square" lIns="0" tIns="0" rIns="0" bIns="0" rtlCol="0" anchor="ctr"/>
          <a:lstStyle/>
          <a:p>
            <a:pPr indent="0" marL="0">
              <a:lnSpc>
                <a:spcPts val="1400"/>
              </a:lnSpc>
              <a:buNone/>
            </a:pPr>
            <a:r>
              <a:rPr lang="en-US" sz="1250" b="1" dirty="0">
                <a:solidFill>
                  <a:srgbClr val="0F172A"/>
                </a:solidFill>
              </a:rPr>
              <a:t>Readability of the target</a:t>
            </a:r>
            <a:endParaRPr lang="en-US" sz="1250" dirty="0"/>
          </a:p>
        </p:txBody>
      </p:sp>
      <p:sp>
        <p:nvSpPr>
          <p:cNvPr id="21" name="Text 18"/>
          <p:cNvSpPr/>
          <p:nvPr/>
        </p:nvSpPr>
        <p:spPr>
          <a:xfrm>
            <a:off x="9400032" y="4791456"/>
            <a:ext cx="2011680" cy="658368"/>
          </a:xfrm>
          <a:prstGeom prst="rect">
            <a:avLst/>
          </a:prstGeom>
          <a:noFill/>
          <a:ln/>
        </p:spPr>
        <p:txBody>
          <a:bodyPr wrap="square" lIns="0" tIns="0" rIns="0" bIns="0" rtlCol="0" anchor="ctr"/>
          <a:lstStyle/>
          <a:p>
            <a:pPr indent="0" marL="0">
              <a:lnSpc>
                <a:spcPts val="1250"/>
              </a:lnSpc>
              <a:buNone/>
            </a:pPr>
            <a:r>
              <a:rPr lang="en-US" sz="1000" dirty="0">
                <a:solidFill>
                  <a:srgbClr val="334155"/>
                </a:solidFill>
              </a:rPr>
              <a:t>An audit trail is worth nothing if a human cannot read what was produced.</a:t>
            </a:r>
            <a:endParaRPr lang="en-US" sz="1000" dirty="0"/>
          </a:p>
        </p:txBody>
      </p:sp>
      <p:sp>
        <p:nvSpPr>
          <p:cNvPr id="22" name="Text 19"/>
          <p:cNvSpPr/>
          <p:nvPr/>
        </p:nvSpPr>
        <p:spPr>
          <a:xfrm>
            <a:off x="566928" y="5669280"/>
            <a:ext cx="11057839" cy="365760"/>
          </a:xfrm>
          <a:prstGeom prst="rect">
            <a:avLst/>
          </a:prstGeom>
          <a:noFill/>
          <a:ln/>
        </p:spPr>
        <p:txBody>
          <a:bodyPr wrap="square" lIns="0" tIns="0" rIns="0" bIns="0" rtlCol="0" anchor="ctr"/>
          <a:lstStyle/>
          <a:p>
            <a:pPr indent="0" marL="0">
              <a:buNone/>
            </a:pPr>
            <a:r>
              <a:rPr lang="en-US" sz="1150" i="1" dirty="0">
                <a:solidFill>
                  <a:srgbClr val="64748B"/>
                </a:solidFill>
              </a:rPr>
              <a:t>PYTHIA is not competing with Codon on breadth or Cython on maturity. Its claim is narrower and checkable: within a subset small enough to reason about, translation is verified rather than asserted — and where it cannot be verified, it is reported.</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8040319" cy="566928"/>
          </a:xfrm>
          <a:prstGeom prst="rect">
            <a:avLst/>
          </a:prstGeom>
          <a:noFill/>
          <a:ln/>
        </p:spPr>
        <p:txBody>
          <a:bodyPr wrap="square" lIns="0" tIns="0" rIns="0" bIns="0" rtlCol="0" anchor="ctr"/>
          <a:lstStyle/>
          <a:p>
            <a:pPr indent="0" marL="0">
              <a:buNone/>
            </a:pPr>
            <a:r>
              <a:rPr lang="en-US" sz="2400" b="1" dirty="0">
                <a:solidFill>
                  <a:srgbClr val="0F172A"/>
                </a:solidFill>
              </a:rPr>
              <a:t>Requirements, test inputs and feasibility</a:t>
            </a:r>
            <a:endParaRPr lang="en-US" sz="2400" dirty="0"/>
          </a:p>
        </p:txBody>
      </p:sp>
      <p:sp>
        <p:nvSpPr>
          <p:cNvPr id="3" name="Shape 1"/>
          <p:cNvSpPr/>
          <p:nvPr/>
        </p:nvSpPr>
        <p:spPr>
          <a:xfrm>
            <a:off x="8835847" y="310896"/>
            <a:ext cx="2788920" cy="310896"/>
          </a:xfrm>
          <a:prstGeom prst="roundRect">
            <a:avLst>
              <a:gd name="adj" fmla="val 50000"/>
            </a:avLst>
          </a:prstGeom>
          <a:solidFill>
            <a:srgbClr val="F1F5F9"/>
          </a:solidFill>
          <a:ln w="9525">
            <a:solidFill>
              <a:srgbClr val="E2E8F0"/>
            </a:solidFill>
            <a:prstDash val="solid"/>
          </a:ln>
        </p:spPr>
      </p:sp>
      <p:sp>
        <p:nvSpPr>
          <p:cNvPr id="4" name="Text 2"/>
          <p:cNvSpPr/>
          <p:nvPr/>
        </p:nvSpPr>
        <p:spPr>
          <a:xfrm>
            <a:off x="8835847" y="310896"/>
            <a:ext cx="2788920" cy="310896"/>
          </a:xfrm>
          <a:prstGeom prst="rect">
            <a:avLst/>
          </a:prstGeom>
          <a:noFill/>
          <a:ln/>
        </p:spPr>
        <p:txBody>
          <a:bodyPr wrap="square" lIns="0" tIns="0" rIns="0" bIns="0" rtlCol="0" anchor="ctr"/>
          <a:lstStyle/>
          <a:p>
            <a:pPr algn="ctr" indent="0" marL="0">
              <a:buNone/>
            </a:pPr>
            <a:r>
              <a:rPr lang="en-US" sz="900" b="1" spc="80" kern="0" dirty="0">
                <a:solidFill>
                  <a:srgbClr val="334155"/>
                </a:solidFill>
              </a:rPr>
              <a:t>MEMBER 2 · RUJUTA</a:t>
            </a:r>
            <a:endParaRPr lang="en-US" sz="900" dirty="0"/>
          </a:p>
        </p:txBody>
      </p:sp>
      <p:sp>
        <p:nvSpPr>
          <p:cNvPr id="5" name="Text 3"/>
          <p:cNvSpPr/>
          <p:nvPr/>
        </p:nvSpPr>
        <p:spPr>
          <a:xfrm>
            <a:off x="11076127" y="6382512"/>
            <a:ext cx="548640" cy="274320"/>
          </a:xfrm>
          <a:prstGeom prst="rect">
            <a:avLst/>
          </a:prstGeom>
          <a:noFill/>
          <a:ln/>
        </p:spPr>
        <p:txBody>
          <a:bodyPr wrap="square" lIns="0" tIns="0" rIns="0" bIns="0" rtlCol="0" anchor="ctr"/>
          <a:lstStyle/>
          <a:p>
            <a:pPr algn="r" indent="0" marL="0">
              <a:buNone/>
            </a:pPr>
            <a:r>
              <a:rPr lang="en-US" sz="1000" dirty="0">
                <a:solidFill>
                  <a:srgbClr val="64748B"/>
                </a:solidFill>
              </a:rPr>
              <a:t>6</a:t>
            </a:r>
            <a:endParaRPr lang="en-US" sz="1000" dirty="0"/>
          </a:p>
        </p:txBody>
      </p:sp>
      <p:sp>
        <p:nvSpPr>
          <p:cNvPr id="6" name="Text 4"/>
          <p:cNvSpPr/>
          <p:nvPr/>
        </p:nvSpPr>
        <p:spPr>
          <a:xfrm>
            <a:off x="566928" y="6382512"/>
            <a:ext cx="5486400" cy="274320"/>
          </a:xfrm>
          <a:prstGeom prst="rect">
            <a:avLst/>
          </a:prstGeom>
          <a:noFill/>
          <a:ln/>
        </p:spPr>
        <p:txBody>
          <a:bodyPr wrap="square" lIns="0" tIns="0" rIns="0" bIns="0" rtlCol="0" anchor="ctr"/>
          <a:lstStyle/>
          <a:p>
            <a:pPr indent="0" marL="0">
              <a:buNone/>
            </a:pPr>
            <a:r>
              <a:rPr lang="en-US" sz="900" dirty="0">
                <a:solidFill>
                  <a:srgbClr val="94A3B8"/>
                </a:solidFill>
              </a:rPr>
              <a:t>PYTHIA  ·  BCSE307L Team 2  ·  Project A15</a:t>
            </a:r>
            <a:endParaRPr lang="en-US" sz="900" dirty="0"/>
          </a:p>
        </p:txBody>
      </p:sp>
      <p:sp>
        <p:nvSpPr>
          <p:cNvPr id="7" name="Shape 5"/>
          <p:cNvSpPr/>
          <p:nvPr/>
        </p:nvSpPr>
        <p:spPr>
          <a:xfrm>
            <a:off x="566928" y="969264"/>
            <a:ext cx="3547872" cy="2286000"/>
          </a:xfrm>
          <a:prstGeom prst="roundRect">
            <a:avLst>
              <a:gd name="adj" fmla="val 3200"/>
            </a:avLst>
          </a:prstGeom>
          <a:solidFill>
            <a:srgbClr val="F1F5F9"/>
          </a:solidFill>
          <a:ln w="9525">
            <a:solidFill>
              <a:srgbClr val="E2E8F0"/>
            </a:solidFill>
            <a:prstDash val="solid"/>
          </a:ln>
        </p:spPr>
      </p:sp>
      <p:sp>
        <p:nvSpPr>
          <p:cNvPr id="8" name="Text 6"/>
          <p:cNvSpPr/>
          <p:nvPr/>
        </p:nvSpPr>
        <p:spPr>
          <a:xfrm>
            <a:off x="768096" y="1106424"/>
            <a:ext cx="3145536" cy="219456"/>
          </a:xfrm>
          <a:prstGeom prst="rect">
            <a:avLst/>
          </a:prstGeom>
          <a:noFill/>
          <a:ln/>
        </p:spPr>
        <p:txBody>
          <a:bodyPr wrap="square" lIns="0" tIns="0" rIns="0" bIns="0" rtlCol="0" anchor="ctr"/>
          <a:lstStyle/>
          <a:p>
            <a:pPr indent="0" marL="0">
              <a:buNone/>
            </a:pPr>
            <a:r>
              <a:rPr lang="en-US" sz="950" b="1" spc="90" kern="0" dirty="0">
                <a:solidFill>
                  <a:srgbClr val="B45309"/>
                </a:solidFill>
              </a:rPr>
              <a:t>SOFTWARE</a:t>
            </a:r>
            <a:endParaRPr lang="en-US" sz="950" dirty="0"/>
          </a:p>
        </p:txBody>
      </p:sp>
      <p:sp>
        <p:nvSpPr>
          <p:cNvPr id="9" name="Text 7"/>
          <p:cNvSpPr/>
          <p:nvPr/>
        </p:nvSpPr>
        <p:spPr>
          <a:xfrm>
            <a:off x="768096" y="1344168"/>
            <a:ext cx="3145536" cy="1783080"/>
          </a:xfrm>
          <a:prstGeom prst="rect">
            <a:avLst/>
          </a:prstGeom>
          <a:noFill/>
          <a:ln/>
        </p:spPr>
        <p:txBody>
          <a:bodyPr wrap="square" lIns="0" tIns="0" rIns="0" bIns="0" rtlCol="0" anchor="t"/>
          <a:lstStyle/>
          <a:p>
            <a:pPr indent="0" marL="0">
              <a:lnSpc>
                <a:spcPts val="1500"/>
              </a:lnSpc>
              <a:buNone/>
            </a:pPr>
            <a:r>
              <a:rPr lang="en-US" sz="1050" dirty="0">
                <a:solidFill>
                  <a:srgbClr val="334155"/>
                </a:solidFill>
              </a:rPr>
              <a:t>Python 3.10+  —  compiler implementation</a:t>
            </a:r>
            <a:endParaRPr lang="en-US" sz="1050" dirty="0"/>
          </a:p>
          <a:p>
            <a:pPr indent="0" marL="0">
              <a:lnSpc>
                <a:spcPts val="1500"/>
              </a:lnSpc>
              <a:buNone/>
            </a:pPr>
            <a:r>
              <a:rPr lang="en-US" sz="1050" dirty="0">
                <a:solidFill>
                  <a:srgbClr val="334155"/>
                </a:solidFill>
              </a:rPr>
              <a:t>gcc 13 / clang 16, C11  —  compiles emitted code</a:t>
            </a:r>
            <a:endParaRPr lang="en-US" sz="1050" dirty="0"/>
          </a:p>
          <a:p>
            <a:pPr indent="0" marL="0">
              <a:lnSpc>
                <a:spcPts val="1500"/>
              </a:lnSpc>
              <a:buNone/>
            </a:pPr>
            <a:r>
              <a:rPr lang="en-US" sz="1050" dirty="0">
                <a:solidFill>
                  <a:srgbClr val="334155"/>
                </a:solidFill>
              </a:rPr>
              <a:t>glibc / musl  —  the only runtime dependency</a:t>
            </a:r>
            <a:endParaRPr lang="en-US" sz="1050" dirty="0"/>
          </a:p>
          <a:p>
            <a:pPr indent="0" marL="0">
              <a:lnSpc>
                <a:spcPts val="1500"/>
              </a:lnSpc>
              <a:buNone/>
            </a:pPr>
            <a:r>
              <a:rPr lang="en-US" sz="1050" dirty="0">
                <a:solidFill>
                  <a:srgbClr val="334155"/>
                </a:solidFill>
              </a:rPr>
              <a:t>Git + GitHub Actions  —  oracle on every push</a:t>
            </a:r>
            <a:endParaRPr lang="en-US" sz="1050" dirty="0"/>
          </a:p>
          <a:p>
            <a:pPr indent="0" marL="0">
              <a:lnSpc>
                <a:spcPts val="1500"/>
              </a:lnSpc>
              <a:buNone/>
            </a:pPr>
            <a:r>
              <a:rPr lang="en-US" sz="1050" dirty="0">
                <a:solidFill>
                  <a:srgbClr val="334155"/>
                </a:solidFill>
              </a:rPr>
              <a:t>CPython 3.12  —  ground truth for equivalence</a:t>
            </a:r>
            <a:endParaRPr lang="en-US" sz="1050" dirty="0"/>
          </a:p>
          <a:p>
            <a:pPr indent="0" marL="0">
              <a:lnSpc>
                <a:spcPts val="1500"/>
              </a:lnSpc>
              <a:buNone/>
            </a:pPr>
            <a:r>
              <a:rPr lang="en-US" sz="1050" dirty="0">
                <a:solidFill>
                  <a:srgbClr val="334155"/>
                </a:solidFill>
              </a:rPr>
              <a:t>Graphviz + Matplotlib  —  figures only</a:t>
            </a:r>
            <a:endParaRPr lang="en-US" sz="1050" dirty="0"/>
          </a:p>
        </p:txBody>
      </p:sp>
      <p:sp>
        <p:nvSpPr>
          <p:cNvPr id="10" name="Shape 8"/>
          <p:cNvSpPr/>
          <p:nvPr/>
        </p:nvSpPr>
        <p:spPr>
          <a:xfrm>
            <a:off x="4297680" y="969264"/>
            <a:ext cx="3547872" cy="2286000"/>
          </a:xfrm>
          <a:prstGeom prst="roundRect">
            <a:avLst>
              <a:gd name="adj" fmla="val 3200"/>
            </a:avLst>
          </a:prstGeom>
          <a:solidFill>
            <a:srgbClr val="F1F5F9"/>
          </a:solidFill>
          <a:ln w="9525">
            <a:solidFill>
              <a:srgbClr val="E2E8F0"/>
            </a:solidFill>
            <a:prstDash val="solid"/>
          </a:ln>
        </p:spPr>
      </p:sp>
      <p:sp>
        <p:nvSpPr>
          <p:cNvPr id="11" name="Text 9"/>
          <p:cNvSpPr/>
          <p:nvPr/>
        </p:nvSpPr>
        <p:spPr>
          <a:xfrm>
            <a:off x="4498848" y="1106424"/>
            <a:ext cx="3145536" cy="219456"/>
          </a:xfrm>
          <a:prstGeom prst="rect">
            <a:avLst/>
          </a:prstGeom>
          <a:noFill/>
          <a:ln/>
        </p:spPr>
        <p:txBody>
          <a:bodyPr wrap="square" lIns="0" tIns="0" rIns="0" bIns="0" rtlCol="0" anchor="ctr"/>
          <a:lstStyle/>
          <a:p>
            <a:pPr indent="0" marL="0">
              <a:buNone/>
            </a:pPr>
            <a:r>
              <a:rPr lang="en-US" sz="950" b="1" spc="90" kern="0" dirty="0">
                <a:solidFill>
                  <a:srgbClr val="B45309"/>
                </a:solidFill>
              </a:rPr>
              <a:t>HARDWARE</a:t>
            </a:r>
            <a:endParaRPr lang="en-US" sz="950" dirty="0"/>
          </a:p>
        </p:txBody>
      </p:sp>
      <p:sp>
        <p:nvSpPr>
          <p:cNvPr id="12" name="Text 10"/>
          <p:cNvSpPr/>
          <p:nvPr/>
        </p:nvSpPr>
        <p:spPr>
          <a:xfrm>
            <a:off x="4498848" y="1344168"/>
            <a:ext cx="3145536" cy="274320"/>
          </a:xfrm>
          <a:prstGeom prst="rect">
            <a:avLst/>
          </a:prstGeom>
          <a:noFill/>
          <a:ln/>
        </p:spPr>
        <p:txBody>
          <a:bodyPr wrap="square" lIns="0" tIns="0" rIns="0" bIns="0" rtlCol="0" anchor="t"/>
          <a:lstStyle/>
          <a:p>
            <a:pPr indent="0" marL="0">
              <a:lnSpc>
                <a:spcPts val="1700"/>
              </a:lnSpc>
              <a:buNone/>
            </a:pPr>
            <a:r>
              <a:rPr lang="en-US" sz="1500" b="1" dirty="0">
                <a:solidFill>
                  <a:srgbClr val="0F172A"/>
                </a:solidFill>
              </a:rPr>
              <a:t>Any laptop. Deliberately.</a:t>
            </a:r>
            <a:endParaRPr lang="en-US" sz="1500" dirty="0"/>
          </a:p>
        </p:txBody>
      </p:sp>
      <p:sp>
        <p:nvSpPr>
          <p:cNvPr id="13" name="Text 11"/>
          <p:cNvSpPr/>
          <p:nvPr/>
        </p:nvSpPr>
        <p:spPr>
          <a:xfrm>
            <a:off x="4498848" y="1636776"/>
            <a:ext cx="3145536" cy="1490472"/>
          </a:xfrm>
          <a:prstGeom prst="rect">
            <a:avLst/>
          </a:prstGeom>
          <a:noFill/>
          <a:ln/>
        </p:spPr>
        <p:txBody>
          <a:bodyPr wrap="square" lIns="0" tIns="0" rIns="0" bIns="0" rtlCol="0" anchor="t"/>
          <a:lstStyle/>
          <a:p>
            <a:pPr indent="0" marL="0">
              <a:lnSpc>
                <a:spcPts val="1400"/>
              </a:lnSpc>
              <a:buNone/>
            </a:pPr>
            <a:r>
              <a:rPr lang="en-US" sz="1050" dirty="0">
                <a:solidFill>
                  <a:srgbClr val="334155"/>
                </a:solidFill>
              </a:rPr>
              <a:t>x86-64 or ARM64, 4 GB RAM, 1 GB disk. The heaviest benchmark is a 90×90 dense matrix multiply that CPython finishes in under two seconds.</a:t>
            </a:r>
            <a:endParaRPr lang="en-US" sz="1050" dirty="0"/>
          </a:p>
          <a:p>
            <a:pPr indent="0" marL="0">
              <a:lnSpc>
                <a:spcPts val="1400"/>
              </a:lnSpc>
              <a:buNone/>
            </a:pPr>
            <a:endParaRPr lang="en-US" sz="1050" dirty="0"/>
          </a:p>
          <a:p>
            <a:pPr indent="0" marL="0">
              <a:lnSpc>
                <a:spcPts val="1400"/>
              </a:lnSpc>
              <a:buNone/>
            </a:pPr>
            <a:r>
              <a:rPr lang="en-US" sz="1050" dirty="0">
                <a:solidFill>
                  <a:srgbClr val="334155"/>
                </a:solidFill>
              </a:rPr>
              <a:t>No GPU, no cluster, no cloud credit — a project whose evaluation cannot be reproduced on a teammate's laptop is a project whose evaluation cannot be checked.</a:t>
            </a:r>
            <a:endParaRPr lang="en-US" sz="1050" dirty="0"/>
          </a:p>
        </p:txBody>
      </p:sp>
      <p:sp>
        <p:nvSpPr>
          <p:cNvPr id="14" name="Shape 12"/>
          <p:cNvSpPr/>
          <p:nvPr/>
        </p:nvSpPr>
        <p:spPr>
          <a:xfrm>
            <a:off x="8028432" y="969264"/>
            <a:ext cx="3593592" cy="2286000"/>
          </a:xfrm>
          <a:prstGeom prst="roundRect">
            <a:avLst>
              <a:gd name="adj" fmla="val 3200"/>
            </a:avLst>
          </a:prstGeom>
          <a:solidFill>
            <a:srgbClr val="F1F5F9"/>
          </a:solidFill>
          <a:ln w="9525">
            <a:solidFill>
              <a:srgbClr val="E2E8F0"/>
            </a:solidFill>
            <a:prstDash val="solid"/>
          </a:ln>
        </p:spPr>
      </p:sp>
      <p:sp>
        <p:nvSpPr>
          <p:cNvPr id="15" name="Text 13"/>
          <p:cNvSpPr/>
          <p:nvPr/>
        </p:nvSpPr>
        <p:spPr>
          <a:xfrm>
            <a:off x="8229600" y="1106424"/>
            <a:ext cx="3191256" cy="219456"/>
          </a:xfrm>
          <a:prstGeom prst="rect">
            <a:avLst/>
          </a:prstGeom>
          <a:noFill/>
          <a:ln/>
        </p:spPr>
        <p:txBody>
          <a:bodyPr wrap="square" lIns="0" tIns="0" rIns="0" bIns="0" rtlCol="0" anchor="ctr"/>
          <a:lstStyle/>
          <a:p>
            <a:pPr indent="0" marL="0">
              <a:buNone/>
            </a:pPr>
            <a:r>
              <a:rPr lang="en-US" sz="950" b="1" spc="90" kern="0" dirty="0">
                <a:solidFill>
                  <a:srgbClr val="0D9488"/>
                </a:solidFill>
              </a:rPr>
              <a:t>TEST INPUTS — NO EXTERNAL DATASET</a:t>
            </a:r>
            <a:endParaRPr lang="en-US" sz="950" dirty="0"/>
          </a:p>
        </p:txBody>
      </p:sp>
      <p:sp>
        <p:nvSpPr>
          <p:cNvPr id="16" name="Text 14"/>
          <p:cNvSpPr/>
          <p:nvPr/>
        </p:nvSpPr>
        <p:spPr>
          <a:xfrm>
            <a:off x="8229600" y="1344168"/>
            <a:ext cx="3191256" cy="1783080"/>
          </a:xfrm>
          <a:prstGeom prst="rect">
            <a:avLst/>
          </a:prstGeom>
          <a:noFill/>
          <a:ln/>
        </p:spPr>
        <p:txBody>
          <a:bodyPr wrap="square" lIns="0" tIns="0" rIns="0" bIns="0" rtlCol="0" anchor="t"/>
          <a:lstStyle/>
          <a:p>
            <a:pPr indent="0" marL="0">
              <a:lnSpc>
                <a:spcPts val="1350"/>
              </a:lnSpc>
              <a:buNone/>
            </a:pPr>
            <a:r>
              <a:rPr lang="en-US" sz="1000" dirty="0">
                <a:solidFill>
                  <a:srgbClr val="334155"/>
                </a:solidFill>
              </a:rPr>
              <a:t>Positive corpus — PySub programs exercising each feature and each divergence class.  14 → 120</a:t>
            </a:r>
            <a:endParaRPr lang="en-US" sz="1000" dirty="0"/>
          </a:p>
          <a:p>
            <a:pPr indent="0" marL="0">
              <a:lnSpc>
                <a:spcPts val="1350"/>
              </a:lnSpc>
              <a:buNone/>
            </a:pPr>
            <a:endParaRPr lang="en-US" sz="1000" dirty="0"/>
          </a:p>
          <a:p>
            <a:pPr indent="0" marL="0">
              <a:lnSpc>
                <a:spcPts val="1350"/>
              </a:lnSpc>
              <a:buNone/>
            </a:pPr>
            <a:r>
              <a:rPr lang="en-US" sz="1000" dirty="0">
                <a:solidFill>
                  <a:srgbClr val="334155"/>
                </a:solidFill>
              </a:rPr>
              <a:t>Negative corpus — ill-typed programs, each carrying an # expect: marker naming the diagnostic it must provoke.  12 → 60</a:t>
            </a:r>
            <a:endParaRPr lang="en-US" sz="1000" dirty="0"/>
          </a:p>
          <a:p>
            <a:pPr indent="0" marL="0">
              <a:lnSpc>
                <a:spcPts val="1350"/>
              </a:lnSpc>
              <a:buNone/>
            </a:pPr>
            <a:endParaRPr lang="en-US" sz="1000" dirty="0"/>
          </a:p>
          <a:p>
            <a:pPr indent="0" marL="0">
              <a:lnSpc>
                <a:spcPts val="1350"/>
              </a:lnSpc>
              <a:buNone/>
            </a:pPr>
            <a:r>
              <a:rPr lang="en-US" sz="1000" dirty="0">
                <a:solidFill>
                  <a:srgbClr val="334155"/>
                </a:solidFill>
              </a:rPr>
              <a:t>Generated corpus — grammar-directed random program sampler (Review 2), in the spirit of Csmith.</a:t>
            </a:r>
            <a:endParaRPr lang="en-US" sz="1000" dirty="0"/>
          </a:p>
        </p:txBody>
      </p:sp>
      <p:sp>
        <p:nvSpPr>
          <p:cNvPr id="17" name="Text 15"/>
          <p:cNvSpPr/>
          <p:nvPr/>
        </p:nvSpPr>
        <p:spPr>
          <a:xfrm>
            <a:off x="566928" y="3438144"/>
            <a:ext cx="3657600" cy="292608"/>
          </a:xfrm>
          <a:prstGeom prst="rect">
            <a:avLst/>
          </a:prstGeom>
          <a:noFill/>
          <a:ln/>
        </p:spPr>
        <p:txBody>
          <a:bodyPr wrap="square" lIns="0" tIns="0" rIns="0" bIns="0" rtlCol="0" anchor="ctr"/>
          <a:lstStyle/>
          <a:p>
            <a:pPr indent="0" marL="0">
              <a:buNone/>
            </a:pPr>
            <a:r>
              <a:rPr lang="en-US" sz="1500" b="1" dirty="0">
                <a:solidFill>
                  <a:srgbClr val="0F172A"/>
                </a:solidFill>
              </a:rPr>
              <a:t>Risk register</a:t>
            </a:r>
            <a:endParaRPr lang="en-US" sz="1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66928" y="3767328"/>
          <a:ext cx="11055096" cy="914400"/>
        </p:xfrm>
        <a:graphic>
          <a:graphicData uri="http://schemas.openxmlformats.org/drawingml/2006/table">
            <a:tbl>
              <a:tblPr/>
              <a:tblGrid>
                <a:gridCol w="457200"/>
                <a:gridCol w="2834640"/>
                <a:gridCol w="566928"/>
                <a:gridCol w="566928"/>
                <a:gridCol w="6629400"/>
              </a:tblGrid>
              <a:tr h="274320">
                <a:tc>
                  <a:txBody>
                    <a:bodyPr/>
                    <a:lstStyle/>
                    <a:p>
                      <a:pPr indent="0" marL="0">
                        <a:buNone/>
                      </a:pPr>
                      <a:r>
                        <a:rPr lang="en-US" sz="950" b="1" dirty="0">
                          <a:solidFill>
                            <a:srgbClr val="1E293B"/>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950" b="1" dirty="0">
                          <a:solidFill>
                            <a:srgbClr val="1E293B"/>
                          </a:solidFill>
                          <a:latin typeface="Calibri" pitchFamily="34" charset="0"/>
                          <a:ea typeface="Calibri" pitchFamily="34" charset="-122"/>
                          <a:cs typeface="Calibri" pitchFamily="34" charset="-120"/>
                        </a:rPr>
                        <a:t>Risk</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950" b="1" dirty="0">
                          <a:solidFill>
                            <a:srgbClr val="1E293B"/>
                          </a:solidFill>
                          <a:latin typeface="Calibri" pitchFamily="34" charset="0"/>
                          <a:ea typeface="Calibri" pitchFamily="34" charset="-122"/>
                          <a:cs typeface="Calibri" pitchFamily="34" charset="-120"/>
                        </a:rPr>
                        <a:t>L</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950" b="1" dirty="0">
                          <a:solidFill>
                            <a:srgbClr val="1E293B"/>
                          </a:solidFill>
                          <a:latin typeface="Calibri" pitchFamily="34" charset="0"/>
                          <a:ea typeface="Calibri" pitchFamily="34" charset="-122"/>
                          <a:cs typeface="Calibri" pitchFamily="34" charset="-120"/>
                        </a:rPr>
                        <a:t>I</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950" b="1" dirty="0">
                          <a:solidFill>
                            <a:srgbClr val="1E293B"/>
                          </a:solidFill>
                          <a:latin typeface="Calibri" pitchFamily="34" charset="0"/>
                          <a:ea typeface="Calibri" pitchFamily="34" charset="-122"/>
                          <a:cs typeface="Calibri" pitchFamily="34" charset="-120"/>
                        </a:rPr>
                        <a:t>Mitigation</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1F5F9"/>
                    </a:solidFill>
                  </a:tcPr>
                </a:tc>
              </a:tr>
              <a:tr h="274320">
                <a:tc>
                  <a:txBody>
                    <a:bodyPr/>
                    <a:lstStyle/>
                    <a:p>
                      <a:pPr indent="0" marL="0">
                        <a:buNone/>
                      </a:pPr>
                      <a:r>
                        <a:rPr lang="en-US" sz="950" b="1" dirty="0">
                          <a:solidFill>
                            <a:srgbClr val="0F172A"/>
                          </a:solidFill>
                          <a:latin typeface="Calibri" pitchFamily="34" charset="0"/>
                          <a:ea typeface="Calibri" pitchFamily="34" charset="-122"/>
                          <a:cs typeface="Calibri" pitchFamily="34" charset="-120"/>
                        </a:rPr>
                        <a:t>R1</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Divergence classes beyond D1–D7</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High</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High</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The grammar-directed generator searches the space we did not think of; every new class becomes a catalogued row and a regression test</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r>
              <a:tr h="274320">
                <a:tc>
                  <a:txBody>
                    <a:bodyPr/>
                    <a:lstStyle/>
                    <a:p>
                      <a:pPr indent="0" marL="0">
                        <a:buNone/>
                      </a:pPr>
                      <a:r>
                        <a:rPr lang="en-US" sz="950" b="1" dirty="0">
                          <a:solidFill>
                            <a:srgbClr val="0F172A"/>
                          </a:solidFill>
                          <a:latin typeface="Calibri" pitchFamily="34" charset="0"/>
                          <a:ea typeface="Calibri" pitchFamily="34" charset="-122"/>
                          <a:cs typeface="Calibri" pitchFamily="34" charset="-120"/>
                        </a:rPr>
                        <a:t>R2</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Overflow guards cost performance</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Med</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Med</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Already measured at ~2× on Collatz. Review 2 adds interval analysis to elide provably safe guards — a real dataflow pass</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r>
              <a:tr h="274320">
                <a:tc>
                  <a:txBody>
                    <a:bodyPr/>
                    <a:lstStyle/>
                    <a:p>
                      <a:pPr indent="0" marL="0">
                        <a:buNone/>
                      </a:pPr>
                      <a:r>
                        <a:rPr lang="en-US" sz="950" b="1" dirty="0">
                          <a:solidFill>
                            <a:srgbClr val="0F172A"/>
                          </a:solidFill>
                          <a:latin typeface="Calibri" pitchFamily="34" charset="0"/>
                          <a:ea typeface="Calibri" pitchFamily="34" charset="-122"/>
                          <a:cs typeface="Calibri" pitchFamily="34" charset="-120"/>
                        </a:rPr>
                        <a:t>R3</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Scope creep into classes and dicts</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High</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High</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Scope frozen in the Week-1 minutes; the checker rejects out-of-subset constructs by name and states the review they land in</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r>
              <a:tr h="274320">
                <a:tc>
                  <a:txBody>
                    <a:bodyPr/>
                    <a:lstStyle/>
                    <a:p>
                      <a:pPr indent="0" marL="0">
                        <a:buNone/>
                      </a:pPr>
                      <a:r>
                        <a:rPr lang="en-US" sz="950" b="1" dirty="0">
                          <a:solidFill>
                            <a:srgbClr val="0F172A"/>
                          </a:solidFill>
                          <a:latin typeface="Calibri" pitchFamily="34" charset="0"/>
                          <a:ea typeface="Calibri" pitchFamily="34" charset="-122"/>
                          <a:cs typeface="Calibri" pitchFamily="34" charset="-120"/>
                        </a:rPr>
                        <a:t>R4</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A member unavailable near a review</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Med</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High</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Every module has a documented interface, a primary and a named secondary owner; the oracle localises a failure automatically</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r>
              <a:tr h="274320">
                <a:tc>
                  <a:txBody>
                    <a:bodyPr/>
                    <a:lstStyle/>
                    <a:p>
                      <a:pPr indent="0" marL="0">
                        <a:buNone/>
                      </a:pPr>
                      <a:r>
                        <a:rPr lang="en-US" sz="950" b="1" dirty="0">
                          <a:solidFill>
                            <a:srgbClr val="0F172A"/>
                          </a:solidFill>
                          <a:latin typeface="Calibri" pitchFamily="34" charset="0"/>
                          <a:ea typeface="Calibri" pitchFamily="34" charset="-122"/>
                          <a:cs typeface="Calibri" pitchFamily="34" charset="-120"/>
                        </a:rPr>
                        <a:t>R5</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Generated C fails on another toolchain</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Low</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Med</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CI compiles under gcc and clang with -Wall; GNU-extension use is confined to three sites with a known ISO fallback</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r>
              <a:tr h="274320">
                <a:tc>
                  <a:txBody>
                    <a:bodyPr/>
                    <a:lstStyle/>
                    <a:p>
                      <a:pPr indent="0" marL="0">
                        <a:buNone/>
                      </a:pPr>
                      <a:r>
                        <a:rPr lang="en-US" sz="950" b="1" dirty="0">
                          <a:solidFill>
                            <a:srgbClr val="0F172A"/>
                          </a:solidFill>
                          <a:latin typeface="Calibri" pitchFamily="34" charset="0"/>
                          <a:ea typeface="Calibri" pitchFamily="34" charset="-122"/>
                          <a:cs typeface="Calibri" pitchFamily="34" charset="-120"/>
                        </a:rPr>
                        <a:t>R6</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Type checker unsound</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Med</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High</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This is precisely what the oracle detects — four such bugs were found and fixed this way in Week 3</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8040319" cy="566928"/>
          </a:xfrm>
          <a:prstGeom prst="rect">
            <a:avLst/>
          </a:prstGeom>
          <a:noFill/>
          <a:ln/>
        </p:spPr>
        <p:txBody>
          <a:bodyPr wrap="square" lIns="0" tIns="0" rIns="0" bIns="0" rtlCol="0" anchor="ctr"/>
          <a:lstStyle/>
          <a:p>
            <a:pPr indent="0" marL="0">
              <a:buNone/>
            </a:pPr>
            <a:r>
              <a:rPr lang="en-US" sz="2400" b="1" dirty="0">
                <a:solidFill>
                  <a:srgbClr val="0F172A"/>
                </a:solidFill>
              </a:rPr>
              <a:t>Methodology — six stages and a verification loop</a:t>
            </a:r>
            <a:endParaRPr lang="en-US" sz="2400" dirty="0"/>
          </a:p>
        </p:txBody>
      </p:sp>
      <p:sp>
        <p:nvSpPr>
          <p:cNvPr id="3" name="Shape 1"/>
          <p:cNvSpPr/>
          <p:nvPr/>
        </p:nvSpPr>
        <p:spPr>
          <a:xfrm>
            <a:off x="8835847" y="310896"/>
            <a:ext cx="2788920" cy="310896"/>
          </a:xfrm>
          <a:prstGeom prst="roundRect">
            <a:avLst>
              <a:gd name="adj" fmla="val 50000"/>
            </a:avLst>
          </a:prstGeom>
          <a:solidFill>
            <a:srgbClr val="F1F5F9"/>
          </a:solidFill>
          <a:ln w="9525">
            <a:solidFill>
              <a:srgbClr val="E2E8F0"/>
            </a:solidFill>
            <a:prstDash val="solid"/>
          </a:ln>
        </p:spPr>
      </p:sp>
      <p:sp>
        <p:nvSpPr>
          <p:cNvPr id="4" name="Text 2"/>
          <p:cNvSpPr/>
          <p:nvPr/>
        </p:nvSpPr>
        <p:spPr>
          <a:xfrm>
            <a:off x="8835847" y="310896"/>
            <a:ext cx="2788920" cy="310896"/>
          </a:xfrm>
          <a:prstGeom prst="rect">
            <a:avLst/>
          </a:prstGeom>
          <a:noFill/>
          <a:ln/>
        </p:spPr>
        <p:txBody>
          <a:bodyPr wrap="square" lIns="0" tIns="0" rIns="0" bIns="0" rtlCol="0" anchor="ctr"/>
          <a:lstStyle/>
          <a:p>
            <a:pPr algn="ctr" indent="0" marL="0">
              <a:buNone/>
            </a:pPr>
            <a:r>
              <a:rPr lang="en-US" sz="900" b="1" spc="80" kern="0" dirty="0">
                <a:solidFill>
                  <a:srgbClr val="334155"/>
                </a:solidFill>
              </a:rPr>
              <a:t>MEMBER 3 · JAHNAVI</a:t>
            </a:r>
            <a:endParaRPr lang="en-US" sz="900" dirty="0"/>
          </a:p>
        </p:txBody>
      </p:sp>
      <p:sp>
        <p:nvSpPr>
          <p:cNvPr id="5" name="Text 3"/>
          <p:cNvSpPr/>
          <p:nvPr/>
        </p:nvSpPr>
        <p:spPr>
          <a:xfrm>
            <a:off x="11076127" y="6382512"/>
            <a:ext cx="548640" cy="274320"/>
          </a:xfrm>
          <a:prstGeom prst="rect">
            <a:avLst/>
          </a:prstGeom>
          <a:noFill/>
          <a:ln/>
        </p:spPr>
        <p:txBody>
          <a:bodyPr wrap="square" lIns="0" tIns="0" rIns="0" bIns="0" rtlCol="0" anchor="ctr"/>
          <a:lstStyle/>
          <a:p>
            <a:pPr algn="r" indent="0" marL="0">
              <a:buNone/>
            </a:pPr>
            <a:r>
              <a:rPr lang="en-US" sz="1000" dirty="0">
                <a:solidFill>
                  <a:srgbClr val="64748B"/>
                </a:solidFill>
              </a:rPr>
              <a:t>7</a:t>
            </a:r>
            <a:endParaRPr lang="en-US" sz="1000" dirty="0"/>
          </a:p>
        </p:txBody>
      </p:sp>
      <p:sp>
        <p:nvSpPr>
          <p:cNvPr id="6" name="Text 4"/>
          <p:cNvSpPr/>
          <p:nvPr/>
        </p:nvSpPr>
        <p:spPr>
          <a:xfrm>
            <a:off x="566928" y="6382512"/>
            <a:ext cx="5486400" cy="274320"/>
          </a:xfrm>
          <a:prstGeom prst="rect">
            <a:avLst/>
          </a:prstGeom>
          <a:noFill/>
          <a:ln/>
        </p:spPr>
        <p:txBody>
          <a:bodyPr wrap="square" lIns="0" tIns="0" rIns="0" bIns="0" rtlCol="0" anchor="ctr"/>
          <a:lstStyle/>
          <a:p>
            <a:pPr indent="0" marL="0">
              <a:buNone/>
            </a:pPr>
            <a:r>
              <a:rPr lang="en-US" sz="900" dirty="0">
                <a:solidFill>
                  <a:srgbClr val="94A3B8"/>
                </a:solidFill>
              </a:rPr>
              <a:t>PYTHIA  ·  BCSE307L Team 2  ·  Project A15</a:t>
            </a:r>
            <a:endParaRPr lang="en-US" sz="900" dirty="0"/>
          </a:p>
        </p:txBody>
      </p:sp>
      <p:sp>
        <p:nvSpPr>
          <p:cNvPr id="7" name="Shape 5"/>
          <p:cNvSpPr/>
          <p:nvPr/>
        </p:nvSpPr>
        <p:spPr>
          <a:xfrm>
            <a:off x="566928" y="969264"/>
            <a:ext cx="11057839" cy="768096"/>
          </a:xfrm>
          <a:prstGeom prst="roundRect">
            <a:avLst>
              <a:gd name="adj" fmla="val 7143"/>
            </a:avLst>
          </a:prstGeom>
          <a:solidFill>
            <a:srgbClr val="F1F5F9"/>
          </a:solidFill>
          <a:ln w="9525">
            <a:solidFill>
              <a:srgbClr val="E2E8F0"/>
            </a:solidFill>
            <a:prstDash val="solid"/>
          </a:ln>
        </p:spPr>
      </p:sp>
      <p:sp>
        <p:nvSpPr>
          <p:cNvPr id="8" name="Shape 6"/>
          <p:cNvSpPr/>
          <p:nvPr/>
        </p:nvSpPr>
        <p:spPr>
          <a:xfrm>
            <a:off x="749808" y="1170432"/>
            <a:ext cx="365760" cy="365760"/>
          </a:xfrm>
          <a:prstGeom prst="ellipse">
            <a:avLst/>
          </a:prstGeom>
          <a:solidFill>
            <a:srgbClr val="F59E0B"/>
          </a:solidFill>
          <a:ln w="12700">
            <a:solidFill>
              <a:srgbClr val="333333"/>
            </a:solidFill>
            <a:prstDash val="solid"/>
          </a:ln>
        </p:spPr>
      </p:sp>
      <p:sp>
        <p:nvSpPr>
          <p:cNvPr id="9" name="Text 7"/>
          <p:cNvSpPr/>
          <p:nvPr/>
        </p:nvSpPr>
        <p:spPr>
          <a:xfrm>
            <a:off x="749808" y="117043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0" name="Text 8"/>
          <p:cNvSpPr/>
          <p:nvPr/>
        </p:nvSpPr>
        <p:spPr>
          <a:xfrm>
            <a:off x="1261872" y="1078992"/>
            <a:ext cx="2743200" cy="548640"/>
          </a:xfrm>
          <a:prstGeom prst="rect">
            <a:avLst/>
          </a:prstGeom>
          <a:noFill/>
          <a:ln/>
        </p:spPr>
        <p:txBody>
          <a:bodyPr wrap="square" lIns="0" tIns="0" rIns="0" bIns="0" rtlCol="0" anchor="ctr"/>
          <a:lstStyle/>
          <a:p>
            <a:pPr indent="0" marL="0">
              <a:lnSpc>
                <a:spcPts val="1400"/>
              </a:lnSpc>
              <a:buNone/>
            </a:pPr>
            <a:r>
              <a:rPr lang="en-US" sz="1250" b="1" dirty="0">
                <a:solidFill>
                  <a:srgbClr val="0F172A"/>
                </a:solidFill>
              </a:rPr>
              <a:t>Specify before implementing</a:t>
            </a:r>
            <a:endParaRPr lang="en-US" sz="1250" dirty="0"/>
          </a:p>
        </p:txBody>
      </p:sp>
      <p:sp>
        <p:nvSpPr>
          <p:cNvPr id="11" name="Text 9"/>
          <p:cNvSpPr/>
          <p:nvPr/>
        </p:nvSpPr>
        <p:spPr>
          <a:xfrm>
            <a:off x="4133088" y="1060704"/>
            <a:ext cx="7308799" cy="585216"/>
          </a:xfrm>
          <a:prstGeom prst="rect">
            <a:avLst/>
          </a:prstGeom>
          <a:noFill/>
          <a:ln/>
        </p:spPr>
        <p:txBody>
          <a:bodyPr wrap="square" lIns="0" tIns="0" rIns="0" bIns="0" rtlCol="0" anchor="ctr"/>
          <a:lstStyle/>
          <a:p>
            <a:pPr indent="0" marL="0">
              <a:lnSpc>
                <a:spcPts val="1250"/>
              </a:lnSpc>
              <a:buNone/>
            </a:pPr>
            <a:r>
              <a:rPr lang="en-US" sz="1000" dirty="0">
                <a:solidFill>
                  <a:srgbClr val="334155"/>
                </a:solidFill>
              </a:rPr>
              <a:t>PySub is defined in EBNF first — 41 productions. Everything the grammar does not admit is rejected by name, with the review it is scheduled for. This is what makes exclusions decisions rather than omissions, and it later doubles as the sampling distribution for the random program generator.</a:t>
            </a:r>
            <a:endParaRPr lang="en-US" sz="1000" dirty="0"/>
          </a:p>
        </p:txBody>
      </p:sp>
      <p:sp>
        <p:nvSpPr>
          <p:cNvPr id="12" name="Shape 10"/>
          <p:cNvSpPr/>
          <p:nvPr/>
        </p:nvSpPr>
        <p:spPr>
          <a:xfrm>
            <a:off x="566928" y="1828800"/>
            <a:ext cx="11057839" cy="768096"/>
          </a:xfrm>
          <a:prstGeom prst="roundRect">
            <a:avLst>
              <a:gd name="adj" fmla="val 7143"/>
            </a:avLst>
          </a:prstGeom>
          <a:solidFill>
            <a:srgbClr val="F1F5F9"/>
          </a:solidFill>
          <a:ln w="9525">
            <a:solidFill>
              <a:srgbClr val="E2E8F0"/>
            </a:solidFill>
            <a:prstDash val="solid"/>
          </a:ln>
        </p:spPr>
      </p:sp>
      <p:sp>
        <p:nvSpPr>
          <p:cNvPr id="13" name="Shape 11"/>
          <p:cNvSpPr/>
          <p:nvPr/>
        </p:nvSpPr>
        <p:spPr>
          <a:xfrm>
            <a:off x="749808" y="2029968"/>
            <a:ext cx="365760" cy="365760"/>
          </a:xfrm>
          <a:prstGeom prst="ellipse">
            <a:avLst/>
          </a:prstGeom>
          <a:solidFill>
            <a:srgbClr val="0D9488"/>
          </a:solidFill>
          <a:ln w="12700">
            <a:solidFill>
              <a:srgbClr val="333333"/>
            </a:solidFill>
            <a:prstDash val="solid"/>
          </a:ln>
        </p:spPr>
      </p:sp>
      <p:sp>
        <p:nvSpPr>
          <p:cNvPr id="14" name="Text 12"/>
          <p:cNvSpPr/>
          <p:nvPr/>
        </p:nvSpPr>
        <p:spPr>
          <a:xfrm>
            <a:off x="749808" y="202996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5" name="Text 13"/>
          <p:cNvSpPr/>
          <p:nvPr/>
        </p:nvSpPr>
        <p:spPr>
          <a:xfrm>
            <a:off x="1261872" y="1938528"/>
            <a:ext cx="2743200" cy="548640"/>
          </a:xfrm>
          <a:prstGeom prst="rect">
            <a:avLst/>
          </a:prstGeom>
          <a:noFill/>
          <a:ln/>
        </p:spPr>
        <p:txBody>
          <a:bodyPr wrap="square" lIns="0" tIns="0" rIns="0" bIns="0" rtlCol="0" anchor="ctr"/>
          <a:lstStyle/>
          <a:p>
            <a:pPr indent="0" marL="0">
              <a:lnSpc>
                <a:spcPts val="1400"/>
              </a:lnSpc>
              <a:buNone/>
            </a:pPr>
            <a:r>
              <a:rPr lang="en-US" sz="1250" b="1" dirty="0">
                <a:solidFill>
                  <a:srgbClr val="0F172A"/>
                </a:solidFill>
              </a:rPr>
              <a:t>Reify layout, then parse</a:t>
            </a:r>
            <a:endParaRPr lang="en-US" sz="1250" dirty="0"/>
          </a:p>
        </p:txBody>
      </p:sp>
      <p:sp>
        <p:nvSpPr>
          <p:cNvPr id="16" name="Text 14"/>
          <p:cNvSpPr/>
          <p:nvPr/>
        </p:nvSpPr>
        <p:spPr>
          <a:xfrm>
            <a:off x="4133088" y="1920240"/>
            <a:ext cx="7308799" cy="585216"/>
          </a:xfrm>
          <a:prstGeom prst="rect">
            <a:avLst/>
          </a:prstGeom>
          <a:noFill/>
          <a:ln/>
        </p:spPr>
        <p:txBody>
          <a:bodyPr wrap="square" lIns="0" tIns="0" rIns="0" bIns="0" rtlCol="0" anchor="ctr"/>
          <a:lstStyle/>
          <a:p>
            <a:pPr indent="0" marL="0">
              <a:lnSpc>
                <a:spcPts val="1250"/>
              </a:lnSpc>
              <a:buNone/>
            </a:pPr>
            <a:r>
              <a:rPr lang="en-US" sz="1000" dirty="0">
                <a:solidFill>
                  <a:srgbClr val="334155"/>
                </a:solidFill>
              </a:rPr>
              <a:t>The scanner turns indentation into INDENT / DEDENT using a stack of column widths, so the parser sees explicit blocks. Statements by recursive descent, expressions by precedence climbing, errors recovered in panic mode so one run reports many.</a:t>
            </a:r>
            <a:endParaRPr lang="en-US" sz="1000" dirty="0"/>
          </a:p>
        </p:txBody>
      </p:sp>
      <p:sp>
        <p:nvSpPr>
          <p:cNvPr id="17" name="Shape 15"/>
          <p:cNvSpPr/>
          <p:nvPr/>
        </p:nvSpPr>
        <p:spPr>
          <a:xfrm>
            <a:off x="566928" y="2688336"/>
            <a:ext cx="11057839" cy="768096"/>
          </a:xfrm>
          <a:prstGeom prst="roundRect">
            <a:avLst>
              <a:gd name="adj" fmla="val 7143"/>
            </a:avLst>
          </a:prstGeom>
          <a:solidFill>
            <a:srgbClr val="F1F5F9"/>
          </a:solidFill>
          <a:ln w="9525">
            <a:solidFill>
              <a:srgbClr val="E2E8F0"/>
            </a:solidFill>
            <a:prstDash val="solid"/>
          </a:ln>
        </p:spPr>
      </p:sp>
      <p:sp>
        <p:nvSpPr>
          <p:cNvPr id="18" name="Shape 16"/>
          <p:cNvSpPr/>
          <p:nvPr/>
        </p:nvSpPr>
        <p:spPr>
          <a:xfrm>
            <a:off x="749808" y="2889504"/>
            <a:ext cx="365760" cy="365760"/>
          </a:xfrm>
          <a:prstGeom prst="ellipse">
            <a:avLst/>
          </a:prstGeom>
          <a:solidFill>
            <a:srgbClr val="F97316"/>
          </a:solidFill>
          <a:ln w="12700">
            <a:solidFill>
              <a:srgbClr val="333333"/>
            </a:solidFill>
            <a:prstDash val="solid"/>
          </a:ln>
        </p:spPr>
      </p:sp>
      <p:sp>
        <p:nvSpPr>
          <p:cNvPr id="19" name="Text 17"/>
          <p:cNvSpPr/>
          <p:nvPr/>
        </p:nvSpPr>
        <p:spPr>
          <a:xfrm>
            <a:off x="749808" y="288950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20" name="Text 18"/>
          <p:cNvSpPr/>
          <p:nvPr/>
        </p:nvSpPr>
        <p:spPr>
          <a:xfrm>
            <a:off x="1261872" y="2798064"/>
            <a:ext cx="2743200" cy="548640"/>
          </a:xfrm>
          <a:prstGeom prst="rect">
            <a:avLst/>
          </a:prstGeom>
          <a:noFill/>
          <a:ln/>
        </p:spPr>
        <p:txBody>
          <a:bodyPr wrap="square" lIns="0" tIns="0" rIns="0" bIns="0" rtlCol="0" anchor="ctr"/>
          <a:lstStyle/>
          <a:p>
            <a:pPr indent="0" marL="0">
              <a:lnSpc>
                <a:spcPts val="1400"/>
              </a:lnSpc>
              <a:buNone/>
            </a:pPr>
            <a:r>
              <a:rPr lang="en-US" sz="1250" b="1" dirty="0">
                <a:solidFill>
                  <a:srgbClr val="0F172A"/>
                </a:solidFill>
              </a:rPr>
              <a:t>Check types bidirectionally</a:t>
            </a:r>
            <a:endParaRPr lang="en-US" sz="1250" dirty="0"/>
          </a:p>
        </p:txBody>
      </p:sp>
      <p:sp>
        <p:nvSpPr>
          <p:cNvPr id="21" name="Text 19"/>
          <p:cNvSpPr/>
          <p:nvPr/>
        </p:nvSpPr>
        <p:spPr>
          <a:xfrm>
            <a:off x="4133088" y="2779776"/>
            <a:ext cx="7308799" cy="585216"/>
          </a:xfrm>
          <a:prstGeom prst="rect">
            <a:avLst/>
          </a:prstGeom>
          <a:noFill/>
          <a:ln/>
        </p:spPr>
        <p:txBody>
          <a:bodyPr wrap="square" lIns="0" tIns="0" rIns="0" bIns="0" rtlCol="0" anchor="ctr"/>
          <a:lstStyle/>
          <a:p>
            <a:pPr indent="0" marL="0">
              <a:lnSpc>
                <a:spcPts val="1250"/>
              </a:lnSpc>
              <a:buNone/>
            </a:pPr>
            <a:r>
              <a:rPr lang="en-US" sz="1000" dirty="0">
                <a:solidFill>
                  <a:srgbClr val="334155"/>
                </a:solidFill>
              </a:rPr>
              <a:t>A parent-linked scope chain resolves names. Every local takes its type from its first binding and keeps it — the restriction that makes translation to a statically typed target sound, and the one place PySub is genuinely narrower than Python rather than merely smaller.</a:t>
            </a:r>
            <a:endParaRPr lang="en-US" sz="1000" dirty="0"/>
          </a:p>
        </p:txBody>
      </p:sp>
      <p:sp>
        <p:nvSpPr>
          <p:cNvPr id="22" name="Shape 20"/>
          <p:cNvSpPr/>
          <p:nvPr/>
        </p:nvSpPr>
        <p:spPr>
          <a:xfrm>
            <a:off x="566928" y="3547872"/>
            <a:ext cx="11057839" cy="768096"/>
          </a:xfrm>
          <a:prstGeom prst="roundRect">
            <a:avLst>
              <a:gd name="adj" fmla="val 7143"/>
            </a:avLst>
          </a:prstGeom>
          <a:solidFill>
            <a:srgbClr val="F1F5F9"/>
          </a:solidFill>
          <a:ln w="9525">
            <a:solidFill>
              <a:srgbClr val="E2E8F0"/>
            </a:solidFill>
            <a:prstDash val="solid"/>
          </a:ln>
        </p:spPr>
      </p:sp>
      <p:sp>
        <p:nvSpPr>
          <p:cNvPr id="23" name="Shape 21"/>
          <p:cNvSpPr/>
          <p:nvPr/>
        </p:nvSpPr>
        <p:spPr>
          <a:xfrm>
            <a:off x="749808" y="3749040"/>
            <a:ext cx="365760" cy="365760"/>
          </a:xfrm>
          <a:prstGeom prst="ellipse">
            <a:avLst/>
          </a:prstGeom>
          <a:solidFill>
            <a:srgbClr val="8B5CF6"/>
          </a:solidFill>
          <a:ln w="12700">
            <a:solidFill>
              <a:srgbClr val="333333"/>
            </a:solidFill>
            <a:prstDash val="solid"/>
          </a:ln>
        </p:spPr>
      </p:sp>
      <p:sp>
        <p:nvSpPr>
          <p:cNvPr id="24" name="Text 22"/>
          <p:cNvSpPr/>
          <p:nvPr/>
        </p:nvSpPr>
        <p:spPr>
          <a:xfrm>
            <a:off x="749808" y="37490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5" name="Text 23"/>
          <p:cNvSpPr/>
          <p:nvPr/>
        </p:nvSpPr>
        <p:spPr>
          <a:xfrm>
            <a:off x="1261872" y="3657600"/>
            <a:ext cx="2743200" cy="548640"/>
          </a:xfrm>
          <a:prstGeom prst="rect">
            <a:avLst/>
          </a:prstGeom>
          <a:noFill/>
          <a:ln/>
        </p:spPr>
        <p:txBody>
          <a:bodyPr wrap="square" lIns="0" tIns="0" rIns="0" bIns="0" rtlCol="0" anchor="ctr"/>
          <a:lstStyle/>
          <a:p>
            <a:pPr indent="0" marL="0">
              <a:lnSpc>
                <a:spcPts val="1400"/>
              </a:lnSpc>
              <a:buNone/>
            </a:pPr>
            <a:r>
              <a:rPr lang="en-US" sz="1250" b="1" dirty="0">
                <a:solidFill>
                  <a:srgbClr val="0F172A"/>
                </a:solidFill>
              </a:rPr>
              <a:t>Normalise the gap and record it</a:t>
            </a:r>
            <a:endParaRPr lang="en-US" sz="1250" dirty="0"/>
          </a:p>
        </p:txBody>
      </p:sp>
      <p:sp>
        <p:nvSpPr>
          <p:cNvPr id="26" name="Text 24"/>
          <p:cNvSpPr/>
          <p:nvPr/>
        </p:nvSpPr>
        <p:spPr>
          <a:xfrm>
            <a:off x="4133088" y="3639312"/>
            <a:ext cx="7308799" cy="585216"/>
          </a:xfrm>
          <a:prstGeom prst="rect">
            <a:avLst/>
          </a:prstGeom>
          <a:noFill/>
          <a:ln/>
        </p:spPr>
        <p:txBody>
          <a:bodyPr wrap="square" lIns="0" tIns="0" rIns="0" bIns="0" rtlCol="0" anchor="ctr"/>
          <a:lstStyle/>
          <a:p>
            <a:pPr indent="0" marL="0">
              <a:lnSpc>
                <a:spcPts val="1250"/>
              </a:lnSpc>
              <a:buNone/>
            </a:pPr>
            <a:r>
              <a:rPr lang="en-US" sz="1000" dirty="0">
                <a:solidFill>
                  <a:srgbClr val="334155"/>
                </a:solidFill>
              </a:rPr>
              <a:t>Lowering makes every implicit coercion explicit, so PIR is homogeneously typed and the emitter never guesses. In the same walk it tags each divergence against D1–D7 and accumulates the Fidelity Report — in the compiler, so it cannot go stale.</a:t>
            </a:r>
            <a:endParaRPr lang="en-US" sz="1000" dirty="0"/>
          </a:p>
        </p:txBody>
      </p:sp>
      <p:sp>
        <p:nvSpPr>
          <p:cNvPr id="27" name="Shape 25"/>
          <p:cNvSpPr/>
          <p:nvPr/>
        </p:nvSpPr>
        <p:spPr>
          <a:xfrm>
            <a:off x="566928" y="4407408"/>
            <a:ext cx="11057839" cy="768096"/>
          </a:xfrm>
          <a:prstGeom prst="roundRect">
            <a:avLst>
              <a:gd name="adj" fmla="val 7143"/>
            </a:avLst>
          </a:prstGeom>
          <a:solidFill>
            <a:srgbClr val="F1F5F9"/>
          </a:solidFill>
          <a:ln w="9525">
            <a:solidFill>
              <a:srgbClr val="E2E8F0"/>
            </a:solidFill>
            <a:prstDash val="solid"/>
          </a:ln>
        </p:spPr>
      </p:sp>
      <p:sp>
        <p:nvSpPr>
          <p:cNvPr id="28" name="Shape 26"/>
          <p:cNvSpPr/>
          <p:nvPr/>
        </p:nvSpPr>
        <p:spPr>
          <a:xfrm>
            <a:off x="749808" y="4608576"/>
            <a:ext cx="365760" cy="365760"/>
          </a:xfrm>
          <a:prstGeom prst="ellipse">
            <a:avLst/>
          </a:prstGeom>
          <a:solidFill>
            <a:srgbClr val="0EA5E9"/>
          </a:solidFill>
          <a:ln w="12700">
            <a:solidFill>
              <a:srgbClr val="333333"/>
            </a:solidFill>
            <a:prstDash val="solid"/>
          </a:ln>
        </p:spPr>
      </p:sp>
      <p:sp>
        <p:nvSpPr>
          <p:cNvPr id="29" name="Text 27"/>
          <p:cNvSpPr/>
          <p:nvPr/>
        </p:nvSpPr>
        <p:spPr>
          <a:xfrm>
            <a:off x="749808" y="460857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30" name="Text 28"/>
          <p:cNvSpPr/>
          <p:nvPr/>
        </p:nvSpPr>
        <p:spPr>
          <a:xfrm>
            <a:off x="1261872" y="4517136"/>
            <a:ext cx="2743200" cy="548640"/>
          </a:xfrm>
          <a:prstGeom prst="rect">
            <a:avLst/>
          </a:prstGeom>
          <a:noFill/>
          <a:ln/>
        </p:spPr>
        <p:txBody>
          <a:bodyPr wrap="square" lIns="0" tIns="0" rIns="0" bIns="0" rtlCol="0" anchor="ctr"/>
          <a:lstStyle/>
          <a:p>
            <a:pPr indent="0" marL="0">
              <a:lnSpc>
                <a:spcPts val="1400"/>
              </a:lnSpc>
              <a:buNone/>
            </a:pPr>
            <a:r>
              <a:rPr lang="en-US" sz="1250" b="1" dirty="0">
                <a:solidFill>
                  <a:srgbClr val="0F172A"/>
                </a:solidFill>
              </a:rPr>
              <a:t>Emit readable C; push hard cases to a runtime</a:t>
            </a:r>
            <a:endParaRPr lang="en-US" sz="1250" dirty="0"/>
          </a:p>
        </p:txBody>
      </p:sp>
      <p:sp>
        <p:nvSpPr>
          <p:cNvPr id="31" name="Text 29"/>
          <p:cNvSpPr/>
          <p:nvPr/>
        </p:nvSpPr>
        <p:spPr>
          <a:xfrm>
            <a:off x="4133088" y="4498848"/>
            <a:ext cx="7308799" cy="585216"/>
          </a:xfrm>
          <a:prstGeom prst="rect">
            <a:avLst/>
          </a:prstGeom>
          <a:noFill/>
          <a:ln/>
        </p:spPr>
        <p:txBody>
          <a:bodyPr wrap="square" lIns="0" tIns="0" rIns="0" bIns="0" rtlCol="0" anchor="ctr"/>
          <a:lstStyle/>
          <a:p>
            <a:pPr indent="0" marL="0">
              <a:lnSpc>
                <a:spcPts val="1250"/>
              </a:lnSpc>
              <a:buNone/>
            </a:pPr>
            <a:r>
              <a:rPr lang="en-US" sz="1000" dirty="0">
                <a:solidFill>
                  <a:srgbClr val="334155"/>
                </a:solidFill>
              </a:rPr>
              <a:t>Where Python differs from C the emitter calls pyrt rather than open-coding a fix — py_mod_i64, not an inline sign correction. Semantic decisions stay in one auditable file. Lists are monomorphised, not boxed: that is what makes the typing pay for itself.</a:t>
            </a:r>
            <a:endParaRPr lang="en-US" sz="1000" dirty="0"/>
          </a:p>
        </p:txBody>
      </p:sp>
      <p:sp>
        <p:nvSpPr>
          <p:cNvPr id="32" name="Shape 30"/>
          <p:cNvSpPr/>
          <p:nvPr/>
        </p:nvSpPr>
        <p:spPr>
          <a:xfrm>
            <a:off x="566928" y="5266944"/>
            <a:ext cx="11057839" cy="768096"/>
          </a:xfrm>
          <a:prstGeom prst="roundRect">
            <a:avLst>
              <a:gd name="adj" fmla="val 7143"/>
            </a:avLst>
          </a:prstGeom>
          <a:solidFill>
            <a:srgbClr val="FEF2F2"/>
          </a:solidFill>
          <a:ln w="9525">
            <a:solidFill>
              <a:srgbClr val="FECACA"/>
            </a:solidFill>
            <a:prstDash val="solid"/>
          </a:ln>
        </p:spPr>
      </p:sp>
      <p:sp>
        <p:nvSpPr>
          <p:cNvPr id="33" name="Shape 31"/>
          <p:cNvSpPr/>
          <p:nvPr/>
        </p:nvSpPr>
        <p:spPr>
          <a:xfrm>
            <a:off x="749808" y="5468112"/>
            <a:ext cx="365760" cy="365760"/>
          </a:xfrm>
          <a:prstGeom prst="ellipse">
            <a:avLst/>
          </a:prstGeom>
          <a:solidFill>
            <a:srgbClr val="BE123C"/>
          </a:solidFill>
          <a:ln w="12700">
            <a:solidFill>
              <a:srgbClr val="333333"/>
            </a:solidFill>
            <a:prstDash val="solid"/>
          </a:ln>
        </p:spPr>
      </p:sp>
      <p:sp>
        <p:nvSpPr>
          <p:cNvPr id="34" name="Text 32"/>
          <p:cNvSpPr/>
          <p:nvPr/>
        </p:nvSpPr>
        <p:spPr>
          <a:xfrm>
            <a:off x="749808" y="546811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35" name="Text 33"/>
          <p:cNvSpPr/>
          <p:nvPr/>
        </p:nvSpPr>
        <p:spPr>
          <a:xfrm>
            <a:off x="1261872" y="5376672"/>
            <a:ext cx="2743200" cy="548640"/>
          </a:xfrm>
          <a:prstGeom prst="rect">
            <a:avLst/>
          </a:prstGeom>
          <a:noFill/>
          <a:ln/>
        </p:spPr>
        <p:txBody>
          <a:bodyPr wrap="square" lIns="0" tIns="0" rIns="0" bIns="0" rtlCol="0" anchor="ctr"/>
          <a:lstStyle/>
          <a:p>
            <a:pPr indent="0" marL="0">
              <a:lnSpc>
                <a:spcPts val="1400"/>
              </a:lnSpc>
              <a:buNone/>
            </a:pPr>
            <a:r>
              <a:rPr lang="en-US" sz="1250" b="1" dirty="0">
                <a:solidFill>
                  <a:srgbClr val="0F172A"/>
                </a:solidFill>
              </a:rPr>
              <a:t>Falsify the claim, continuously</a:t>
            </a:r>
            <a:endParaRPr lang="en-US" sz="1250" dirty="0"/>
          </a:p>
        </p:txBody>
      </p:sp>
      <p:sp>
        <p:nvSpPr>
          <p:cNvPr id="36" name="Text 34"/>
          <p:cNvSpPr/>
          <p:nvPr/>
        </p:nvSpPr>
        <p:spPr>
          <a:xfrm>
            <a:off x="4133088" y="5358384"/>
            <a:ext cx="7308799" cy="585216"/>
          </a:xfrm>
          <a:prstGeom prst="rect">
            <a:avLst/>
          </a:prstGeom>
          <a:noFill/>
          <a:ln/>
        </p:spPr>
        <p:txBody>
          <a:bodyPr wrap="square" lIns="0" tIns="0" rIns="0" bIns="0" rtlCol="0" anchor="ctr"/>
          <a:lstStyle/>
          <a:p>
            <a:pPr indent="0" marL="0">
              <a:lnSpc>
                <a:spcPts val="1250"/>
              </a:lnSpc>
              <a:buNone/>
            </a:pPr>
            <a:r>
              <a:rPr lang="en-US" sz="1000" dirty="0">
                <a:solidFill>
                  <a:srgbClr val="334155"/>
                </a:solidFill>
              </a:rPr>
              <a:t>Every positive program is run under CPython 3.12 and as a compiled binary; stdout compared byte for byte, exception class for exception class. Every negative program must be rejected with the message its marker names. Runs in CI on every push.</a:t>
            </a:r>
            <a:endParaRPr lang="en-US" sz="1000" dirty="0"/>
          </a:p>
        </p:txBody>
      </p:sp>
      <p:sp>
        <p:nvSpPr>
          <p:cNvPr id="37" name="Text 35"/>
          <p:cNvSpPr/>
          <p:nvPr/>
        </p:nvSpPr>
        <p:spPr>
          <a:xfrm>
            <a:off x="566928" y="6199632"/>
            <a:ext cx="11057839" cy="274320"/>
          </a:xfrm>
          <a:prstGeom prst="rect">
            <a:avLst/>
          </a:prstGeom>
          <a:noFill/>
          <a:ln/>
        </p:spPr>
        <p:txBody>
          <a:bodyPr wrap="square" lIns="0" tIns="0" rIns="0" bIns="0" rtlCol="0" anchor="ctr"/>
          <a:lstStyle/>
          <a:p>
            <a:pPr algn="ctr" indent="0" marL="0">
              <a:buNone/>
            </a:pPr>
            <a:r>
              <a:rPr lang="en-US" sz="1200" b="1" i="1" dirty="0">
                <a:solidFill>
                  <a:srgbClr val="B45309"/>
                </a:solidFill>
              </a:rPr>
              <a:t>Stages 1–5 are the compiler. Stage 6 is the reason to believe stages 1–5.</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8040319" cy="566928"/>
          </a:xfrm>
          <a:prstGeom prst="rect">
            <a:avLst/>
          </a:prstGeom>
          <a:noFill/>
          <a:ln/>
        </p:spPr>
        <p:txBody>
          <a:bodyPr wrap="square" lIns="0" tIns="0" rIns="0" bIns="0" rtlCol="0" anchor="ctr"/>
          <a:lstStyle/>
          <a:p>
            <a:pPr indent="0" marL="0">
              <a:buNone/>
            </a:pPr>
            <a:r>
              <a:rPr lang="en-US" sz="3000" b="1" dirty="0">
                <a:solidFill>
                  <a:srgbClr val="0F172A"/>
                </a:solidFill>
              </a:rPr>
              <a:t>System architecture and data flow</a:t>
            </a:r>
            <a:endParaRPr lang="en-US" sz="3000" dirty="0"/>
          </a:p>
        </p:txBody>
      </p:sp>
      <p:sp>
        <p:nvSpPr>
          <p:cNvPr id="3" name="Shape 1"/>
          <p:cNvSpPr/>
          <p:nvPr/>
        </p:nvSpPr>
        <p:spPr>
          <a:xfrm>
            <a:off x="8835847" y="310896"/>
            <a:ext cx="2788920" cy="310896"/>
          </a:xfrm>
          <a:prstGeom prst="roundRect">
            <a:avLst>
              <a:gd name="adj" fmla="val 50000"/>
            </a:avLst>
          </a:prstGeom>
          <a:solidFill>
            <a:srgbClr val="F1F5F9"/>
          </a:solidFill>
          <a:ln w="9525">
            <a:solidFill>
              <a:srgbClr val="E2E8F0"/>
            </a:solidFill>
            <a:prstDash val="solid"/>
          </a:ln>
        </p:spPr>
      </p:sp>
      <p:sp>
        <p:nvSpPr>
          <p:cNvPr id="4" name="Text 2"/>
          <p:cNvSpPr/>
          <p:nvPr/>
        </p:nvSpPr>
        <p:spPr>
          <a:xfrm>
            <a:off x="8835847" y="310896"/>
            <a:ext cx="2788920" cy="310896"/>
          </a:xfrm>
          <a:prstGeom prst="rect">
            <a:avLst/>
          </a:prstGeom>
          <a:noFill/>
          <a:ln/>
        </p:spPr>
        <p:txBody>
          <a:bodyPr wrap="square" lIns="0" tIns="0" rIns="0" bIns="0" rtlCol="0" anchor="ctr"/>
          <a:lstStyle/>
          <a:p>
            <a:pPr algn="ctr" indent="0" marL="0">
              <a:buNone/>
            </a:pPr>
            <a:r>
              <a:rPr lang="en-US" sz="900" b="1" spc="80" kern="0" dirty="0">
                <a:solidFill>
                  <a:srgbClr val="334155"/>
                </a:solidFill>
              </a:rPr>
              <a:t>MEMBER 3 · JAHNAVI</a:t>
            </a:r>
            <a:endParaRPr lang="en-US" sz="900" dirty="0"/>
          </a:p>
        </p:txBody>
      </p:sp>
      <p:sp>
        <p:nvSpPr>
          <p:cNvPr id="5" name="Text 3"/>
          <p:cNvSpPr/>
          <p:nvPr/>
        </p:nvSpPr>
        <p:spPr>
          <a:xfrm>
            <a:off x="11076127" y="6382512"/>
            <a:ext cx="548640" cy="274320"/>
          </a:xfrm>
          <a:prstGeom prst="rect">
            <a:avLst/>
          </a:prstGeom>
          <a:noFill/>
          <a:ln/>
        </p:spPr>
        <p:txBody>
          <a:bodyPr wrap="square" lIns="0" tIns="0" rIns="0" bIns="0" rtlCol="0" anchor="ctr"/>
          <a:lstStyle/>
          <a:p>
            <a:pPr algn="r" indent="0" marL="0">
              <a:buNone/>
            </a:pPr>
            <a:r>
              <a:rPr lang="en-US" sz="1000" dirty="0">
                <a:solidFill>
                  <a:srgbClr val="64748B"/>
                </a:solidFill>
              </a:rPr>
              <a:t>8</a:t>
            </a:r>
            <a:endParaRPr lang="en-US" sz="1000" dirty="0"/>
          </a:p>
        </p:txBody>
      </p:sp>
      <p:sp>
        <p:nvSpPr>
          <p:cNvPr id="6" name="Text 4"/>
          <p:cNvSpPr/>
          <p:nvPr/>
        </p:nvSpPr>
        <p:spPr>
          <a:xfrm>
            <a:off x="566928" y="6382512"/>
            <a:ext cx="5486400" cy="274320"/>
          </a:xfrm>
          <a:prstGeom prst="rect">
            <a:avLst/>
          </a:prstGeom>
          <a:noFill/>
          <a:ln/>
        </p:spPr>
        <p:txBody>
          <a:bodyPr wrap="square" lIns="0" tIns="0" rIns="0" bIns="0" rtlCol="0" anchor="ctr"/>
          <a:lstStyle/>
          <a:p>
            <a:pPr indent="0" marL="0">
              <a:buNone/>
            </a:pPr>
            <a:r>
              <a:rPr lang="en-US" sz="900" dirty="0">
                <a:solidFill>
                  <a:srgbClr val="94A3B8"/>
                </a:solidFill>
              </a:rPr>
              <a:t>PYTHIA  ·  BCSE307L Team 2  ·  Project A15</a:t>
            </a:r>
            <a:endParaRPr lang="en-US" sz="900" dirty="0"/>
          </a:p>
        </p:txBody>
      </p:sp>
      <p:pic>
        <p:nvPicPr>
          <p:cNvPr id="7" name="Image 0" descr="/home/claude/pythia/docs/architecture.png">    </p:cNvPr>
          <p:cNvPicPr>
            <a:picLocks noChangeAspect="1"/>
          </p:cNvPicPr>
          <p:nvPr/>
        </p:nvPicPr>
        <p:blipFill>
          <a:blip r:embed="rId1"/>
          <a:stretch>
            <a:fillRect/>
          </a:stretch>
        </p:blipFill>
        <p:spPr>
          <a:xfrm>
            <a:off x="365760" y="868680"/>
            <a:ext cx="3782344" cy="5532120"/>
          </a:xfrm>
          <a:prstGeom prst="rect">
            <a:avLst/>
          </a:prstGeom>
        </p:spPr>
      </p:pic>
      <p:sp>
        <p:nvSpPr>
          <p:cNvPr id="8" name="Text 5"/>
          <p:cNvSpPr/>
          <p:nvPr/>
        </p:nvSpPr>
        <p:spPr>
          <a:xfrm>
            <a:off x="4480560" y="932688"/>
            <a:ext cx="7223760" cy="329184"/>
          </a:xfrm>
          <a:prstGeom prst="rect">
            <a:avLst/>
          </a:prstGeom>
          <a:noFill/>
          <a:ln/>
        </p:spPr>
        <p:txBody>
          <a:bodyPr wrap="square" lIns="0" tIns="0" rIns="0" bIns="0" rtlCol="0" anchor="ctr"/>
          <a:lstStyle/>
          <a:p>
            <a:pPr indent="0" marL="0">
              <a:buNone/>
            </a:pPr>
            <a:r>
              <a:rPr lang="en-US" sz="1600" b="1" dirty="0">
                <a:solidFill>
                  <a:srgbClr val="0F172A"/>
                </a:solidFill>
              </a:rPr>
              <a:t>Six phases, two products</a:t>
            </a:r>
            <a:endParaRPr lang="en-US" sz="1600" dirty="0"/>
          </a:p>
        </p:txBody>
      </p:sp>
      <p:sp>
        <p:nvSpPr>
          <p:cNvPr id="9" name="Text 6"/>
          <p:cNvSpPr/>
          <p:nvPr/>
        </p:nvSpPr>
        <p:spPr>
          <a:xfrm>
            <a:off x="4480560" y="1280160"/>
            <a:ext cx="7223760" cy="658368"/>
          </a:xfrm>
          <a:prstGeom prst="rect">
            <a:avLst/>
          </a:prstGeom>
          <a:noFill/>
          <a:ln/>
        </p:spPr>
        <p:txBody>
          <a:bodyPr wrap="square" lIns="0" tIns="0" rIns="0" bIns="0" rtlCol="0" anchor="ctr"/>
          <a:lstStyle/>
          <a:p>
            <a:pPr indent="0" marL="0">
              <a:lnSpc>
                <a:spcPts val="1450"/>
              </a:lnSpc>
              <a:buNone/>
            </a:pPr>
            <a:r>
              <a:rPr lang="en-US" sz="1150" dirty="0">
                <a:solidFill>
                  <a:srgbClr val="334155"/>
                </a:solidFill>
              </a:rPr>
              <a:t>The dotted outputs — diagnostics and the fidelity report — are products of the pipeline, not by-products. A run that emits no C but a good diagnostic has succeeded. The dashed edge at the bottom closes the verification loop.</a:t>
            </a:r>
            <a:endParaRPr lang="en-US" sz="11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480560" y="2048256"/>
          <a:ext cx="7178040" cy="914400"/>
        </p:xfrm>
        <a:graphic>
          <a:graphicData uri="http://schemas.openxmlformats.org/drawingml/2006/table">
            <a:tbl>
              <a:tblPr/>
              <a:tblGrid>
                <a:gridCol w="1417320"/>
                <a:gridCol w="1234440"/>
                <a:gridCol w="4526280"/>
              </a:tblGrid>
              <a:tr h="384048">
                <a:tc>
                  <a:txBody>
                    <a:bodyPr/>
                    <a:lstStyle/>
                    <a:p>
                      <a:pPr indent="0" marL="0">
                        <a:buNone/>
                      </a:pPr>
                      <a:r>
                        <a:rPr lang="en-US" sz="950" b="1" dirty="0">
                          <a:solidFill>
                            <a:srgbClr val="1E293B"/>
                          </a:solidFill>
                          <a:latin typeface="Calibri" pitchFamily="34" charset="0"/>
                          <a:ea typeface="Calibri" pitchFamily="34" charset="-122"/>
                          <a:cs typeface="Calibri" pitchFamily="34" charset="-120"/>
                        </a:rPr>
                        <a:t>Representation</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950" b="1" dirty="0">
                          <a:solidFill>
                            <a:srgbClr val="1E293B"/>
                          </a:solidFill>
                          <a:latin typeface="Calibri" pitchFamily="34" charset="0"/>
                          <a:ea typeface="Calibri" pitchFamily="34" charset="-122"/>
                          <a:cs typeface="Calibri" pitchFamily="34" charset="-120"/>
                        </a:rPr>
                        <a:t>Produced by</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950" b="1" dirty="0">
                          <a:solidFill>
                            <a:srgbClr val="1E293B"/>
                          </a:solidFill>
                          <a:latin typeface="Calibri" pitchFamily="34" charset="0"/>
                          <a:ea typeface="Calibri" pitchFamily="34" charset="-122"/>
                          <a:cs typeface="Calibri" pitchFamily="34" charset="-120"/>
                        </a:rPr>
                        <a:t>Invariant it guarantees</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1F5F9"/>
                    </a:solidFill>
                  </a:tcPr>
                </a:tc>
              </a:tr>
              <a:tr h="384048">
                <a:tc>
                  <a:txBody>
                    <a:bodyPr/>
                    <a:lstStyle/>
                    <a:p>
                      <a:pPr indent="0" marL="0">
                        <a:buNone/>
                      </a:pPr>
                      <a:r>
                        <a:rPr lang="en-US" sz="950" b="1" dirty="0">
                          <a:solidFill>
                            <a:srgbClr val="0F172A"/>
                          </a:solidFill>
                          <a:latin typeface="Calibri" pitchFamily="34" charset="0"/>
                          <a:ea typeface="Calibri" pitchFamily="34" charset="-122"/>
                          <a:cs typeface="Calibri" pitchFamily="34" charset="-120"/>
                        </a:rPr>
                        <a:t>Token stream</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Lexer</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Layout is explicit — every block delimited by INDENT/DEDENT, so the grammar downstream is context-free</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r>
              <a:tr h="384048">
                <a:tc>
                  <a:txBody>
                    <a:bodyPr/>
                    <a:lstStyle/>
                    <a:p>
                      <a:pPr indent="0" marL="0">
                        <a:buNone/>
                      </a:pPr>
                      <a:r>
                        <a:rPr lang="en-US" sz="950" b="1" dirty="0">
                          <a:solidFill>
                            <a:srgbClr val="0F172A"/>
                          </a:solidFill>
                          <a:latin typeface="Calibri" pitchFamily="34" charset="0"/>
                          <a:ea typeface="Calibri" pitchFamily="34" charset="-122"/>
                          <a:cs typeface="Calibri" pitchFamily="34" charset="-120"/>
                        </a:rPr>
                        <a:t>AST</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Parser</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Structurally valid; every node carries line and column. Types absent</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r>
              <a:tr h="384048">
                <a:tc>
                  <a:txBody>
                    <a:bodyPr/>
                    <a:lstStyle/>
                    <a:p>
                      <a:pPr indent="0" marL="0">
                        <a:buNone/>
                      </a:pPr>
                      <a:r>
                        <a:rPr lang="en-US" sz="950" b="1" dirty="0">
                          <a:solidFill>
                            <a:srgbClr val="0F172A"/>
                          </a:solidFill>
                          <a:latin typeface="Calibri" pitchFamily="34" charset="0"/>
                          <a:ea typeface="Calibri" pitchFamily="34" charset="-122"/>
                          <a:cs typeface="Calibri" pitchFamily="34" charset="-120"/>
                        </a:rPr>
                        <a:t>Typed AST</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Type checker</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Every expression carries a resolved type; no ill-typed program reaches this stage</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r>
              <a:tr h="384048">
                <a:tc>
                  <a:txBody>
                    <a:bodyPr/>
                    <a:lstStyle/>
                    <a:p>
                      <a:pPr indent="0" marL="0">
                        <a:buNone/>
                      </a:pPr>
                      <a:r>
                        <a:rPr lang="en-US" sz="950" b="1" dirty="0">
                          <a:solidFill>
                            <a:srgbClr val="0F172A"/>
                          </a:solidFill>
                          <a:latin typeface="Calibri" pitchFamily="34" charset="0"/>
                          <a:ea typeface="Calibri" pitchFamily="34" charset="-122"/>
                          <a:cs typeface="Calibri" pitchFamily="34" charset="-120"/>
                        </a:rPr>
                        <a:t>PIR</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Lowering</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Homogeneously typed — every implicit coercion is now an explicit Coerce node; divergences tagged</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r>
              <a:tr h="384048">
                <a:tc>
                  <a:txBody>
                    <a:bodyPr/>
                    <a:lstStyle/>
                    <a:p>
                      <a:pPr indent="0" marL="0">
                        <a:buNone/>
                      </a:pPr>
                      <a:r>
                        <a:rPr lang="en-US" sz="950" b="1" dirty="0">
                          <a:solidFill>
                            <a:srgbClr val="0F172A"/>
                          </a:solidFill>
                          <a:latin typeface="Calibri" pitchFamily="34" charset="0"/>
                          <a:ea typeface="Calibri" pitchFamily="34" charset="-122"/>
                          <a:cs typeface="Calibri" pitchFamily="34" charset="-120"/>
                        </a:rPr>
                        <a:t>C11 source</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Emitter</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Compiles under -Wall with no warnings and no dependency outside pyrt</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r>
            </a:tbl>
          </a:graphicData>
        </a:graphic>
      </p:graphicFrame>
      <p:sp>
        <p:nvSpPr>
          <p:cNvPr id="11" name="Shape 7"/>
          <p:cNvSpPr/>
          <p:nvPr/>
        </p:nvSpPr>
        <p:spPr>
          <a:xfrm>
            <a:off x="4480560" y="4517136"/>
            <a:ext cx="7178040" cy="1426464"/>
          </a:xfrm>
          <a:prstGeom prst="roundRect">
            <a:avLst>
              <a:gd name="adj" fmla="val 5128"/>
            </a:avLst>
          </a:prstGeom>
          <a:solidFill>
            <a:srgbClr val="0F172A"/>
          </a:solidFill>
          <a:ln w="9525">
            <a:solidFill>
              <a:srgbClr val="0F172A"/>
            </a:solidFill>
            <a:prstDash val="solid"/>
          </a:ln>
        </p:spPr>
      </p:sp>
      <p:sp>
        <p:nvSpPr>
          <p:cNvPr id="12" name="Text 8"/>
          <p:cNvSpPr/>
          <p:nvPr/>
        </p:nvSpPr>
        <p:spPr>
          <a:xfrm>
            <a:off x="4681728" y="4654296"/>
            <a:ext cx="6775704" cy="219456"/>
          </a:xfrm>
          <a:prstGeom prst="rect">
            <a:avLst/>
          </a:prstGeom>
          <a:noFill/>
          <a:ln/>
        </p:spPr>
        <p:txBody>
          <a:bodyPr wrap="square" lIns="0" tIns="0" rIns="0" bIns="0" rtlCol="0" anchor="ctr"/>
          <a:lstStyle/>
          <a:p>
            <a:pPr indent="0" marL="0">
              <a:buNone/>
            </a:pPr>
            <a:r>
              <a:rPr lang="en-US" sz="950" b="1" spc="90" kern="0" dirty="0">
                <a:solidFill>
                  <a:srgbClr val="F59E0B"/>
                </a:solidFill>
              </a:rPr>
              <a:t>INTERFACES — WHY FOUR PEOPLE CAN WORK IN PARALLEL</a:t>
            </a:r>
            <a:endParaRPr lang="en-US" sz="950" dirty="0"/>
          </a:p>
        </p:txBody>
      </p:sp>
      <p:sp>
        <p:nvSpPr>
          <p:cNvPr id="13" name="Text 9"/>
          <p:cNvSpPr/>
          <p:nvPr/>
        </p:nvSpPr>
        <p:spPr>
          <a:xfrm>
            <a:off x="4681728" y="4892040"/>
            <a:ext cx="6775704" cy="923544"/>
          </a:xfrm>
          <a:prstGeom prst="rect">
            <a:avLst/>
          </a:prstGeom>
          <a:noFill/>
          <a:ln/>
        </p:spPr>
        <p:txBody>
          <a:bodyPr wrap="square" lIns="0" tIns="0" rIns="0" bIns="0" rtlCol="0" anchor="t"/>
          <a:lstStyle/>
          <a:p>
            <a:pPr indent="0" marL="0">
              <a:lnSpc>
                <a:spcPts val="1350"/>
              </a:lnSpc>
              <a:buNone/>
            </a:pPr>
            <a:r>
              <a:rPr lang="en-US" sz="1000" dirty="0">
                <a:solidFill>
                  <a:srgbClr val="CBD5E1"/>
                </a:solidFill>
              </a:rPr>
              <a:t>M1 → M2   Module            untyped tree + source positions</a:t>
            </a:r>
            <a:endParaRPr lang="en-US" sz="1000" dirty="0"/>
          </a:p>
          <a:p>
            <a:pPr indent="0" marL="0">
              <a:lnSpc>
                <a:spcPts val="1350"/>
              </a:lnSpc>
              <a:buNone/>
            </a:pPr>
            <a:r>
              <a:rPr lang="en-US" sz="1000" dirty="0">
                <a:solidFill>
                  <a:srgbClr val="CBD5E1"/>
                </a:solidFill>
              </a:rPr>
              <a:t>M2 → M3   Module + Ty       every node .ty populated</a:t>
            </a:r>
            <a:endParaRPr lang="en-US" sz="1000" dirty="0"/>
          </a:p>
          <a:p>
            <a:pPr indent="0" marL="0">
              <a:lnSpc>
                <a:spcPts val="1350"/>
              </a:lnSpc>
              <a:buNone/>
            </a:pPr>
            <a:r>
              <a:rPr lang="en-US" sz="1000" dirty="0">
                <a:solidFill>
                  <a:srgbClr val="CBD5E1"/>
                </a:solidFill>
              </a:rPr>
              <a:t>M3 → M4   Module + Coerce   homogeneously typed PIR</a:t>
            </a:r>
            <a:endParaRPr lang="en-US" sz="1000" dirty="0"/>
          </a:p>
          <a:p>
            <a:pPr indent="0" marL="0">
              <a:lnSpc>
                <a:spcPts val="1350"/>
              </a:lnSpc>
              <a:buNone/>
            </a:pPr>
            <a:r>
              <a:rPr lang="en-US" sz="1000" dirty="0">
                <a:solidFill>
                  <a:srgbClr val="CBD5E1"/>
                </a:solidFill>
              </a:rPr>
              <a:t>M3 → M4   pyrt.h            the runtime ABI the emitter targets</a:t>
            </a:r>
            <a:endParaRPr lang="en-US" sz="1000" dirty="0"/>
          </a:p>
          <a:p>
            <a:pPr indent="0" marL="0">
              <a:lnSpc>
                <a:spcPts val="1350"/>
              </a:lnSpc>
              <a:buNone/>
            </a:pPr>
            <a:r>
              <a:rPr lang="en-US" sz="1000" dirty="0">
                <a:solidFill>
                  <a:srgbClr val="CBD5E1"/>
                </a:solidFill>
              </a:rPr>
              <a:t>M4 → all  oracle.py         the shared definition of “correct”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8040319" cy="566928"/>
          </a:xfrm>
          <a:prstGeom prst="rect">
            <a:avLst/>
          </a:prstGeom>
          <a:noFill/>
          <a:ln/>
        </p:spPr>
        <p:txBody>
          <a:bodyPr wrap="square" lIns="0" tIns="0" rIns="0" bIns="0" rtlCol="0" anchor="ctr"/>
          <a:lstStyle/>
          <a:p>
            <a:pPr indent="0" marL="0">
              <a:buNone/>
            </a:pPr>
            <a:r>
              <a:rPr lang="en-US" sz="2400" b="1" dirty="0">
                <a:solidFill>
                  <a:srgbClr val="0F172A"/>
                </a:solidFill>
              </a:rPr>
              <a:t>Modules, algorithms and divergence catalogue</a:t>
            </a:r>
            <a:endParaRPr lang="en-US" sz="2400" dirty="0"/>
          </a:p>
        </p:txBody>
      </p:sp>
      <p:sp>
        <p:nvSpPr>
          <p:cNvPr id="3" name="Shape 1"/>
          <p:cNvSpPr/>
          <p:nvPr/>
        </p:nvSpPr>
        <p:spPr>
          <a:xfrm>
            <a:off x="8835847" y="310896"/>
            <a:ext cx="2788920" cy="310896"/>
          </a:xfrm>
          <a:prstGeom prst="roundRect">
            <a:avLst>
              <a:gd name="adj" fmla="val 50000"/>
            </a:avLst>
          </a:prstGeom>
          <a:solidFill>
            <a:srgbClr val="F1F5F9"/>
          </a:solidFill>
          <a:ln w="9525">
            <a:solidFill>
              <a:srgbClr val="E2E8F0"/>
            </a:solidFill>
            <a:prstDash val="solid"/>
          </a:ln>
        </p:spPr>
      </p:sp>
      <p:sp>
        <p:nvSpPr>
          <p:cNvPr id="4" name="Text 2"/>
          <p:cNvSpPr/>
          <p:nvPr/>
        </p:nvSpPr>
        <p:spPr>
          <a:xfrm>
            <a:off x="8835847" y="310896"/>
            <a:ext cx="2788920" cy="310896"/>
          </a:xfrm>
          <a:prstGeom prst="rect">
            <a:avLst/>
          </a:prstGeom>
          <a:noFill/>
          <a:ln/>
        </p:spPr>
        <p:txBody>
          <a:bodyPr wrap="square" lIns="0" tIns="0" rIns="0" bIns="0" rtlCol="0" anchor="ctr"/>
          <a:lstStyle/>
          <a:p>
            <a:pPr algn="ctr" indent="0" marL="0">
              <a:buNone/>
            </a:pPr>
            <a:r>
              <a:rPr lang="en-US" sz="900" b="1" spc="80" kern="0" dirty="0">
                <a:solidFill>
                  <a:srgbClr val="334155"/>
                </a:solidFill>
              </a:rPr>
              <a:t>MEMBER 3 · JAHNAVI</a:t>
            </a:r>
            <a:endParaRPr lang="en-US" sz="900" dirty="0"/>
          </a:p>
        </p:txBody>
      </p:sp>
      <p:sp>
        <p:nvSpPr>
          <p:cNvPr id="5" name="Text 3"/>
          <p:cNvSpPr/>
          <p:nvPr/>
        </p:nvSpPr>
        <p:spPr>
          <a:xfrm>
            <a:off x="11076127" y="6382512"/>
            <a:ext cx="548640" cy="274320"/>
          </a:xfrm>
          <a:prstGeom prst="rect">
            <a:avLst/>
          </a:prstGeom>
          <a:noFill/>
          <a:ln/>
        </p:spPr>
        <p:txBody>
          <a:bodyPr wrap="square" lIns="0" tIns="0" rIns="0" bIns="0" rtlCol="0" anchor="ctr"/>
          <a:lstStyle/>
          <a:p>
            <a:pPr algn="r" indent="0" marL="0">
              <a:buNone/>
            </a:pPr>
            <a:r>
              <a:rPr lang="en-US" sz="1000" dirty="0">
                <a:solidFill>
                  <a:srgbClr val="64748B"/>
                </a:solidFill>
              </a:rPr>
              <a:t>9</a:t>
            </a:r>
            <a:endParaRPr lang="en-US" sz="1000" dirty="0"/>
          </a:p>
        </p:txBody>
      </p:sp>
      <p:sp>
        <p:nvSpPr>
          <p:cNvPr id="6" name="Text 4"/>
          <p:cNvSpPr/>
          <p:nvPr/>
        </p:nvSpPr>
        <p:spPr>
          <a:xfrm>
            <a:off x="566928" y="6382512"/>
            <a:ext cx="5486400" cy="274320"/>
          </a:xfrm>
          <a:prstGeom prst="rect">
            <a:avLst/>
          </a:prstGeom>
          <a:noFill/>
          <a:ln/>
        </p:spPr>
        <p:txBody>
          <a:bodyPr wrap="square" lIns="0" tIns="0" rIns="0" bIns="0" rtlCol="0" anchor="ctr"/>
          <a:lstStyle/>
          <a:p>
            <a:pPr indent="0" marL="0">
              <a:buNone/>
            </a:pPr>
            <a:r>
              <a:rPr lang="en-US" sz="900" dirty="0">
                <a:solidFill>
                  <a:srgbClr val="94A3B8"/>
                </a:solidFill>
              </a:rPr>
              <a:t>PYTHIA  ·  BCSE307L Team 2  ·  Project A15</a:t>
            </a:r>
            <a:endParaRPr lang="en-US" sz="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66928" y="950976"/>
          <a:ext cx="11055096" cy="914400"/>
        </p:xfrm>
        <a:graphic>
          <a:graphicData uri="http://schemas.openxmlformats.org/drawingml/2006/table">
            <a:tbl>
              <a:tblPr/>
              <a:tblGrid>
                <a:gridCol w="1207008"/>
                <a:gridCol w="1828800"/>
                <a:gridCol w="4663440"/>
                <a:gridCol w="1417320"/>
                <a:gridCol w="1938528"/>
              </a:tblGrid>
              <a:tr h="265176">
                <a:tc>
                  <a:txBody>
                    <a:bodyPr/>
                    <a:lstStyle/>
                    <a:p>
                      <a:pPr indent="0" marL="0">
                        <a:buNone/>
                      </a:pPr>
                      <a:r>
                        <a:rPr lang="en-US" sz="950" b="1" dirty="0">
                          <a:solidFill>
                            <a:srgbClr val="1E293B"/>
                          </a:solidFill>
                          <a:latin typeface="Calibri" pitchFamily="34" charset="0"/>
                          <a:ea typeface="Calibri" pitchFamily="34" charset="-122"/>
                          <a:cs typeface="Calibri" pitchFamily="34" charset="-120"/>
                        </a:rPr>
                        <a:t>Module</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950" b="1" dirty="0">
                          <a:solidFill>
                            <a:srgbClr val="1E293B"/>
                          </a:solidFill>
                          <a:latin typeface="Calibri" pitchFamily="34" charset="0"/>
                          <a:ea typeface="Calibri" pitchFamily="34" charset="-122"/>
                          <a:cs typeface="Calibri" pitchFamily="34" charset="-120"/>
                        </a:rPr>
                        <a:t>Input → Output</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950" b="1" dirty="0">
                          <a:solidFill>
                            <a:srgbClr val="1E293B"/>
                          </a:solidFill>
                          <a:latin typeface="Calibri" pitchFamily="34" charset="0"/>
                          <a:ea typeface="Calibri" pitchFamily="34" charset="-122"/>
                          <a:cs typeface="Calibri" pitchFamily="34" charset="-120"/>
                        </a:rPr>
                        <a:t>Algorithm / technique</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950" b="1" dirty="0">
                          <a:solidFill>
                            <a:srgbClr val="1E293B"/>
                          </a:solidFill>
                          <a:latin typeface="Calibri" pitchFamily="34" charset="0"/>
                          <a:ea typeface="Calibri" pitchFamily="34" charset="-122"/>
                          <a:cs typeface="Calibri" pitchFamily="34" charset="-120"/>
                        </a:rPr>
                        <a:t>Owner</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950" b="1" dirty="0">
                          <a:solidFill>
                            <a:srgbClr val="1E293B"/>
                          </a:solidFill>
                          <a:latin typeface="Calibri" pitchFamily="34" charset="0"/>
                          <a:ea typeface="Calibri" pitchFamily="34" charset="-122"/>
                          <a:cs typeface="Calibri" pitchFamily="34" charset="-120"/>
                        </a:rPr>
                        <a:t>LOC</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1F5F9"/>
                    </a:solidFill>
                  </a:tcPr>
                </a:tc>
              </a:tr>
              <a:tr h="265176">
                <a:tc>
                  <a:txBody>
                    <a:bodyPr/>
                    <a:lstStyle/>
                    <a:p>
                      <a:pPr indent="0" marL="0">
                        <a:buNone/>
                      </a:pPr>
                      <a:r>
                        <a:rPr lang="en-US" sz="950" b="1" dirty="0">
                          <a:solidFill>
                            <a:srgbClr val="0F172A"/>
                          </a:solidFill>
                          <a:latin typeface="Calibri" pitchFamily="34" charset="0"/>
                          <a:ea typeface="Calibri" pitchFamily="34" charset="-122"/>
                          <a:cs typeface="Calibri" pitchFamily="34" charset="-120"/>
                        </a:rPr>
                        <a:t>lexer.py</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text → tokens</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Hand-written scanner; indentation stack implementing the off-side rule; bracket-suppressed layout</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M1 Vishal</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233</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r>
              <a:tr h="265176">
                <a:tc>
                  <a:txBody>
                    <a:bodyPr/>
                    <a:lstStyle/>
                    <a:p>
                      <a:pPr indent="0" marL="0">
                        <a:buNone/>
                      </a:pPr>
                      <a:r>
                        <a:rPr lang="en-US" sz="950" b="1" dirty="0">
                          <a:solidFill>
                            <a:srgbClr val="0F172A"/>
                          </a:solidFill>
                          <a:latin typeface="Calibri" pitchFamily="34" charset="0"/>
                          <a:ea typeface="Calibri" pitchFamily="34" charset="-122"/>
                          <a:cs typeface="Calibri" pitchFamily="34" charset="-120"/>
                        </a:rPr>
                        <a:t>parser.py</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tokens → AST</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Recursive descent for statements; Pratt precedence climbing; panic-mode synchronisation</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M1 Vishal</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393 (+205 AST)</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r>
              <a:tr h="265176">
                <a:tc>
                  <a:txBody>
                    <a:bodyPr/>
                    <a:lstStyle/>
                    <a:p>
                      <a:pPr indent="0" marL="0">
                        <a:buNone/>
                      </a:pPr>
                      <a:r>
                        <a:rPr lang="en-US" sz="950" b="1" dirty="0">
                          <a:solidFill>
                            <a:srgbClr val="0F172A"/>
                          </a:solidFill>
                          <a:latin typeface="Calibri" pitchFamily="34" charset="0"/>
                          <a:ea typeface="Calibri" pitchFamily="34" charset="-122"/>
                          <a:cs typeface="Calibri" pitchFamily="34" charset="-120"/>
                        </a:rPr>
                        <a:t>typecheck.py</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AST → TAST</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Parent-linked scope chain; bidirectional checking with local inference; bool ⊑ int ⊑ float lattice</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M2 Rujuta</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567</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r>
              <a:tr h="265176">
                <a:tc>
                  <a:txBody>
                    <a:bodyPr/>
                    <a:lstStyle/>
                    <a:p>
                      <a:pPr indent="0" marL="0">
                        <a:buNone/>
                      </a:pPr>
                      <a:r>
                        <a:rPr lang="en-US" sz="950" b="1" dirty="0">
                          <a:solidFill>
                            <a:srgbClr val="0F172A"/>
                          </a:solidFill>
                          <a:latin typeface="Calibri" pitchFamily="34" charset="0"/>
                          <a:ea typeface="Calibri" pitchFamily="34" charset="-122"/>
                          <a:cs typeface="Calibri" pitchFamily="34" charset="-120"/>
                        </a:rPr>
                        <a:t>lower.py</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TAST → PIR</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Coercion insertion; divergence tagging against D1–D7; fidelity accumulation</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M3 Jahnavi</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250</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r>
              <a:tr h="265176">
                <a:tc>
                  <a:txBody>
                    <a:bodyPr/>
                    <a:lstStyle/>
                    <a:p>
                      <a:pPr indent="0" marL="0">
                        <a:buNone/>
                      </a:pPr>
                      <a:r>
                        <a:rPr lang="en-US" sz="950" b="1" dirty="0">
                          <a:solidFill>
                            <a:srgbClr val="0F172A"/>
                          </a:solidFill>
                          <a:latin typeface="Calibri" pitchFamily="34" charset="0"/>
                          <a:ea typeface="Calibri" pitchFamily="34" charset="-122"/>
                          <a:cs typeface="Calibri" pitchFamily="34" charset="-120"/>
                        </a:rPr>
                        <a:t>pyrt.h / .c</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runtime library</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Floor division, divisor-signed modulo, checked int64, shortest-round-trip float repr, monomorphic lists</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M3 Jahnavi</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435</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r>
              <a:tr h="265176">
                <a:tc>
                  <a:txBody>
                    <a:bodyPr/>
                    <a:lstStyle/>
                    <a:p>
                      <a:pPr indent="0" marL="0">
                        <a:buNone/>
                      </a:pPr>
                      <a:r>
                        <a:rPr lang="en-US" sz="950" b="1" dirty="0">
                          <a:solidFill>
                            <a:srgbClr val="0F172A"/>
                          </a:solidFill>
                          <a:latin typeface="Calibri" pitchFamily="34" charset="0"/>
                          <a:ea typeface="Calibri" pitchFamily="34" charset="-122"/>
                          <a:cs typeface="Calibri" pitchFamily="34" charset="-120"/>
                        </a:rPr>
                        <a:t>emit_c.py</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PIR → C11</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Syntax-directed structural walk; name mangling; monomorphised container selection</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M4 Aaryan</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420</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r>
              <a:tr h="265176">
                <a:tc>
                  <a:txBody>
                    <a:bodyPr/>
                    <a:lstStyle/>
                    <a:p>
                      <a:pPr indent="0" marL="0">
                        <a:buNone/>
                      </a:pPr>
                      <a:r>
                        <a:rPr lang="en-US" sz="950" b="1" dirty="0">
                          <a:solidFill>
                            <a:srgbClr val="0F172A"/>
                          </a:solidFill>
                          <a:latin typeface="Calibri" pitchFamily="34" charset="0"/>
                          <a:ea typeface="Calibri" pitchFamily="34" charset="-122"/>
                          <a:cs typeface="Calibri" pitchFamily="34" charset="-120"/>
                        </a:rPr>
                        <a:t>oracle.py</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corpus → verdict</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Differential execution vs CPython 3.12; stdout and exception-class comparison; timing harness</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M4 Aaryan</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188</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r>
            </a:tbl>
          </a:graphicData>
        </a:graphic>
      </p:graphicFrame>
      <p:sp>
        <p:nvSpPr>
          <p:cNvPr id="8" name="Text 5"/>
          <p:cNvSpPr/>
          <p:nvPr/>
        </p:nvSpPr>
        <p:spPr>
          <a:xfrm>
            <a:off x="566928" y="3310128"/>
            <a:ext cx="7315200" cy="274320"/>
          </a:xfrm>
          <a:prstGeom prst="rect">
            <a:avLst/>
          </a:prstGeom>
          <a:noFill/>
          <a:ln/>
        </p:spPr>
        <p:txBody>
          <a:bodyPr wrap="square" lIns="0" tIns="0" rIns="0" bIns="0" rtlCol="0" anchor="ctr"/>
          <a:lstStyle/>
          <a:p>
            <a:pPr indent="0" marL="0">
              <a:buNone/>
            </a:pPr>
            <a:r>
              <a:rPr lang="en-US" sz="1400" b="1" dirty="0">
                <a:solidFill>
                  <a:srgbClr val="0F172A"/>
                </a:solidFill>
              </a:rPr>
              <a:t>The divergence catalogue — the project's technical spine</a:t>
            </a:r>
            <a:endParaRPr lang="en-US" sz="1400" dirty="0"/>
          </a:p>
        </p:txBody>
      </p:sp>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566928" y="3639312"/>
          <a:ext cx="11055096" cy="914400"/>
        </p:xfrm>
        <a:graphic>
          <a:graphicData uri="http://schemas.openxmlformats.org/drawingml/2006/table">
            <a:tbl>
              <a:tblPr/>
              <a:tblGrid>
                <a:gridCol w="457200"/>
                <a:gridCol w="3200400"/>
                <a:gridCol w="1874520"/>
                <a:gridCol w="3968496"/>
                <a:gridCol w="1554480"/>
              </a:tblGrid>
              <a:tr h="260604">
                <a:tc>
                  <a:txBody>
                    <a:bodyPr/>
                    <a:lstStyle/>
                    <a:p>
                      <a:pPr indent="0" marL="0">
                        <a:buNone/>
                      </a:pPr>
                      <a:r>
                        <a:rPr lang="en-US" sz="950" b="1" dirty="0">
                          <a:solidFill>
                            <a:srgbClr val="1E293B"/>
                          </a:solidFill>
                          <a:latin typeface="Calibri" pitchFamily="34" charset="0"/>
                          <a:ea typeface="Calibri" pitchFamily="34" charset="-122"/>
                          <a:cs typeface="Calibri" pitchFamily="34" charset="-120"/>
                        </a:rPr>
                        <a:t>ID</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950" b="1" dirty="0">
                          <a:solidFill>
                            <a:srgbClr val="1E293B"/>
                          </a:solidFill>
                          <a:latin typeface="Calibri" pitchFamily="34" charset="0"/>
                          <a:ea typeface="Calibri" pitchFamily="34" charset="-122"/>
                          <a:cs typeface="Calibri" pitchFamily="34" charset="-120"/>
                        </a:rPr>
                        <a:t>Divergence</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950" b="1" dirty="0">
                          <a:solidFill>
                            <a:srgbClr val="1E293B"/>
                          </a:solidFill>
                          <a:latin typeface="Calibri" pitchFamily="34" charset="0"/>
                          <a:ea typeface="Calibri" pitchFamily="34" charset="-122"/>
                          <a:cs typeface="Calibri" pitchFamily="34" charset="-120"/>
                        </a:rPr>
                        <a:t>Example</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950" b="1" dirty="0">
                          <a:solidFill>
                            <a:srgbClr val="1E293B"/>
                          </a:solidFill>
                          <a:latin typeface="Calibri" pitchFamily="34" charset="0"/>
                          <a:ea typeface="Calibri" pitchFamily="34" charset="-122"/>
                          <a:cs typeface="Calibri" pitchFamily="34" charset="-120"/>
                        </a:rPr>
                        <a:t>Mitigation</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950" b="1" dirty="0">
                          <a:solidFill>
                            <a:srgbClr val="1E293B"/>
                          </a:solidFill>
                          <a:latin typeface="Calibri" pitchFamily="34" charset="0"/>
                          <a:ea typeface="Calibri" pitchFamily="34" charset="-122"/>
                          <a:cs typeface="Calibri" pitchFamily="34" charset="-120"/>
                        </a:rPr>
                        <a:t>Status</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1F5F9"/>
                    </a:solidFill>
                  </a:tcPr>
                </a:tc>
              </a:tr>
              <a:tr h="260604">
                <a:tc>
                  <a:txBody>
                    <a:bodyPr/>
                    <a:lstStyle/>
                    <a:p>
                      <a:pPr indent="0" marL="0">
                        <a:buNone/>
                      </a:pPr>
                      <a:r>
                        <a:rPr lang="en-US" sz="950" b="1" dirty="0">
                          <a:solidFill>
                            <a:srgbClr val="0F172A"/>
                          </a:solidFill>
                          <a:latin typeface="Calibri" pitchFamily="34" charset="0"/>
                          <a:ea typeface="Calibri" pitchFamily="34" charset="-122"/>
                          <a:cs typeface="Calibri" pitchFamily="34" charset="-120"/>
                        </a:rPr>
                        <a:t>D1</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Python ints unbounded; C's are 64-bit</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2**63 exact in Python</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Guarded with __builtin_*_overflow; raises OverflowError</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Guarded</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r>
              <a:tr h="260604">
                <a:tc>
                  <a:txBody>
                    <a:bodyPr/>
                    <a:lstStyle/>
                    <a:p>
                      <a:pPr indent="0" marL="0">
                        <a:buNone/>
                      </a:pPr>
                      <a:r>
                        <a:rPr lang="en-US" sz="950" b="1" dirty="0">
                          <a:solidFill>
                            <a:srgbClr val="0F172A"/>
                          </a:solidFill>
                          <a:latin typeface="Calibri" pitchFamily="34" charset="0"/>
                          <a:ea typeface="Calibri" pitchFamily="34" charset="-122"/>
                          <a:cs typeface="Calibri" pitchFamily="34" charset="-120"/>
                        </a:rPr>
                        <a:t>D2</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 floors toward −∞; C truncates toward 0</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−7 // 2 = −4 vs −3</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py_floordiv_i64 / py_floordiv_f64</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Exact</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r>
              <a:tr h="260604">
                <a:tc>
                  <a:txBody>
                    <a:bodyPr/>
                    <a:lstStyle/>
                    <a:p>
                      <a:pPr indent="0" marL="0">
                        <a:buNone/>
                      </a:pPr>
                      <a:r>
                        <a:rPr lang="en-US" sz="950" b="1" dirty="0">
                          <a:solidFill>
                            <a:srgbClr val="0F172A"/>
                          </a:solidFill>
                          <a:latin typeface="Calibri" pitchFamily="34" charset="0"/>
                          <a:ea typeface="Calibri" pitchFamily="34" charset="-122"/>
                          <a:cs typeface="Calibri" pitchFamily="34" charset="-120"/>
                        </a:rPr>
                        <a:t>D3</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Sign of % follows the divisor</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−7 % 2 = 1 vs −1</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py_mod_i64 / py_mod_f64, incl. signed zero</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Exact</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r>
              <a:tr h="260604">
                <a:tc>
                  <a:txBody>
                    <a:bodyPr/>
                    <a:lstStyle/>
                    <a:p>
                      <a:pPr indent="0" marL="0">
                        <a:buNone/>
                      </a:pPr>
                      <a:r>
                        <a:rPr lang="en-US" sz="950" b="1" dirty="0">
                          <a:solidFill>
                            <a:srgbClr val="0F172A"/>
                          </a:solidFill>
                          <a:latin typeface="Calibri" pitchFamily="34" charset="0"/>
                          <a:ea typeface="Calibri" pitchFamily="34" charset="-122"/>
                          <a:cs typeface="Calibri" pitchFamily="34" charset="-120"/>
                        </a:rPr>
                        <a:t>D4</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 is true division, always float</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3 / 2 = 1.5, not 1</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Operands widened; py_truediv keeps ZeroDivisionError</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Exact</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r>
              <a:tr h="260604">
                <a:tc>
                  <a:txBody>
                    <a:bodyPr/>
                    <a:lstStyle/>
                    <a:p>
                      <a:pPr indent="0" marL="0">
                        <a:buNone/>
                      </a:pPr>
                      <a:r>
                        <a:rPr lang="en-US" sz="950" b="1" dirty="0">
                          <a:solidFill>
                            <a:srgbClr val="0F172A"/>
                          </a:solidFill>
                          <a:latin typeface="Calibri" pitchFamily="34" charset="0"/>
                          <a:ea typeface="Calibri" pitchFamily="34" charset="-122"/>
                          <a:cs typeface="Calibri" pitchFamily="34" charset="-120"/>
                        </a:rPr>
                        <a:t>D5</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Negative indexing, mandatory bounds checks</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xs[−1]; xs[7] raises</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Normalised and checked in the runtime</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Exact</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r>
              <a:tr h="260604">
                <a:tc>
                  <a:txBody>
                    <a:bodyPr/>
                    <a:lstStyle/>
                    <a:p>
                      <a:pPr indent="0" marL="0">
                        <a:buNone/>
                      </a:pPr>
                      <a:r>
                        <a:rPr lang="en-US" sz="950" b="1" dirty="0">
                          <a:solidFill>
                            <a:srgbClr val="0F172A"/>
                          </a:solidFill>
                          <a:latin typeface="Calibri" pitchFamily="34" charset="0"/>
                          <a:ea typeface="Calibri" pitchFamily="34" charset="-122"/>
                          <a:cs typeface="Calibri" pitchFamily="34" charset="-120"/>
                        </a:rPr>
                        <a:t>D6</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int ** negative int changes the static type</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2 ** −1 = 0.5, a float</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Not statically typable — reported, then refused at run time</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Divergent</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r>
              <a:tr h="260604">
                <a:tc>
                  <a:txBody>
                    <a:bodyPr/>
                    <a:lstStyle/>
                    <a:p>
                      <a:pPr indent="0" marL="0">
                        <a:buNone/>
                      </a:pPr>
                      <a:r>
                        <a:rPr lang="en-US" sz="950" b="1" dirty="0">
                          <a:solidFill>
                            <a:srgbClr val="0F172A"/>
                          </a:solidFill>
                          <a:latin typeface="Calibri" pitchFamily="34" charset="0"/>
                          <a:ea typeface="Calibri" pitchFamily="34" charset="-122"/>
                          <a:cs typeface="Calibri" pitchFamily="34" charset="-120"/>
                        </a:rPr>
                        <a:t>D7</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Object lifetime and reclamation</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CPython refcounts</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Documented; output unaffected. Regions are the R3 target</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Guarded</a:t>
                      </a:r>
                      <a:endParaRPr lang="en-US" sz="95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r>
            </a:tbl>
          </a:graphicData>
        </a:graphic>
      </p:graphicFrame>
      <p:sp>
        <p:nvSpPr>
          <p:cNvPr id="10" name="Text 6"/>
          <p:cNvSpPr/>
          <p:nvPr/>
        </p:nvSpPr>
        <p:spPr>
          <a:xfrm>
            <a:off x="566928" y="5870448"/>
            <a:ext cx="11057839" cy="384048"/>
          </a:xfrm>
          <a:prstGeom prst="rect">
            <a:avLst/>
          </a:prstGeom>
          <a:noFill/>
          <a:ln/>
        </p:spPr>
        <p:txBody>
          <a:bodyPr wrap="square" lIns="0" tIns="0" rIns="0" bIns="0" rtlCol="0" anchor="ctr"/>
          <a:lstStyle/>
          <a:p>
            <a:pPr indent="0" marL="0">
              <a:buNone/>
            </a:pPr>
            <a:r>
              <a:rPr lang="en-US" sz="1050" i="1" dirty="0">
                <a:solidFill>
                  <a:srgbClr val="64748B"/>
                </a:solidFill>
              </a:rPr>
              <a:t>Float formatting is the divergence most transpilers get wrong without noticing: CPython prints the shortest round-tripping decimal, fixed unless the exponent is &lt; −4 or ≥ 16. printf("%.17g") does not reproduce it — pyrt implements the search directly, which is why 0.1 + 0.2 prints 0.30000000000000004.</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8040319" cy="566928"/>
          </a:xfrm>
          <a:prstGeom prst="rect">
            <a:avLst/>
          </a:prstGeom>
          <a:noFill/>
          <a:ln/>
        </p:spPr>
        <p:txBody>
          <a:bodyPr wrap="square" lIns="0" tIns="0" rIns="0" bIns="0" rtlCol="0" anchor="ctr"/>
          <a:lstStyle/>
          <a:p>
            <a:pPr indent="0" marL="0">
              <a:buNone/>
            </a:pPr>
            <a:r>
              <a:rPr lang="en-US" sz="2400" b="1" dirty="0">
                <a:solidFill>
                  <a:srgbClr val="0F172A"/>
                </a:solidFill>
              </a:rPr>
              <a:t>Work allocation and integration responsibilities</a:t>
            </a:r>
            <a:endParaRPr lang="en-US" sz="2400" dirty="0"/>
          </a:p>
        </p:txBody>
      </p:sp>
      <p:sp>
        <p:nvSpPr>
          <p:cNvPr id="3" name="Shape 1"/>
          <p:cNvSpPr/>
          <p:nvPr/>
        </p:nvSpPr>
        <p:spPr>
          <a:xfrm>
            <a:off x="8835847" y="310896"/>
            <a:ext cx="2788920" cy="310896"/>
          </a:xfrm>
          <a:prstGeom prst="roundRect">
            <a:avLst>
              <a:gd name="adj" fmla="val 50000"/>
            </a:avLst>
          </a:prstGeom>
          <a:solidFill>
            <a:srgbClr val="F1F5F9"/>
          </a:solidFill>
          <a:ln w="9525">
            <a:solidFill>
              <a:srgbClr val="E2E8F0"/>
            </a:solidFill>
            <a:prstDash val="solid"/>
          </a:ln>
        </p:spPr>
      </p:sp>
      <p:sp>
        <p:nvSpPr>
          <p:cNvPr id="4" name="Text 2"/>
          <p:cNvSpPr/>
          <p:nvPr/>
        </p:nvSpPr>
        <p:spPr>
          <a:xfrm>
            <a:off x="8835847" y="310896"/>
            <a:ext cx="2788920" cy="310896"/>
          </a:xfrm>
          <a:prstGeom prst="rect">
            <a:avLst/>
          </a:prstGeom>
          <a:noFill/>
          <a:ln/>
        </p:spPr>
        <p:txBody>
          <a:bodyPr wrap="square" lIns="0" tIns="0" rIns="0" bIns="0" rtlCol="0" anchor="ctr"/>
          <a:lstStyle/>
          <a:p>
            <a:pPr algn="ctr" indent="0" marL="0">
              <a:buNone/>
            </a:pPr>
            <a:r>
              <a:rPr lang="en-US" sz="900" b="1" spc="80" kern="0" dirty="0">
                <a:solidFill>
                  <a:srgbClr val="334155"/>
                </a:solidFill>
              </a:rPr>
              <a:t>MEMBER 4 · AARYAN</a:t>
            </a:r>
            <a:endParaRPr lang="en-US" sz="900" dirty="0"/>
          </a:p>
        </p:txBody>
      </p:sp>
      <p:sp>
        <p:nvSpPr>
          <p:cNvPr id="5" name="Text 3"/>
          <p:cNvSpPr/>
          <p:nvPr/>
        </p:nvSpPr>
        <p:spPr>
          <a:xfrm>
            <a:off x="11076127" y="6382512"/>
            <a:ext cx="548640" cy="274320"/>
          </a:xfrm>
          <a:prstGeom prst="rect">
            <a:avLst/>
          </a:prstGeom>
          <a:noFill/>
          <a:ln/>
        </p:spPr>
        <p:txBody>
          <a:bodyPr wrap="square" lIns="0" tIns="0" rIns="0" bIns="0" rtlCol="0" anchor="ctr"/>
          <a:lstStyle/>
          <a:p>
            <a:pPr algn="r" indent="0" marL="0">
              <a:buNone/>
            </a:pPr>
            <a:r>
              <a:rPr lang="en-US" sz="1000" dirty="0">
                <a:solidFill>
                  <a:srgbClr val="64748B"/>
                </a:solidFill>
              </a:rPr>
              <a:t>10</a:t>
            </a:r>
            <a:endParaRPr lang="en-US" sz="1000" dirty="0"/>
          </a:p>
        </p:txBody>
      </p:sp>
      <p:sp>
        <p:nvSpPr>
          <p:cNvPr id="6" name="Text 4"/>
          <p:cNvSpPr/>
          <p:nvPr/>
        </p:nvSpPr>
        <p:spPr>
          <a:xfrm>
            <a:off x="566928" y="6382512"/>
            <a:ext cx="5486400" cy="274320"/>
          </a:xfrm>
          <a:prstGeom prst="rect">
            <a:avLst/>
          </a:prstGeom>
          <a:noFill/>
          <a:ln/>
        </p:spPr>
        <p:txBody>
          <a:bodyPr wrap="square" lIns="0" tIns="0" rIns="0" bIns="0" rtlCol="0" anchor="ctr"/>
          <a:lstStyle/>
          <a:p>
            <a:pPr indent="0" marL="0">
              <a:buNone/>
            </a:pPr>
            <a:r>
              <a:rPr lang="en-US" sz="900" dirty="0">
                <a:solidFill>
                  <a:srgbClr val="94A3B8"/>
                </a:solidFill>
              </a:rPr>
              <a:t>PYTHIA  ·  BCSE307L Team 2  ·  Project A15</a:t>
            </a:r>
            <a:endParaRPr lang="en-US" sz="900" dirty="0"/>
          </a:p>
        </p:txBody>
      </p:sp>
      <p:sp>
        <p:nvSpPr>
          <p:cNvPr id="7" name="Shape 5"/>
          <p:cNvSpPr/>
          <p:nvPr/>
        </p:nvSpPr>
        <p:spPr>
          <a:xfrm>
            <a:off x="566928" y="950976"/>
            <a:ext cx="11057839" cy="1133856"/>
          </a:xfrm>
          <a:prstGeom prst="roundRect">
            <a:avLst>
              <a:gd name="adj" fmla="val 4839"/>
            </a:avLst>
          </a:prstGeom>
          <a:solidFill>
            <a:srgbClr val="F1F5F9"/>
          </a:solidFill>
          <a:ln w="9525">
            <a:solidFill>
              <a:srgbClr val="E2E8F0"/>
            </a:solidFill>
            <a:prstDash val="solid"/>
          </a:ln>
        </p:spPr>
      </p:sp>
      <p:sp>
        <p:nvSpPr>
          <p:cNvPr id="8" name="Shape 6"/>
          <p:cNvSpPr/>
          <p:nvPr/>
        </p:nvSpPr>
        <p:spPr>
          <a:xfrm>
            <a:off x="731520" y="1097280"/>
            <a:ext cx="365760" cy="365760"/>
          </a:xfrm>
          <a:prstGeom prst="ellipse">
            <a:avLst/>
          </a:prstGeom>
          <a:solidFill>
            <a:srgbClr val="F59E0B"/>
          </a:solidFill>
          <a:ln w="12700">
            <a:solidFill>
              <a:srgbClr val="333333"/>
            </a:solidFill>
            <a:prstDash val="solid"/>
          </a:ln>
        </p:spPr>
      </p:sp>
      <p:sp>
        <p:nvSpPr>
          <p:cNvPr id="9" name="Text 7"/>
          <p:cNvSpPr/>
          <p:nvPr/>
        </p:nvSpPr>
        <p:spPr>
          <a:xfrm>
            <a:off x="731520" y="109728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M1</a:t>
            </a:r>
            <a:endParaRPr lang="en-US" sz="1100" dirty="0"/>
          </a:p>
        </p:txBody>
      </p:sp>
      <p:sp>
        <p:nvSpPr>
          <p:cNvPr id="10" name="Text 8"/>
          <p:cNvSpPr/>
          <p:nvPr/>
        </p:nvSpPr>
        <p:spPr>
          <a:xfrm>
            <a:off x="1188720" y="1078992"/>
            <a:ext cx="2103120" cy="256032"/>
          </a:xfrm>
          <a:prstGeom prst="rect">
            <a:avLst/>
          </a:prstGeom>
          <a:noFill/>
          <a:ln/>
        </p:spPr>
        <p:txBody>
          <a:bodyPr wrap="square" lIns="0" tIns="0" rIns="0" bIns="0" rtlCol="0" anchor="ctr"/>
          <a:lstStyle/>
          <a:p>
            <a:pPr indent="0" marL="0">
              <a:buNone/>
            </a:pPr>
            <a:r>
              <a:rPr lang="en-US" sz="1150" b="1" dirty="0">
                <a:solidFill>
                  <a:srgbClr val="0F172A"/>
                </a:solidFill>
              </a:rPr>
              <a:t>VISHAL VIVEK</a:t>
            </a:r>
            <a:endParaRPr lang="en-US" sz="1150" dirty="0"/>
          </a:p>
        </p:txBody>
      </p:sp>
      <p:sp>
        <p:nvSpPr>
          <p:cNvPr id="11" name="Text 9"/>
          <p:cNvSpPr/>
          <p:nvPr/>
        </p:nvSpPr>
        <p:spPr>
          <a:xfrm>
            <a:off x="1188720" y="1335024"/>
            <a:ext cx="2103120" cy="219456"/>
          </a:xfrm>
          <a:prstGeom prst="rect">
            <a:avLst/>
          </a:prstGeom>
          <a:noFill/>
          <a:ln/>
        </p:spPr>
        <p:txBody>
          <a:bodyPr wrap="square" lIns="0" tIns="0" rIns="0" bIns="0" rtlCol="0" anchor="ctr"/>
          <a:lstStyle/>
          <a:p>
            <a:pPr indent="0" marL="0">
              <a:buNone/>
            </a:pPr>
            <a:r>
              <a:rPr lang="en-US" sz="950" dirty="0">
                <a:solidFill>
                  <a:srgbClr val="64748B"/>
                </a:solidFill>
              </a:rPr>
              <a:t>24BCE2377</a:t>
            </a:r>
            <a:endParaRPr lang="en-US" sz="950" dirty="0"/>
          </a:p>
        </p:txBody>
      </p:sp>
      <p:sp>
        <p:nvSpPr>
          <p:cNvPr id="12" name="Text 10"/>
          <p:cNvSpPr/>
          <p:nvPr/>
        </p:nvSpPr>
        <p:spPr>
          <a:xfrm>
            <a:off x="1188720" y="1591056"/>
            <a:ext cx="2103120" cy="182880"/>
          </a:xfrm>
          <a:prstGeom prst="rect">
            <a:avLst/>
          </a:prstGeom>
          <a:noFill/>
          <a:ln/>
        </p:spPr>
        <p:txBody>
          <a:bodyPr wrap="square" lIns="0" tIns="0" rIns="0" bIns="0" rtlCol="0" anchor="ctr"/>
          <a:lstStyle/>
          <a:p>
            <a:pPr indent="0" marL="0">
              <a:buNone/>
            </a:pPr>
            <a:r>
              <a:rPr lang="en-US" sz="750" b="1" spc="80" kern="0" dirty="0">
                <a:solidFill>
                  <a:srgbClr val="F59E0B"/>
                </a:solidFill>
              </a:rPr>
              <a:t>PRIMARY</a:t>
            </a:r>
            <a:endParaRPr lang="en-US" sz="750" dirty="0"/>
          </a:p>
        </p:txBody>
      </p:sp>
      <p:sp>
        <p:nvSpPr>
          <p:cNvPr id="13" name="Text 11"/>
          <p:cNvSpPr/>
          <p:nvPr/>
        </p:nvSpPr>
        <p:spPr>
          <a:xfrm>
            <a:off x="1188720" y="1755648"/>
            <a:ext cx="2148840" cy="292608"/>
          </a:xfrm>
          <a:prstGeom prst="rect">
            <a:avLst/>
          </a:prstGeom>
          <a:noFill/>
          <a:ln/>
        </p:spPr>
        <p:txBody>
          <a:bodyPr wrap="square" lIns="0" tIns="0" rIns="0" bIns="0" rtlCol="0" anchor="ctr"/>
          <a:lstStyle/>
          <a:p>
            <a:pPr indent="0" marL="0">
              <a:lnSpc>
                <a:spcPts val="1050"/>
              </a:lnSpc>
              <a:buNone/>
            </a:pPr>
            <a:r>
              <a:rPr lang="en-US" sz="850" dirty="0">
                <a:solidFill>
                  <a:srgbClr val="334155"/>
                </a:solidFill>
              </a:rPr>
              <a:t>Front end: grammar, lexer with the off-side rule, parser, AST, diagnostics</a:t>
            </a:r>
            <a:endParaRPr lang="en-US" sz="850" dirty="0"/>
          </a:p>
        </p:txBody>
      </p:sp>
      <p:sp>
        <p:nvSpPr>
          <p:cNvPr id="14" name="Text 12"/>
          <p:cNvSpPr/>
          <p:nvPr/>
        </p:nvSpPr>
        <p:spPr>
          <a:xfrm>
            <a:off x="3493008" y="1078992"/>
            <a:ext cx="2286000" cy="182880"/>
          </a:xfrm>
          <a:prstGeom prst="rect">
            <a:avLst/>
          </a:prstGeom>
          <a:noFill/>
          <a:ln/>
        </p:spPr>
        <p:txBody>
          <a:bodyPr wrap="square" lIns="0" tIns="0" rIns="0" bIns="0" rtlCol="0" anchor="ctr"/>
          <a:lstStyle/>
          <a:p>
            <a:pPr indent="0" marL="0">
              <a:buNone/>
            </a:pPr>
            <a:r>
              <a:rPr lang="en-US" sz="750" b="1" spc="80" kern="0" dirty="0">
                <a:solidFill>
                  <a:srgbClr val="64748B"/>
                </a:solidFill>
              </a:rPr>
              <a:t>SUPPORTING</a:t>
            </a:r>
            <a:endParaRPr lang="en-US" sz="750" dirty="0"/>
          </a:p>
        </p:txBody>
      </p:sp>
      <p:sp>
        <p:nvSpPr>
          <p:cNvPr id="15" name="Text 13"/>
          <p:cNvSpPr/>
          <p:nvPr/>
        </p:nvSpPr>
        <p:spPr>
          <a:xfrm>
            <a:off x="3493008" y="1243584"/>
            <a:ext cx="2286000" cy="457200"/>
          </a:xfrm>
          <a:prstGeom prst="rect">
            <a:avLst/>
          </a:prstGeom>
          <a:noFill/>
          <a:ln/>
        </p:spPr>
        <p:txBody>
          <a:bodyPr wrap="square" lIns="0" tIns="0" rIns="0" bIns="0" rtlCol="0" anchor="ctr"/>
          <a:lstStyle/>
          <a:p>
            <a:pPr indent="0" marL="0">
              <a:lnSpc>
                <a:spcPts val="1100"/>
              </a:lnSpc>
              <a:buNone/>
            </a:pPr>
            <a:r>
              <a:rPr lang="en-US" sz="900" dirty="0">
                <a:solidFill>
                  <a:srgbClr val="334155"/>
                </a:solidFill>
              </a:rPr>
              <a:t>Repository, CI, cross-module integration, release management</a:t>
            </a:r>
            <a:endParaRPr lang="en-US" sz="900" dirty="0"/>
          </a:p>
        </p:txBody>
      </p:sp>
      <p:sp>
        <p:nvSpPr>
          <p:cNvPr id="16" name="Text 14"/>
          <p:cNvSpPr/>
          <p:nvPr/>
        </p:nvSpPr>
        <p:spPr>
          <a:xfrm>
            <a:off x="5961888" y="1078992"/>
            <a:ext cx="3291840" cy="182880"/>
          </a:xfrm>
          <a:prstGeom prst="rect">
            <a:avLst/>
          </a:prstGeom>
          <a:noFill/>
          <a:ln/>
        </p:spPr>
        <p:txBody>
          <a:bodyPr wrap="square" lIns="0" tIns="0" rIns="0" bIns="0" rtlCol="0" anchor="ctr"/>
          <a:lstStyle/>
          <a:p>
            <a:pPr indent="0" marL="0">
              <a:buNone/>
            </a:pPr>
            <a:r>
              <a:rPr lang="en-US" sz="750" b="1" spc="80" kern="0" dirty="0">
                <a:solidFill>
                  <a:srgbClr val="0D9488"/>
                </a:solidFill>
              </a:rPr>
              <a:t>REVIEW 1 EVIDENCE</a:t>
            </a:r>
            <a:endParaRPr lang="en-US" sz="750" dirty="0"/>
          </a:p>
        </p:txBody>
      </p:sp>
      <p:sp>
        <p:nvSpPr>
          <p:cNvPr id="17" name="Text 15"/>
          <p:cNvSpPr/>
          <p:nvPr/>
        </p:nvSpPr>
        <p:spPr>
          <a:xfrm>
            <a:off x="5961888" y="1243584"/>
            <a:ext cx="3291840" cy="713232"/>
          </a:xfrm>
          <a:prstGeom prst="rect">
            <a:avLst/>
          </a:prstGeom>
          <a:noFill/>
          <a:ln/>
        </p:spPr>
        <p:txBody>
          <a:bodyPr wrap="square" lIns="0" tIns="0" rIns="0" bIns="0" rtlCol="0" anchor="ctr"/>
          <a:lstStyle/>
          <a:p>
            <a:pPr indent="0" marL="0">
              <a:lnSpc>
                <a:spcPts val="1100"/>
              </a:lnSpc>
              <a:buNone/>
            </a:pPr>
            <a:r>
              <a:rPr lang="en-US" sz="900" dirty="0">
                <a:solidFill>
                  <a:srgbClr val="334155"/>
                </a:solidFill>
              </a:rPr>
              <a:t>grammar.ebnf (41 productions); 944 LOC across lexer, parser, AST, CLI; caret diagnostics working</a:t>
            </a:r>
            <a:endParaRPr lang="en-US" sz="900" dirty="0"/>
          </a:p>
        </p:txBody>
      </p:sp>
      <p:sp>
        <p:nvSpPr>
          <p:cNvPr id="18" name="Text 16"/>
          <p:cNvSpPr/>
          <p:nvPr/>
        </p:nvSpPr>
        <p:spPr>
          <a:xfrm>
            <a:off x="9436608" y="1078992"/>
            <a:ext cx="2103120" cy="182880"/>
          </a:xfrm>
          <a:prstGeom prst="rect">
            <a:avLst/>
          </a:prstGeom>
          <a:noFill/>
          <a:ln/>
        </p:spPr>
        <p:txBody>
          <a:bodyPr wrap="square" lIns="0" tIns="0" rIns="0" bIns="0" rtlCol="0" anchor="ctr"/>
          <a:lstStyle/>
          <a:p>
            <a:pPr indent="0" marL="0">
              <a:buNone/>
            </a:pPr>
            <a:r>
              <a:rPr lang="en-US" sz="750" b="1" spc="80" kern="0" dirty="0">
                <a:solidFill>
                  <a:srgbClr val="B45309"/>
                </a:solidFill>
              </a:rPr>
              <a:t>REVIEW 2 TARGET</a:t>
            </a:r>
            <a:endParaRPr lang="en-US" sz="750" dirty="0"/>
          </a:p>
        </p:txBody>
      </p:sp>
      <p:sp>
        <p:nvSpPr>
          <p:cNvPr id="19" name="Text 17"/>
          <p:cNvSpPr/>
          <p:nvPr/>
        </p:nvSpPr>
        <p:spPr>
          <a:xfrm>
            <a:off x="9436608" y="1243584"/>
            <a:ext cx="2103120" cy="548640"/>
          </a:xfrm>
          <a:prstGeom prst="rect">
            <a:avLst/>
          </a:prstGeom>
          <a:noFill/>
          <a:ln/>
        </p:spPr>
        <p:txBody>
          <a:bodyPr wrap="square" lIns="0" tIns="0" rIns="0" bIns="0" rtlCol="0" anchor="ctr"/>
          <a:lstStyle/>
          <a:p>
            <a:pPr indent="0" marL="0">
              <a:lnSpc>
                <a:spcPts val="1100"/>
              </a:lnSpc>
              <a:buNone/>
            </a:pPr>
            <a:r>
              <a:rPr lang="en-US" sz="900" dirty="0">
                <a:solidFill>
                  <a:srgbClr val="334155"/>
                </a:solidFill>
              </a:rPr>
              <a:t>Tuples, multiple assignment, while/else</a:t>
            </a:r>
            <a:endParaRPr lang="en-US" sz="900" dirty="0"/>
          </a:p>
        </p:txBody>
      </p:sp>
      <p:sp>
        <p:nvSpPr>
          <p:cNvPr id="20" name="Shape 18"/>
          <p:cNvSpPr/>
          <p:nvPr/>
        </p:nvSpPr>
        <p:spPr>
          <a:xfrm>
            <a:off x="566928" y="2194560"/>
            <a:ext cx="11057839" cy="1133856"/>
          </a:xfrm>
          <a:prstGeom prst="roundRect">
            <a:avLst>
              <a:gd name="adj" fmla="val 4839"/>
            </a:avLst>
          </a:prstGeom>
          <a:solidFill>
            <a:srgbClr val="F1F5F9"/>
          </a:solidFill>
          <a:ln w="9525">
            <a:solidFill>
              <a:srgbClr val="E2E8F0"/>
            </a:solidFill>
            <a:prstDash val="solid"/>
          </a:ln>
        </p:spPr>
      </p:sp>
      <p:sp>
        <p:nvSpPr>
          <p:cNvPr id="21" name="Shape 19"/>
          <p:cNvSpPr/>
          <p:nvPr/>
        </p:nvSpPr>
        <p:spPr>
          <a:xfrm>
            <a:off x="731520" y="2340864"/>
            <a:ext cx="365760" cy="365760"/>
          </a:xfrm>
          <a:prstGeom prst="ellipse">
            <a:avLst/>
          </a:prstGeom>
          <a:solidFill>
            <a:srgbClr val="0D9488"/>
          </a:solidFill>
          <a:ln w="12700">
            <a:solidFill>
              <a:srgbClr val="333333"/>
            </a:solidFill>
            <a:prstDash val="solid"/>
          </a:ln>
        </p:spPr>
      </p:sp>
      <p:sp>
        <p:nvSpPr>
          <p:cNvPr id="22" name="Text 20"/>
          <p:cNvSpPr/>
          <p:nvPr/>
        </p:nvSpPr>
        <p:spPr>
          <a:xfrm>
            <a:off x="731520" y="2340864"/>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M2</a:t>
            </a:r>
            <a:endParaRPr lang="en-US" sz="1100" dirty="0"/>
          </a:p>
        </p:txBody>
      </p:sp>
      <p:sp>
        <p:nvSpPr>
          <p:cNvPr id="23" name="Text 21"/>
          <p:cNvSpPr/>
          <p:nvPr/>
        </p:nvSpPr>
        <p:spPr>
          <a:xfrm>
            <a:off x="1188720" y="2322576"/>
            <a:ext cx="2103120" cy="256032"/>
          </a:xfrm>
          <a:prstGeom prst="rect">
            <a:avLst/>
          </a:prstGeom>
          <a:noFill/>
          <a:ln/>
        </p:spPr>
        <p:txBody>
          <a:bodyPr wrap="square" lIns="0" tIns="0" rIns="0" bIns="0" rtlCol="0" anchor="ctr"/>
          <a:lstStyle/>
          <a:p>
            <a:pPr indent="0" marL="0">
              <a:buNone/>
            </a:pPr>
            <a:r>
              <a:rPr lang="en-US" sz="1150" b="1" dirty="0">
                <a:solidFill>
                  <a:srgbClr val="0F172A"/>
                </a:solidFill>
              </a:rPr>
              <a:t>RUJUTA M. KULKARNI</a:t>
            </a:r>
            <a:endParaRPr lang="en-US" sz="1150" dirty="0"/>
          </a:p>
        </p:txBody>
      </p:sp>
      <p:sp>
        <p:nvSpPr>
          <p:cNvPr id="24" name="Text 22"/>
          <p:cNvSpPr/>
          <p:nvPr/>
        </p:nvSpPr>
        <p:spPr>
          <a:xfrm>
            <a:off x="1188720" y="2578608"/>
            <a:ext cx="2103120" cy="219456"/>
          </a:xfrm>
          <a:prstGeom prst="rect">
            <a:avLst/>
          </a:prstGeom>
          <a:noFill/>
          <a:ln/>
        </p:spPr>
        <p:txBody>
          <a:bodyPr wrap="square" lIns="0" tIns="0" rIns="0" bIns="0" rtlCol="0" anchor="ctr"/>
          <a:lstStyle/>
          <a:p>
            <a:pPr indent="0" marL="0">
              <a:buNone/>
            </a:pPr>
            <a:r>
              <a:rPr lang="en-US" sz="950" dirty="0">
                <a:solidFill>
                  <a:srgbClr val="64748B"/>
                </a:solidFill>
              </a:rPr>
              <a:t>24BDS0459</a:t>
            </a:r>
            <a:endParaRPr lang="en-US" sz="950" dirty="0"/>
          </a:p>
        </p:txBody>
      </p:sp>
      <p:sp>
        <p:nvSpPr>
          <p:cNvPr id="25" name="Text 23"/>
          <p:cNvSpPr/>
          <p:nvPr/>
        </p:nvSpPr>
        <p:spPr>
          <a:xfrm>
            <a:off x="1188720" y="2834640"/>
            <a:ext cx="2103120" cy="182880"/>
          </a:xfrm>
          <a:prstGeom prst="rect">
            <a:avLst/>
          </a:prstGeom>
          <a:noFill/>
          <a:ln/>
        </p:spPr>
        <p:txBody>
          <a:bodyPr wrap="square" lIns="0" tIns="0" rIns="0" bIns="0" rtlCol="0" anchor="ctr"/>
          <a:lstStyle/>
          <a:p>
            <a:pPr indent="0" marL="0">
              <a:buNone/>
            </a:pPr>
            <a:r>
              <a:rPr lang="en-US" sz="750" b="1" spc="80" kern="0" dirty="0">
                <a:solidFill>
                  <a:srgbClr val="0D9488"/>
                </a:solidFill>
              </a:rPr>
              <a:t>PRIMARY</a:t>
            </a:r>
            <a:endParaRPr lang="en-US" sz="750" dirty="0"/>
          </a:p>
        </p:txBody>
      </p:sp>
      <p:sp>
        <p:nvSpPr>
          <p:cNvPr id="26" name="Text 24"/>
          <p:cNvSpPr/>
          <p:nvPr/>
        </p:nvSpPr>
        <p:spPr>
          <a:xfrm>
            <a:off x="1188720" y="2999232"/>
            <a:ext cx="2148840" cy="292608"/>
          </a:xfrm>
          <a:prstGeom prst="rect">
            <a:avLst/>
          </a:prstGeom>
          <a:noFill/>
          <a:ln/>
        </p:spPr>
        <p:txBody>
          <a:bodyPr wrap="square" lIns="0" tIns="0" rIns="0" bIns="0" rtlCol="0" anchor="ctr"/>
          <a:lstStyle/>
          <a:p>
            <a:pPr indent="0" marL="0">
              <a:lnSpc>
                <a:spcPts val="1050"/>
              </a:lnSpc>
              <a:buNone/>
            </a:pPr>
            <a:r>
              <a:rPr lang="en-US" sz="850" dirty="0">
                <a:solidFill>
                  <a:srgbClr val="334155"/>
                </a:solidFill>
              </a:rPr>
              <a:t>Symbol table, scope resolution, bidirectional type checker, local inference</a:t>
            </a:r>
            <a:endParaRPr lang="en-US" sz="850" dirty="0"/>
          </a:p>
        </p:txBody>
      </p:sp>
      <p:sp>
        <p:nvSpPr>
          <p:cNvPr id="27" name="Text 25"/>
          <p:cNvSpPr/>
          <p:nvPr/>
        </p:nvSpPr>
        <p:spPr>
          <a:xfrm>
            <a:off x="3493008" y="2322576"/>
            <a:ext cx="2286000" cy="182880"/>
          </a:xfrm>
          <a:prstGeom prst="rect">
            <a:avLst/>
          </a:prstGeom>
          <a:noFill/>
          <a:ln/>
        </p:spPr>
        <p:txBody>
          <a:bodyPr wrap="square" lIns="0" tIns="0" rIns="0" bIns="0" rtlCol="0" anchor="ctr"/>
          <a:lstStyle/>
          <a:p>
            <a:pPr indent="0" marL="0">
              <a:buNone/>
            </a:pPr>
            <a:r>
              <a:rPr lang="en-US" sz="750" b="1" spc="80" kern="0" dirty="0">
                <a:solidFill>
                  <a:srgbClr val="64748B"/>
                </a:solidFill>
              </a:rPr>
              <a:t>SUPPORTING</a:t>
            </a:r>
            <a:endParaRPr lang="en-US" sz="750" dirty="0"/>
          </a:p>
        </p:txBody>
      </p:sp>
      <p:sp>
        <p:nvSpPr>
          <p:cNvPr id="28" name="Text 26"/>
          <p:cNvSpPr/>
          <p:nvPr/>
        </p:nvSpPr>
        <p:spPr>
          <a:xfrm>
            <a:off x="3493008" y="2487168"/>
            <a:ext cx="2286000" cy="457200"/>
          </a:xfrm>
          <a:prstGeom prst="rect">
            <a:avLst/>
          </a:prstGeom>
          <a:noFill/>
          <a:ln/>
        </p:spPr>
        <p:txBody>
          <a:bodyPr wrap="square" lIns="0" tIns="0" rIns="0" bIns="0" rtlCol="0" anchor="ctr"/>
          <a:lstStyle/>
          <a:p>
            <a:pPr indent="0" marL="0">
              <a:lnSpc>
                <a:spcPts val="1100"/>
              </a:lnSpc>
              <a:buNone/>
            </a:pPr>
            <a:r>
              <a:rPr lang="en-US" sz="900" dirty="0">
                <a:solidFill>
                  <a:srgbClr val="334155"/>
                </a:solidFill>
              </a:rPr>
              <a:t>Negative corpus and diagnostic-message quality</a:t>
            </a:r>
            <a:endParaRPr lang="en-US" sz="900" dirty="0"/>
          </a:p>
        </p:txBody>
      </p:sp>
      <p:sp>
        <p:nvSpPr>
          <p:cNvPr id="29" name="Text 27"/>
          <p:cNvSpPr/>
          <p:nvPr/>
        </p:nvSpPr>
        <p:spPr>
          <a:xfrm>
            <a:off x="5961888" y="2322576"/>
            <a:ext cx="3291840" cy="182880"/>
          </a:xfrm>
          <a:prstGeom prst="rect">
            <a:avLst/>
          </a:prstGeom>
          <a:noFill/>
          <a:ln/>
        </p:spPr>
        <p:txBody>
          <a:bodyPr wrap="square" lIns="0" tIns="0" rIns="0" bIns="0" rtlCol="0" anchor="ctr"/>
          <a:lstStyle/>
          <a:p>
            <a:pPr indent="0" marL="0">
              <a:buNone/>
            </a:pPr>
            <a:r>
              <a:rPr lang="en-US" sz="750" b="1" spc="80" kern="0" dirty="0">
                <a:solidFill>
                  <a:srgbClr val="0D9488"/>
                </a:solidFill>
              </a:rPr>
              <a:t>REVIEW 1 EVIDENCE</a:t>
            </a:r>
            <a:endParaRPr lang="en-US" sz="750" dirty="0"/>
          </a:p>
        </p:txBody>
      </p:sp>
      <p:sp>
        <p:nvSpPr>
          <p:cNvPr id="30" name="Text 28"/>
          <p:cNvSpPr/>
          <p:nvPr/>
        </p:nvSpPr>
        <p:spPr>
          <a:xfrm>
            <a:off x="5961888" y="2487168"/>
            <a:ext cx="3291840" cy="713232"/>
          </a:xfrm>
          <a:prstGeom prst="rect">
            <a:avLst/>
          </a:prstGeom>
          <a:noFill/>
          <a:ln/>
        </p:spPr>
        <p:txBody>
          <a:bodyPr wrap="square" lIns="0" tIns="0" rIns="0" bIns="0" rtlCol="0" anchor="ctr"/>
          <a:lstStyle/>
          <a:p>
            <a:pPr indent="0" marL="0">
              <a:lnSpc>
                <a:spcPts val="1100"/>
              </a:lnSpc>
              <a:buNone/>
            </a:pPr>
            <a:r>
              <a:rPr lang="en-US" sz="900" dirty="0">
                <a:solidFill>
                  <a:srgbClr val="334155"/>
                </a:solidFill>
              </a:rPr>
              <a:t>typecheck.py (567 LOC); 12/12 negative cases rejected with the expected message</a:t>
            </a:r>
            <a:endParaRPr lang="en-US" sz="900" dirty="0"/>
          </a:p>
        </p:txBody>
      </p:sp>
      <p:sp>
        <p:nvSpPr>
          <p:cNvPr id="31" name="Text 29"/>
          <p:cNvSpPr/>
          <p:nvPr/>
        </p:nvSpPr>
        <p:spPr>
          <a:xfrm>
            <a:off x="9436608" y="2322576"/>
            <a:ext cx="2103120" cy="182880"/>
          </a:xfrm>
          <a:prstGeom prst="rect">
            <a:avLst/>
          </a:prstGeom>
          <a:noFill/>
          <a:ln/>
        </p:spPr>
        <p:txBody>
          <a:bodyPr wrap="square" lIns="0" tIns="0" rIns="0" bIns="0" rtlCol="0" anchor="ctr"/>
          <a:lstStyle/>
          <a:p>
            <a:pPr indent="0" marL="0">
              <a:buNone/>
            </a:pPr>
            <a:r>
              <a:rPr lang="en-US" sz="750" b="1" spc="80" kern="0" dirty="0">
                <a:solidFill>
                  <a:srgbClr val="B45309"/>
                </a:solidFill>
              </a:rPr>
              <a:t>REVIEW 2 TARGET</a:t>
            </a:r>
            <a:endParaRPr lang="en-US" sz="750" dirty="0"/>
          </a:p>
        </p:txBody>
      </p:sp>
      <p:sp>
        <p:nvSpPr>
          <p:cNvPr id="32" name="Text 30"/>
          <p:cNvSpPr/>
          <p:nvPr/>
        </p:nvSpPr>
        <p:spPr>
          <a:xfrm>
            <a:off x="9436608" y="2487168"/>
            <a:ext cx="2103120" cy="548640"/>
          </a:xfrm>
          <a:prstGeom prst="rect">
            <a:avLst/>
          </a:prstGeom>
          <a:noFill/>
          <a:ln/>
        </p:spPr>
        <p:txBody>
          <a:bodyPr wrap="square" lIns="0" tIns="0" rIns="0" bIns="0" rtlCol="0" anchor="ctr"/>
          <a:lstStyle/>
          <a:p>
            <a:pPr indent="0" marL="0">
              <a:lnSpc>
                <a:spcPts val="1100"/>
              </a:lnSpc>
              <a:buNone/>
            </a:pPr>
            <a:r>
              <a:rPr lang="en-US" sz="900" dirty="0">
                <a:solidFill>
                  <a:srgbClr val="334155"/>
                </a:solidFill>
              </a:rPr>
              <a:t>Negative suite to 60; list[list[T]], Optional[T]</a:t>
            </a:r>
            <a:endParaRPr lang="en-US" sz="900" dirty="0"/>
          </a:p>
        </p:txBody>
      </p:sp>
      <p:sp>
        <p:nvSpPr>
          <p:cNvPr id="33" name="Shape 31"/>
          <p:cNvSpPr/>
          <p:nvPr/>
        </p:nvSpPr>
        <p:spPr>
          <a:xfrm>
            <a:off x="566928" y="3438144"/>
            <a:ext cx="11057839" cy="1133856"/>
          </a:xfrm>
          <a:prstGeom prst="roundRect">
            <a:avLst>
              <a:gd name="adj" fmla="val 4839"/>
            </a:avLst>
          </a:prstGeom>
          <a:solidFill>
            <a:srgbClr val="F1F5F9"/>
          </a:solidFill>
          <a:ln w="9525">
            <a:solidFill>
              <a:srgbClr val="E2E8F0"/>
            </a:solidFill>
            <a:prstDash val="solid"/>
          </a:ln>
        </p:spPr>
      </p:sp>
      <p:sp>
        <p:nvSpPr>
          <p:cNvPr id="34" name="Shape 32"/>
          <p:cNvSpPr/>
          <p:nvPr/>
        </p:nvSpPr>
        <p:spPr>
          <a:xfrm>
            <a:off x="731520" y="3584448"/>
            <a:ext cx="365760" cy="365760"/>
          </a:xfrm>
          <a:prstGeom prst="ellipse">
            <a:avLst/>
          </a:prstGeom>
          <a:solidFill>
            <a:srgbClr val="F97316"/>
          </a:solidFill>
          <a:ln w="12700">
            <a:solidFill>
              <a:srgbClr val="333333"/>
            </a:solidFill>
            <a:prstDash val="solid"/>
          </a:ln>
        </p:spPr>
      </p:sp>
      <p:sp>
        <p:nvSpPr>
          <p:cNvPr id="35" name="Text 33"/>
          <p:cNvSpPr/>
          <p:nvPr/>
        </p:nvSpPr>
        <p:spPr>
          <a:xfrm>
            <a:off x="731520" y="3584448"/>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M3</a:t>
            </a:r>
            <a:endParaRPr lang="en-US" sz="1100" dirty="0"/>
          </a:p>
        </p:txBody>
      </p:sp>
      <p:sp>
        <p:nvSpPr>
          <p:cNvPr id="36" name="Text 34"/>
          <p:cNvSpPr/>
          <p:nvPr/>
        </p:nvSpPr>
        <p:spPr>
          <a:xfrm>
            <a:off x="1188720" y="3566160"/>
            <a:ext cx="2103120" cy="256032"/>
          </a:xfrm>
          <a:prstGeom prst="rect">
            <a:avLst/>
          </a:prstGeom>
          <a:noFill/>
          <a:ln/>
        </p:spPr>
        <p:txBody>
          <a:bodyPr wrap="square" lIns="0" tIns="0" rIns="0" bIns="0" rtlCol="0" anchor="ctr"/>
          <a:lstStyle/>
          <a:p>
            <a:pPr indent="0" marL="0">
              <a:buNone/>
            </a:pPr>
            <a:r>
              <a:rPr lang="en-US" sz="1150" b="1" dirty="0">
                <a:solidFill>
                  <a:srgbClr val="0F172A"/>
                </a:solidFill>
              </a:rPr>
              <a:t>K. V. JAHNAVI</a:t>
            </a:r>
            <a:endParaRPr lang="en-US" sz="1150" dirty="0"/>
          </a:p>
        </p:txBody>
      </p:sp>
      <p:sp>
        <p:nvSpPr>
          <p:cNvPr id="37" name="Text 35"/>
          <p:cNvSpPr/>
          <p:nvPr/>
        </p:nvSpPr>
        <p:spPr>
          <a:xfrm>
            <a:off x="1188720" y="3822192"/>
            <a:ext cx="2103120" cy="219456"/>
          </a:xfrm>
          <a:prstGeom prst="rect">
            <a:avLst/>
          </a:prstGeom>
          <a:noFill/>
          <a:ln/>
        </p:spPr>
        <p:txBody>
          <a:bodyPr wrap="square" lIns="0" tIns="0" rIns="0" bIns="0" rtlCol="0" anchor="ctr"/>
          <a:lstStyle/>
          <a:p>
            <a:pPr indent="0" marL="0">
              <a:buNone/>
            </a:pPr>
            <a:r>
              <a:rPr lang="en-US" sz="950" dirty="0">
                <a:solidFill>
                  <a:srgbClr val="64748B"/>
                </a:solidFill>
              </a:rPr>
              <a:t>24BDS0132</a:t>
            </a:r>
            <a:endParaRPr lang="en-US" sz="950" dirty="0"/>
          </a:p>
        </p:txBody>
      </p:sp>
      <p:sp>
        <p:nvSpPr>
          <p:cNvPr id="38" name="Text 36"/>
          <p:cNvSpPr/>
          <p:nvPr/>
        </p:nvSpPr>
        <p:spPr>
          <a:xfrm>
            <a:off x="1188720" y="4078224"/>
            <a:ext cx="2103120" cy="182880"/>
          </a:xfrm>
          <a:prstGeom prst="rect">
            <a:avLst/>
          </a:prstGeom>
          <a:noFill/>
          <a:ln/>
        </p:spPr>
        <p:txBody>
          <a:bodyPr wrap="square" lIns="0" tIns="0" rIns="0" bIns="0" rtlCol="0" anchor="ctr"/>
          <a:lstStyle/>
          <a:p>
            <a:pPr indent="0" marL="0">
              <a:buNone/>
            </a:pPr>
            <a:r>
              <a:rPr lang="en-US" sz="750" b="1" spc="80" kern="0" dirty="0">
                <a:solidFill>
                  <a:srgbClr val="F97316"/>
                </a:solidFill>
              </a:rPr>
              <a:t>PRIMARY</a:t>
            </a:r>
            <a:endParaRPr lang="en-US" sz="750" dirty="0"/>
          </a:p>
        </p:txBody>
      </p:sp>
      <p:sp>
        <p:nvSpPr>
          <p:cNvPr id="39" name="Text 37"/>
          <p:cNvSpPr/>
          <p:nvPr/>
        </p:nvSpPr>
        <p:spPr>
          <a:xfrm>
            <a:off x="1188720" y="4242816"/>
            <a:ext cx="2148840" cy="292608"/>
          </a:xfrm>
          <a:prstGeom prst="rect">
            <a:avLst/>
          </a:prstGeom>
          <a:noFill/>
          <a:ln/>
        </p:spPr>
        <p:txBody>
          <a:bodyPr wrap="square" lIns="0" tIns="0" rIns="0" bIns="0" rtlCol="0" anchor="ctr"/>
          <a:lstStyle/>
          <a:p>
            <a:pPr indent="0" marL="0">
              <a:lnSpc>
                <a:spcPts val="1050"/>
              </a:lnSpc>
              <a:buNone/>
            </a:pPr>
            <a:r>
              <a:rPr lang="en-US" sz="850" dirty="0">
                <a:solidFill>
                  <a:srgbClr val="334155"/>
                </a:solidFill>
              </a:rPr>
              <a:t>Divergence catalogue, lowering to PIR, Fidelity Report, pyrt runtime</a:t>
            </a:r>
            <a:endParaRPr lang="en-US" sz="850" dirty="0"/>
          </a:p>
        </p:txBody>
      </p:sp>
      <p:sp>
        <p:nvSpPr>
          <p:cNvPr id="40" name="Text 38"/>
          <p:cNvSpPr/>
          <p:nvPr/>
        </p:nvSpPr>
        <p:spPr>
          <a:xfrm>
            <a:off x="3493008" y="3566160"/>
            <a:ext cx="2286000" cy="182880"/>
          </a:xfrm>
          <a:prstGeom prst="rect">
            <a:avLst/>
          </a:prstGeom>
          <a:noFill/>
          <a:ln/>
        </p:spPr>
        <p:txBody>
          <a:bodyPr wrap="square" lIns="0" tIns="0" rIns="0" bIns="0" rtlCol="0" anchor="ctr"/>
          <a:lstStyle/>
          <a:p>
            <a:pPr indent="0" marL="0">
              <a:buNone/>
            </a:pPr>
            <a:r>
              <a:rPr lang="en-US" sz="750" b="1" spc="80" kern="0" dirty="0">
                <a:solidFill>
                  <a:srgbClr val="64748B"/>
                </a:solidFill>
              </a:rPr>
              <a:t>SUPPORTING</a:t>
            </a:r>
            <a:endParaRPr lang="en-US" sz="750" dirty="0"/>
          </a:p>
        </p:txBody>
      </p:sp>
      <p:sp>
        <p:nvSpPr>
          <p:cNvPr id="41" name="Text 39"/>
          <p:cNvSpPr/>
          <p:nvPr/>
        </p:nvSpPr>
        <p:spPr>
          <a:xfrm>
            <a:off x="3493008" y="3730752"/>
            <a:ext cx="2286000" cy="457200"/>
          </a:xfrm>
          <a:prstGeom prst="rect">
            <a:avLst/>
          </a:prstGeom>
          <a:noFill/>
          <a:ln/>
        </p:spPr>
        <p:txBody>
          <a:bodyPr wrap="square" lIns="0" tIns="0" rIns="0" bIns="0" rtlCol="0" anchor="ctr"/>
          <a:lstStyle/>
          <a:p>
            <a:pPr indent="0" marL="0">
              <a:lnSpc>
                <a:spcPts val="1100"/>
              </a:lnSpc>
              <a:buNone/>
            </a:pPr>
            <a:r>
              <a:rPr lang="en-US" sz="900" dirty="0">
                <a:solidFill>
                  <a:srgbClr val="334155"/>
                </a:solidFill>
              </a:rPr>
              <a:t>Performance analysis of the guard mechanism</a:t>
            </a:r>
            <a:endParaRPr lang="en-US" sz="900" dirty="0"/>
          </a:p>
        </p:txBody>
      </p:sp>
      <p:sp>
        <p:nvSpPr>
          <p:cNvPr id="42" name="Text 40"/>
          <p:cNvSpPr/>
          <p:nvPr/>
        </p:nvSpPr>
        <p:spPr>
          <a:xfrm>
            <a:off x="5961888" y="3566160"/>
            <a:ext cx="3291840" cy="182880"/>
          </a:xfrm>
          <a:prstGeom prst="rect">
            <a:avLst/>
          </a:prstGeom>
          <a:noFill/>
          <a:ln/>
        </p:spPr>
        <p:txBody>
          <a:bodyPr wrap="square" lIns="0" tIns="0" rIns="0" bIns="0" rtlCol="0" anchor="ctr"/>
          <a:lstStyle/>
          <a:p>
            <a:pPr indent="0" marL="0">
              <a:buNone/>
            </a:pPr>
            <a:r>
              <a:rPr lang="en-US" sz="750" b="1" spc="80" kern="0" dirty="0">
                <a:solidFill>
                  <a:srgbClr val="0D9488"/>
                </a:solidFill>
              </a:rPr>
              <a:t>REVIEW 1 EVIDENCE</a:t>
            </a:r>
            <a:endParaRPr lang="en-US" sz="750" dirty="0"/>
          </a:p>
        </p:txBody>
      </p:sp>
      <p:sp>
        <p:nvSpPr>
          <p:cNvPr id="43" name="Text 41"/>
          <p:cNvSpPr/>
          <p:nvPr/>
        </p:nvSpPr>
        <p:spPr>
          <a:xfrm>
            <a:off x="5961888" y="3730752"/>
            <a:ext cx="3291840" cy="713232"/>
          </a:xfrm>
          <a:prstGeom prst="rect">
            <a:avLst/>
          </a:prstGeom>
          <a:noFill/>
          <a:ln/>
        </p:spPr>
        <p:txBody>
          <a:bodyPr wrap="square" lIns="0" tIns="0" rIns="0" bIns="0" rtlCol="0" anchor="ctr"/>
          <a:lstStyle/>
          <a:p>
            <a:pPr indent="0" marL="0">
              <a:lnSpc>
                <a:spcPts val="1100"/>
              </a:lnSpc>
              <a:buNone/>
            </a:pPr>
            <a:r>
              <a:rPr lang="en-US" sz="900" dirty="0">
                <a:solidFill>
                  <a:srgbClr val="334155"/>
                </a:solidFill>
              </a:rPr>
              <a:t>lower.py + pyrt (685 LOC); 7 divergence classes; 123 positioned notes across the suite</a:t>
            </a:r>
            <a:endParaRPr lang="en-US" sz="900" dirty="0"/>
          </a:p>
        </p:txBody>
      </p:sp>
      <p:sp>
        <p:nvSpPr>
          <p:cNvPr id="44" name="Text 42"/>
          <p:cNvSpPr/>
          <p:nvPr/>
        </p:nvSpPr>
        <p:spPr>
          <a:xfrm>
            <a:off x="9436608" y="3566160"/>
            <a:ext cx="2103120" cy="182880"/>
          </a:xfrm>
          <a:prstGeom prst="rect">
            <a:avLst/>
          </a:prstGeom>
          <a:noFill/>
          <a:ln/>
        </p:spPr>
        <p:txBody>
          <a:bodyPr wrap="square" lIns="0" tIns="0" rIns="0" bIns="0" rtlCol="0" anchor="ctr"/>
          <a:lstStyle/>
          <a:p>
            <a:pPr indent="0" marL="0">
              <a:buNone/>
            </a:pPr>
            <a:r>
              <a:rPr lang="en-US" sz="750" b="1" spc="80" kern="0" dirty="0">
                <a:solidFill>
                  <a:srgbClr val="B45309"/>
                </a:solidFill>
              </a:rPr>
              <a:t>REVIEW 2 TARGET</a:t>
            </a:r>
            <a:endParaRPr lang="en-US" sz="750" dirty="0"/>
          </a:p>
        </p:txBody>
      </p:sp>
      <p:sp>
        <p:nvSpPr>
          <p:cNvPr id="45" name="Text 43"/>
          <p:cNvSpPr/>
          <p:nvPr/>
        </p:nvSpPr>
        <p:spPr>
          <a:xfrm>
            <a:off x="9436608" y="3730752"/>
            <a:ext cx="2103120" cy="548640"/>
          </a:xfrm>
          <a:prstGeom prst="rect">
            <a:avLst/>
          </a:prstGeom>
          <a:noFill/>
          <a:ln/>
        </p:spPr>
        <p:txBody>
          <a:bodyPr wrap="square" lIns="0" tIns="0" rIns="0" bIns="0" rtlCol="0" anchor="ctr"/>
          <a:lstStyle/>
          <a:p>
            <a:pPr indent="0" marL="0">
              <a:lnSpc>
                <a:spcPts val="1100"/>
              </a:lnSpc>
              <a:buNone/>
            </a:pPr>
            <a:r>
              <a:rPr lang="en-US" sz="900" dirty="0">
                <a:solidFill>
                  <a:srgbClr val="334155"/>
                </a:solidFill>
              </a:rPr>
              <a:t>Interval analysis to elide safe guards; hash-map runtime</a:t>
            </a:r>
            <a:endParaRPr lang="en-US" sz="900" dirty="0"/>
          </a:p>
        </p:txBody>
      </p:sp>
      <p:sp>
        <p:nvSpPr>
          <p:cNvPr id="46" name="Shape 44"/>
          <p:cNvSpPr/>
          <p:nvPr/>
        </p:nvSpPr>
        <p:spPr>
          <a:xfrm>
            <a:off x="566928" y="4681728"/>
            <a:ext cx="11057839" cy="1133856"/>
          </a:xfrm>
          <a:prstGeom prst="roundRect">
            <a:avLst>
              <a:gd name="adj" fmla="val 4839"/>
            </a:avLst>
          </a:prstGeom>
          <a:solidFill>
            <a:srgbClr val="F1F5F9"/>
          </a:solidFill>
          <a:ln w="9525">
            <a:solidFill>
              <a:srgbClr val="E2E8F0"/>
            </a:solidFill>
            <a:prstDash val="solid"/>
          </a:ln>
        </p:spPr>
      </p:sp>
      <p:sp>
        <p:nvSpPr>
          <p:cNvPr id="47" name="Shape 45"/>
          <p:cNvSpPr/>
          <p:nvPr/>
        </p:nvSpPr>
        <p:spPr>
          <a:xfrm>
            <a:off x="731520" y="4828032"/>
            <a:ext cx="365760" cy="365760"/>
          </a:xfrm>
          <a:prstGeom prst="ellipse">
            <a:avLst/>
          </a:prstGeom>
          <a:solidFill>
            <a:srgbClr val="8B5CF6"/>
          </a:solidFill>
          <a:ln w="12700">
            <a:solidFill>
              <a:srgbClr val="333333"/>
            </a:solidFill>
            <a:prstDash val="solid"/>
          </a:ln>
        </p:spPr>
      </p:sp>
      <p:sp>
        <p:nvSpPr>
          <p:cNvPr id="48" name="Text 46"/>
          <p:cNvSpPr/>
          <p:nvPr/>
        </p:nvSpPr>
        <p:spPr>
          <a:xfrm>
            <a:off x="731520" y="4828032"/>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M4</a:t>
            </a:r>
            <a:endParaRPr lang="en-US" sz="1100" dirty="0"/>
          </a:p>
        </p:txBody>
      </p:sp>
      <p:sp>
        <p:nvSpPr>
          <p:cNvPr id="49" name="Text 47"/>
          <p:cNvSpPr/>
          <p:nvPr/>
        </p:nvSpPr>
        <p:spPr>
          <a:xfrm>
            <a:off x="1188720" y="4809744"/>
            <a:ext cx="2103120" cy="256032"/>
          </a:xfrm>
          <a:prstGeom prst="rect">
            <a:avLst/>
          </a:prstGeom>
          <a:noFill/>
          <a:ln/>
        </p:spPr>
        <p:txBody>
          <a:bodyPr wrap="square" lIns="0" tIns="0" rIns="0" bIns="0" rtlCol="0" anchor="ctr"/>
          <a:lstStyle/>
          <a:p>
            <a:pPr indent="0" marL="0">
              <a:buNone/>
            </a:pPr>
            <a:r>
              <a:rPr lang="en-US" sz="1150" b="1" dirty="0">
                <a:solidFill>
                  <a:srgbClr val="0F172A"/>
                </a:solidFill>
              </a:rPr>
              <a:t>AARYAN GUPTA</a:t>
            </a:r>
            <a:endParaRPr lang="en-US" sz="1150" dirty="0"/>
          </a:p>
        </p:txBody>
      </p:sp>
      <p:sp>
        <p:nvSpPr>
          <p:cNvPr id="50" name="Text 48"/>
          <p:cNvSpPr/>
          <p:nvPr/>
        </p:nvSpPr>
        <p:spPr>
          <a:xfrm>
            <a:off x="1188720" y="5065776"/>
            <a:ext cx="2103120" cy="219456"/>
          </a:xfrm>
          <a:prstGeom prst="rect">
            <a:avLst/>
          </a:prstGeom>
          <a:noFill/>
          <a:ln/>
        </p:spPr>
        <p:txBody>
          <a:bodyPr wrap="square" lIns="0" tIns="0" rIns="0" bIns="0" rtlCol="0" anchor="ctr"/>
          <a:lstStyle/>
          <a:p>
            <a:pPr indent="0" marL="0">
              <a:buNone/>
            </a:pPr>
            <a:r>
              <a:rPr lang="en-US" sz="950" dirty="0">
                <a:solidFill>
                  <a:srgbClr val="64748B"/>
                </a:solidFill>
              </a:rPr>
              <a:t>24BDS0134</a:t>
            </a:r>
            <a:endParaRPr lang="en-US" sz="950" dirty="0"/>
          </a:p>
        </p:txBody>
      </p:sp>
      <p:sp>
        <p:nvSpPr>
          <p:cNvPr id="51" name="Text 49"/>
          <p:cNvSpPr/>
          <p:nvPr/>
        </p:nvSpPr>
        <p:spPr>
          <a:xfrm>
            <a:off x="1188720" y="5321808"/>
            <a:ext cx="2103120" cy="182880"/>
          </a:xfrm>
          <a:prstGeom prst="rect">
            <a:avLst/>
          </a:prstGeom>
          <a:noFill/>
          <a:ln/>
        </p:spPr>
        <p:txBody>
          <a:bodyPr wrap="square" lIns="0" tIns="0" rIns="0" bIns="0" rtlCol="0" anchor="ctr"/>
          <a:lstStyle/>
          <a:p>
            <a:pPr indent="0" marL="0">
              <a:buNone/>
            </a:pPr>
            <a:r>
              <a:rPr lang="en-US" sz="750" b="1" spc="80" kern="0" dirty="0">
                <a:solidFill>
                  <a:srgbClr val="8B5CF6"/>
                </a:solidFill>
              </a:rPr>
              <a:t>PRIMARY</a:t>
            </a:r>
            <a:endParaRPr lang="en-US" sz="750" dirty="0"/>
          </a:p>
        </p:txBody>
      </p:sp>
      <p:sp>
        <p:nvSpPr>
          <p:cNvPr id="52" name="Text 50"/>
          <p:cNvSpPr/>
          <p:nvPr/>
        </p:nvSpPr>
        <p:spPr>
          <a:xfrm>
            <a:off x="1188720" y="5486400"/>
            <a:ext cx="2148840" cy="292608"/>
          </a:xfrm>
          <a:prstGeom prst="rect">
            <a:avLst/>
          </a:prstGeom>
          <a:noFill/>
          <a:ln/>
        </p:spPr>
        <p:txBody>
          <a:bodyPr wrap="square" lIns="0" tIns="0" rIns="0" bIns="0" rtlCol="0" anchor="ctr"/>
          <a:lstStyle/>
          <a:p>
            <a:pPr indent="0" marL="0">
              <a:lnSpc>
                <a:spcPts val="1050"/>
              </a:lnSpc>
              <a:buNone/>
            </a:pPr>
            <a:r>
              <a:rPr lang="en-US" sz="850" dirty="0">
                <a:solidFill>
                  <a:srgbClr val="334155"/>
                </a:solidFill>
              </a:rPr>
              <a:t>C11 emitter, differential oracle, benchmark harness, project plan</a:t>
            </a:r>
            <a:endParaRPr lang="en-US" sz="850" dirty="0"/>
          </a:p>
        </p:txBody>
      </p:sp>
      <p:sp>
        <p:nvSpPr>
          <p:cNvPr id="53" name="Text 51"/>
          <p:cNvSpPr/>
          <p:nvPr/>
        </p:nvSpPr>
        <p:spPr>
          <a:xfrm>
            <a:off x="3493008" y="4809744"/>
            <a:ext cx="2286000" cy="182880"/>
          </a:xfrm>
          <a:prstGeom prst="rect">
            <a:avLst/>
          </a:prstGeom>
          <a:noFill/>
          <a:ln/>
        </p:spPr>
        <p:txBody>
          <a:bodyPr wrap="square" lIns="0" tIns="0" rIns="0" bIns="0" rtlCol="0" anchor="ctr"/>
          <a:lstStyle/>
          <a:p>
            <a:pPr indent="0" marL="0">
              <a:buNone/>
            </a:pPr>
            <a:r>
              <a:rPr lang="en-US" sz="750" b="1" spc="80" kern="0" dirty="0">
                <a:solidFill>
                  <a:srgbClr val="64748B"/>
                </a:solidFill>
              </a:rPr>
              <a:t>SUPPORTING</a:t>
            </a:r>
            <a:endParaRPr lang="en-US" sz="750" dirty="0"/>
          </a:p>
        </p:txBody>
      </p:sp>
      <p:sp>
        <p:nvSpPr>
          <p:cNvPr id="54" name="Text 52"/>
          <p:cNvSpPr/>
          <p:nvPr/>
        </p:nvSpPr>
        <p:spPr>
          <a:xfrm>
            <a:off x="3493008" y="4974336"/>
            <a:ext cx="2286000" cy="457200"/>
          </a:xfrm>
          <a:prstGeom prst="rect">
            <a:avLst/>
          </a:prstGeom>
          <a:noFill/>
          <a:ln/>
        </p:spPr>
        <p:txBody>
          <a:bodyPr wrap="square" lIns="0" tIns="0" rIns="0" bIns="0" rtlCol="0" anchor="ctr"/>
          <a:lstStyle/>
          <a:p>
            <a:pPr indent="0" marL="0">
              <a:lnSpc>
                <a:spcPts val="1100"/>
              </a:lnSpc>
              <a:buNone/>
            </a:pPr>
            <a:r>
              <a:rPr lang="en-US" sz="900" dirty="0">
                <a:solidFill>
                  <a:srgbClr val="334155"/>
                </a:solidFill>
              </a:rPr>
              <a:t>CI configuration, task board, contribution log</a:t>
            </a:r>
            <a:endParaRPr lang="en-US" sz="900" dirty="0"/>
          </a:p>
        </p:txBody>
      </p:sp>
      <p:sp>
        <p:nvSpPr>
          <p:cNvPr id="55" name="Text 53"/>
          <p:cNvSpPr/>
          <p:nvPr/>
        </p:nvSpPr>
        <p:spPr>
          <a:xfrm>
            <a:off x="5961888" y="4809744"/>
            <a:ext cx="3291840" cy="182880"/>
          </a:xfrm>
          <a:prstGeom prst="rect">
            <a:avLst/>
          </a:prstGeom>
          <a:noFill/>
          <a:ln/>
        </p:spPr>
        <p:txBody>
          <a:bodyPr wrap="square" lIns="0" tIns="0" rIns="0" bIns="0" rtlCol="0" anchor="ctr"/>
          <a:lstStyle/>
          <a:p>
            <a:pPr indent="0" marL="0">
              <a:buNone/>
            </a:pPr>
            <a:r>
              <a:rPr lang="en-US" sz="750" b="1" spc="80" kern="0" dirty="0">
                <a:solidFill>
                  <a:srgbClr val="0D9488"/>
                </a:solidFill>
              </a:rPr>
              <a:t>REVIEW 1 EVIDENCE</a:t>
            </a:r>
            <a:endParaRPr lang="en-US" sz="750" dirty="0"/>
          </a:p>
        </p:txBody>
      </p:sp>
      <p:sp>
        <p:nvSpPr>
          <p:cNvPr id="56" name="Text 54"/>
          <p:cNvSpPr/>
          <p:nvPr/>
        </p:nvSpPr>
        <p:spPr>
          <a:xfrm>
            <a:off x="5961888" y="4974336"/>
            <a:ext cx="3291840" cy="713232"/>
          </a:xfrm>
          <a:prstGeom prst="rect">
            <a:avLst/>
          </a:prstGeom>
          <a:noFill/>
          <a:ln/>
        </p:spPr>
        <p:txBody>
          <a:bodyPr wrap="square" lIns="0" tIns="0" rIns="0" bIns="0" rtlCol="0" anchor="ctr"/>
          <a:lstStyle/>
          <a:p>
            <a:pPr indent="0" marL="0">
              <a:lnSpc>
                <a:spcPts val="1100"/>
              </a:lnSpc>
              <a:buNone/>
            </a:pPr>
            <a:r>
              <a:rPr lang="en-US" sz="900" dirty="0">
                <a:solidFill>
                  <a:srgbClr val="334155"/>
                </a:solidFill>
              </a:rPr>
              <a:t>emit_c.py + oracle.py (608 LOC); 14/14 equivalence; 9.4× median speedup measured</a:t>
            </a:r>
            <a:endParaRPr lang="en-US" sz="900" dirty="0"/>
          </a:p>
        </p:txBody>
      </p:sp>
      <p:sp>
        <p:nvSpPr>
          <p:cNvPr id="57" name="Text 55"/>
          <p:cNvSpPr/>
          <p:nvPr/>
        </p:nvSpPr>
        <p:spPr>
          <a:xfrm>
            <a:off x="9436608" y="4809744"/>
            <a:ext cx="2103120" cy="182880"/>
          </a:xfrm>
          <a:prstGeom prst="rect">
            <a:avLst/>
          </a:prstGeom>
          <a:noFill/>
          <a:ln/>
        </p:spPr>
        <p:txBody>
          <a:bodyPr wrap="square" lIns="0" tIns="0" rIns="0" bIns="0" rtlCol="0" anchor="ctr"/>
          <a:lstStyle/>
          <a:p>
            <a:pPr indent="0" marL="0">
              <a:buNone/>
            </a:pPr>
            <a:r>
              <a:rPr lang="en-US" sz="750" b="1" spc="80" kern="0" dirty="0">
                <a:solidFill>
                  <a:srgbClr val="B45309"/>
                </a:solidFill>
              </a:rPr>
              <a:t>REVIEW 2 TARGET</a:t>
            </a:r>
            <a:endParaRPr lang="en-US" sz="750" dirty="0"/>
          </a:p>
        </p:txBody>
      </p:sp>
      <p:sp>
        <p:nvSpPr>
          <p:cNvPr id="58" name="Text 56"/>
          <p:cNvSpPr/>
          <p:nvPr/>
        </p:nvSpPr>
        <p:spPr>
          <a:xfrm>
            <a:off x="9436608" y="4974336"/>
            <a:ext cx="2103120" cy="548640"/>
          </a:xfrm>
          <a:prstGeom prst="rect">
            <a:avLst/>
          </a:prstGeom>
          <a:noFill/>
          <a:ln/>
        </p:spPr>
        <p:txBody>
          <a:bodyPr wrap="square" lIns="0" tIns="0" rIns="0" bIns="0" rtlCol="0" anchor="ctr"/>
          <a:lstStyle/>
          <a:p>
            <a:pPr indent="0" marL="0">
              <a:lnSpc>
                <a:spcPts val="1100"/>
              </a:lnSpc>
              <a:buNone/>
            </a:pPr>
            <a:r>
              <a:rPr lang="en-US" sz="900" dirty="0">
                <a:solidFill>
                  <a:srgbClr val="334155"/>
                </a:solidFill>
              </a:rPr>
              <a:t>Grammar-directed generator; corpus to 120</a:t>
            </a:r>
            <a:endParaRPr lang="en-US" sz="900" dirty="0"/>
          </a:p>
        </p:txBody>
      </p:sp>
      <p:sp>
        <p:nvSpPr>
          <p:cNvPr id="59" name="Text 57"/>
          <p:cNvSpPr/>
          <p:nvPr/>
        </p:nvSpPr>
        <p:spPr>
          <a:xfrm>
            <a:off x="566928" y="5943600"/>
            <a:ext cx="11057839" cy="384048"/>
          </a:xfrm>
          <a:prstGeom prst="rect">
            <a:avLst/>
          </a:prstGeom>
          <a:noFill/>
          <a:ln/>
        </p:spPr>
        <p:txBody>
          <a:bodyPr wrap="square" lIns="0" tIns="0" rIns="0" bIns="0" rtlCol="0" anchor="ctr"/>
          <a:lstStyle/>
          <a:p>
            <a:pPr indent="0" marL="0">
              <a:buNone/>
            </a:pPr>
            <a:r>
              <a:rPr lang="en-US" sz="1050" i="1" dirty="0">
                <a:solidFill>
                  <a:srgbClr val="64748B"/>
                </a:solidFill>
              </a:rPr>
              <a:t>Every member owns one technical component end to end. Secondary owners so no phase is a single point of failure: front end M4 · type checker M3 · runtime M2 · emitter M1.</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8040319" cy="566928"/>
          </a:xfrm>
          <a:prstGeom prst="rect">
            <a:avLst/>
          </a:prstGeom>
          <a:noFill/>
          <a:ln/>
        </p:spPr>
        <p:txBody>
          <a:bodyPr wrap="square" lIns="0" tIns="0" rIns="0" bIns="0" rtlCol="0" anchor="ctr"/>
          <a:lstStyle/>
          <a:p>
            <a:pPr indent="0" marL="0">
              <a:buNone/>
            </a:pPr>
            <a:r>
              <a:rPr lang="en-US" sz="2400" b="1" dirty="0">
                <a:solidFill>
                  <a:srgbClr val="0F172A"/>
                </a:solidFill>
              </a:rPr>
              <a:t>Timeline, milestones and Review 2 / 3 outcomes</a:t>
            </a:r>
            <a:endParaRPr lang="en-US" sz="2400" dirty="0"/>
          </a:p>
        </p:txBody>
      </p:sp>
      <p:sp>
        <p:nvSpPr>
          <p:cNvPr id="3" name="Shape 1"/>
          <p:cNvSpPr/>
          <p:nvPr/>
        </p:nvSpPr>
        <p:spPr>
          <a:xfrm>
            <a:off x="8835847" y="310896"/>
            <a:ext cx="2788920" cy="310896"/>
          </a:xfrm>
          <a:prstGeom prst="roundRect">
            <a:avLst>
              <a:gd name="adj" fmla="val 50000"/>
            </a:avLst>
          </a:prstGeom>
          <a:solidFill>
            <a:srgbClr val="F1F5F9"/>
          </a:solidFill>
          <a:ln w="9525">
            <a:solidFill>
              <a:srgbClr val="E2E8F0"/>
            </a:solidFill>
            <a:prstDash val="solid"/>
          </a:ln>
        </p:spPr>
      </p:sp>
      <p:sp>
        <p:nvSpPr>
          <p:cNvPr id="4" name="Text 2"/>
          <p:cNvSpPr/>
          <p:nvPr/>
        </p:nvSpPr>
        <p:spPr>
          <a:xfrm>
            <a:off x="8835847" y="310896"/>
            <a:ext cx="2788920" cy="310896"/>
          </a:xfrm>
          <a:prstGeom prst="rect">
            <a:avLst/>
          </a:prstGeom>
          <a:noFill/>
          <a:ln/>
        </p:spPr>
        <p:txBody>
          <a:bodyPr wrap="square" lIns="0" tIns="0" rIns="0" bIns="0" rtlCol="0" anchor="ctr"/>
          <a:lstStyle/>
          <a:p>
            <a:pPr algn="ctr" indent="0" marL="0">
              <a:buNone/>
            </a:pPr>
            <a:r>
              <a:rPr lang="en-US" sz="900" b="1" spc="80" kern="0" dirty="0">
                <a:solidFill>
                  <a:srgbClr val="334155"/>
                </a:solidFill>
              </a:rPr>
              <a:t>MEMBER 4 · AARYAN</a:t>
            </a:r>
            <a:endParaRPr lang="en-US" sz="900" dirty="0"/>
          </a:p>
        </p:txBody>
      </p:sp>
      <p:sp>
        <p:nvSpPr>
          <p:cNvPr id="5" name="Text 3"/>
          <p:cNvSpPr/>
          <p:nvPr/>
        </p:nvSpPr>
        <p:spPr>
          <a:xfrm>
            <a:off x="11076127" y="6382512"/>
            <a:ext cx="548640" cy="274320"/>
          </a:xfrm>
          <a:prstGeom prst="rect">
            <a:avLst/>
          </a:prstGeom>
          <a:noFill/>
          <a:ln/>
        </p:spPr>
        <p:txBody>
          <a:bodyPr wrap="square" lIns="0" tIns="0" rIns="0" bIns="0" rtlCol="0" anchor="ctr"/>
          <a:lstStyle/>
          <a:p>
            <a:pPr algn="r" indent="0" marL="0">
              <a:buNone/>
            </a:pPr>
            <a:r>
              <a:rPr lang="en-US" sz="1000" dirty="0">
                <a:solidFill>
                  <a:srgbClr val="64748B"/>
                </a:solidFill>
              </a:rPr>
              <a:t>11</a:t>
            </a:r>
            <a:endParaRPr lang="en-US" sz="1000" dirty="0"/>
          </a:p>
        </p:txBody>
      </p:sp>
      <p:sp>
        <p:nvSpPr>
          <p:cNvPr id="6" name="Text 4"/>
          <p:cNvSpPr/>
          <p:nvPr/>
        </p:nvSpPr>
        <p:spPr>
          <a:xfrm>
            <a:off x="566928" y="6382512"/>
            <a:ext cx="5486400" cy="274320"/>
          </a:xfrm>
          <a:prstGeom prst="rect">
            <a:avLst/>
          </a:prstGeom>
          <a:noFill/>
          <a:ln/>
        </p:spPr>
        <p:txBody>
          <a:bodyPr wrap="square" lIns="0" tIns="0" rIns="0" bIns="0" rtlCol="0" anchor="ctr"/>
          <a:lstStyle/>
          <a:p>
            <a:pPr indent="0" marL="0">
              <a:buNone/>
            </a:pPr>
            <a:r>
              <a:rPr lang="en-US" sz="900" dirty="0">
                <a:solidFill>
                  <a:srgbClr val="94A3B8"/>
                </a:solidFill>
              </a:rPr>
              <a:t>PYTHIA  ·  BCSE307L Team 2  ·  Project A15</a:t>
            </a:r>
            <a:endParaRPr lang="en-US" sz="900" dirty="0"/>
          </a:p>
        </p:txBody>
      </p:sp>
      <p:pic>
        <p:nvPicPr>
          <p:cNvPr id="7" name="Image 0" descr="/home/claude/pythia/docs/gantt.png">    </p:cNvPr>
          <p:cNvPicPr>
            <a:picLocks noChangeAspect="1"/>
          </p:cNvPicPr>
          <p:nvPr/>
        </p:nvPicPr>
        <p:blipFill>
          <a:blip r:embed="rId1"/>
          <a:stretch>
            <a:fillRect/>
          </a:stretch>
        </p:blipFill>
        <p:spPr>
          <a:xfrm>
            <a:off x="566928" y="1005840"/>
            <a:ext cx="6903720" cy="4682924"/>
          </a:xfrm>
          <a:prstGeom prst="rect">
            <a:avLst/>
          </a:prstGeom>
        </p:spPr>
      </p:pic>
      <p:sp>
        <p:nvSpPr>
          <p:cNvPr id="8" name="Shape 5"/>
          <p:cNvSpPr/>
          <p:nvPr/>
        </p:nvSpPr>
        <p:spPr>
          <a:xfrm>
            <a:off x="7744968" y="932688"/>
            <a:ext cx="3877056" cy="1572768"/>
          </a:xfrm>
          <a:prstGeom prst="roundRect">
            <a:avLst>
              <a:gd name="adj" fmla="val 4651"/>
            </a:avLst>
          </a:prstGeom>
          <a:solidFill>
            <a:srgbClr val="F1F5F9"/>
          </a:solidFill>
          <a:ln w="9525">
            <a:solidFill>
              <a:srgbClr val="E2E8F0"/>
            </a:solidFill>
            <a:prstDash val="solid"/>
          </a:ln>
        </p:spPr>
      </p:sp>
      <p:sp>
        <p:nvSpPr>
          <p:cNvPr id="9" name="Text 6"/>
          <p:cNvSpPr/>
          <p:nvPr/>
        </p:nvSpPr>
        <p:spPr>
          <a:xfrm>
            <a:off x="7927848" y="1060704"/>
            <a:ext cx="2011680" cy="237744"/>
          </a:xfrm>
          <a:prstGeom prst="rect">
            <a:avLst/>
          </a:prstGeom>
          <a:noFill/>
          <a:ln/>
        </p:spPr>
        <p:txBody>
          <a:bodyPr wrap="square" lIns="0" tIns="0" rIns="0" bIns="0" rtlCol="0" anchor="ctr"/>
          <a:lstStyle/>
          <a:p>
            <a:pPr indent="0" marL="0">
              <a:buNone/>
            </a:pPr>
            <a:r>
              <a:rPr lang="en-US" sz="1150" b="1" spc="100" kern="0" dirty="0">
                <a:solidFill>
                  <a:srgbClr val="0D9488"/>
                </a:solidFill>
              </a:rPr>
              <a:t>REVIEW 1</a:t>
            </a:r>
            <a:endParaRPr lang="en-US" sz="1150" dirty="0"/>
          </a:p>
        </p:txBody>
      </p:sp>
      <p:sp>
        <p:nvSpPr>
          <p:cNvPr id="10" name="Text 7"/>
          <p:cNvSpPr/>
          <p:nvPr/>
        </p:nvSpPr>
        <p:spPr>
          <a:xfrm>
            <a:off x="10076688" y="1060704"/>
            <a:ext cx="1371600" cy="237744"/>
          </a:xfrm>
          <a:prstGeom prst="rect">
            <a:avLst/>
          </a:prstGeom>
          <a:noFill/>
          <a:ln/>
        </p:spPr>
        <p:txBody>
          <a:bodyPr wrap="square" lIns="0" tIns="0" rIns="0" bIns="0" rtlCol="0" anchor="ctr"/>
          <a:lstStyle/>
          <a:p>
            <a:pPr algn="r" indent="0" marL="0">
              <a:buNone/>
            </a:pPr>
            <a:r>
              <a:rPr lang="en-US" sz="1150" b="1" dirty="0">
                <a:solidFill>
                  <a:srgbClr val="64748B"/>
                </a:solidFill>
              </a:rPr>
              <a:t>W3</a:t>
            </a:r>
            <a:endParaRPr lang="en-US" sz="1150" dirty="0"/>
          </a:p>
        </p:txBody>
      </p:sp>
      <p:sp>
        <p:nvSpPr>
          <p:cNvPr id="11" name="Text 8"/>
          <p:cNvSpPr/>
          <p:nvPr/>
        </p:nvSpPr>
        <p:spPr>
          <a:xfrm>
            <a:off x="7927848" y="1335024"/>
            <a:ext cx="3511296" cy="603504"/>
          </a:xfrm>
          <a:prstGeom prst="rect">
            <a:avLst/>
          </a:prstGeom>
          <a:noFill/>
          <a:ln/>
        </p:spPr>
        <p:txBody>
          <a:bodyPr wrap="square" lIns="0" tIns="0" rIns="0" bIns="0" rtlCol="0" anchor="ctr"/>
          <a:lstStyle/>
          <a:p>
            <a:pPr indent="0" marL="0">
              <a:lnSpc>
                <a:spcPts val="1200"/>
              </a:lnSpc>
              <a:buNone/>
            </a:pPr>
            <a:r>
              <a:rPr lang="en-US" sz="950" dirty="0">
                <a:solidFill>
                  <a:srgbClr val="334155"/>
                </a:solidFill>
              </a:rPr>
              <a:t>Complete pipeline for PySub v0.1 · grammar · catalogue D1–D7 · differential oracle · report and deck</a:t>
            </a:r>
            <a:endParaRPr lang="en-US" sz="950" dirty="0"/>
          </a:p>
        </p:txBody>
      </p:sp>
      <p:sp>
        <p:nvSpPr>
          <p:cNvPr id="12" name="Text 9"/>
          <p:cNvSpPr/>
          <p:nvPr/>
        </p:nvSpPr>
        <p:spPr>
          <a:xfrm>
            <a:off x="7927848" y="1938528"/>
            <a:ext cx="3511296" cy="164592"/>
          </a:xfrm>
          <a:prstGeom prst="rect">
            <a:avLst/>
          </a:prstGeom>
          <a:noFill/>
          <a:ln/>
        </p:spPr>
        <p:txBody>
          <a:bodyPr wrap="square" lIns="0" tIns="0" rIns="0" bIns="0" rtlCol="0" anchor="ctr"/>
          <a:lstStyle/>
          <a:p>
            <a:pPr indent="0" marL="0">
              <a:buNone/>
            </a:pPr>
            <a:r>
              <a:rPr lang="en-US" sz="750" b="1" spc="80" kern="0" dirty="0">
                <a:solidFill>
                  <a:srgbClr val="64748B"/>
                </a:solidFill>
              </a:rPr>
              <a:t>ACCEPTANCE</a:t>
            </a:r>
            <a:endParaRPr lang="en-US" sz="750" dirty="0"/>
          </a:p>
        </p:txBody>
      </p:sp>
      <p:sp>
        <p:nvSpPr>
          <p:cNvPr id="13" name="Text 10"/>
          <p:cNvSpPr/>
          <p:nvPr/>
        </p:nvSpPr>
        <p:spPr>
          <a:xfrm>
            <a:off x="7927848" y="2084832"/>
            <a:ext cx="3511296" cy="365760"/>
          </a:xfrm>
          <a:prstGeom prst="rect">
            <a:avLst/>
          </a:prstGeom>
          <a:noFill/>
          <a:ln/>
        </p:spPr>
        <p:txBody>
          <a:bodyPr wrap="square" lIns="0" tIns="0" rIns="0" bIns="0" rtlCol="0" anchor="ctr"/>
          <a:lstStyle/>
          <a:p>
            <a:pPr indent="0" marL="0">
              <a:lnSpc>
                <a:spcPts val="1150"/>
              </a:lnSpc>
              <a:buNone/>
            </a:pPr>
            <a:r>
              <a:rPr lang="en-US" sz="950" i="1" dirty="0">
                <a:solidFill>
                  <a:srgbClr val="0D9488"/>
                </a:solidFill>
              </a:rPr>
              <a:t>Oracle green on the whole corpus; every member demonstrates their own module</a:t>
            </a:r>
            <a:endParaRPr lang="en-US" sz="950" dirty="0"/>
          </a:p>
        </p:txBody>
      </p:sp>
      <p:sp>
        <p:nvSpPr>
          <p:cNvPr id="14" name="Shape 11"/>
          <p:cNvSpPr/>
          <p:nvPr/>
        </p:nvSpPr>
        <p:spPr>
          <a:xfrm>
            <a:off x="7744968" y="2670048"/>
            <a:ext cx="3877056" cy="1572768"/>
          </a:xfrm>
          <a:prstGeom prst="roundRect">
            <a:avLst>
              <a:gd name="adj" fmla="val 4651"/>
            </a:avLst>
          </a:prstGeom>
          <a:solidFill>
            <a:srgbClr val="F1F5F9"/>
          </a:solidFill>
          <a:ln w="9525">
            <a:solidFill>
              <a:srgbClr val="E2E8F0"/>
            </a:solidFill>
            <a:prstDash val="solid"/>
          </a:ln>
        </p:spPr>
      </p:sp>
      <p:sp>
        <p:nvSpPr>
          <p:cNvPr id="15" name="Text 12"/>
          <p:cNvSpPr/>
          <p:nvPr/>
        </p:nvSpPr>
        <p:spPr>
          <a:xfrm>
            <a:off x="7927848" y="2798064"/>
            <a:ext cx="2011680" cy="237744"/>
          </a:xfrm>
          <a:prstGeom prst="rect">
            <a:avLst/>
          </a:prstGeom>
          <a:noFill/>
          <a:ln/>
        </p:spPr>
        <p:txBody>
          <a:bodyPr wrap="square" lIns="0" tIns="0" rIns="0" bIns="0" rtlCol="0" anchor="ctr"/>
          <a:lstStyle/>
          <a:p>
            <a:pPr indent="0" marL="0">
              <a:buNone/>
            </a:pPr>
            <a:r>
              <a:rPr lang="en-US" sz="1150" b="1" spc="100" kern="0" dirty="0">
                <a:solidFill>
                  <a:srgbClr val="B45309"/>
                </a:solidFill>
              </a:rPr>
              <a:t>REVIEW 2</a:t>
            </a:r>
            <a:endParaRPr lang="en-US" sz="1150" dirty="0"/>
          </a:p>
        </p:txBody>
      </p:sp>
      <p:sp>
        <p:nvSpPr>
          <p:cNvPr id="16" name="Text 13"/>
          <p:cNvSpPr/>
          <p:nvPr/>
        </p:nvSpPr>
        <p:spPr>
          <a:xfrm>
            <a:off x="10076688" y="2798064"/>
            <a:ext cx="1371600" cy="237744"/>
          </a:xfrm>
          <a:prstGeom prst="rect">
            <a:avLst/>
          </a:prstGeom>
          <a:noFill/>
          <a:ln/>
        </p:spPr>
        <p:txBody>
          <a:bodyPr wrap="square" lIns="0" tIns="0" rIns="0" bIns="0" rtlCol="0" anchor="ctr"/>
          <a:lstStyle/>
          <a:p>
            <a:pPr algn="r" indent="0" marL="0">
              <a:buNone/>
            </a:pPr>
            <a:r>
              <a:rPr lang="en-US" sz="1150" b="1" dirty="0">
                <a:solidFill>
                  <a:srgbClr val="64748B"/>
                </a:solidFill>
              </a:rPr>
              <a:t>W8</a:t>
            </a:r>
            <a:endParaRPr lang="en-US" sz="1150" dirty="0"/>
          </a:p>
        </p:txBody>
      </p:sp>
      <p:sp>
        <p:nvSpPr>
          <p:cNvPr id="17" name="Text 14"/>
          <p:cNvSpPr/>
          <p:nvPr/>
        </p:nvSpPr>
        <p:spPr>
          <a:xfrm>
            <a:off x="7927848" y="3072384"/>
            <a:ext cx="3511296" cy="603504"/>
          </a:xfrm>
          <a:prstGeom prst="rect">
            <a:avLst/>
          </a:prstGeom>
          <a:noFill/>
          <a:ln/>
        </p:spPr>
        <p:txBody>
          <a:bodyPr wrap="square" lIns="0" tIns="0" rIns="0" bIns="0" rtlCol="0" anchor="ctr"/>
          <a:lstStyle/>
          <a:p>
            <a:pPr indent="0" marL="0">
              <a:lnSpc>
                <a:spcPts val="1200"/>
              </a:lnSpc>
              <a:buNone/>
            </a:pPr>
            <a:r>
              <a:rPr lang="en-US" sz="950" dirty="0">
                <a:solidFill>
                  <a:srgbClr val="334155"/>
                </a:solidFill>
              </a:rPr>
              <a:t>Grammar-directed generator · corpus 120 / 60 · interval analysis for guard elision · nested generics · ISO C fallback</a:t>
            </a:r>
            <a:endParaRPr lang="en-US" sz="950" dirty="0"/>
          </a:p>
        </p:txBody>
      </p:sp>
      <p:sp>
        <p:nvSpPr>
          <p:cNvPr id="18" name="Text 15"/>
          <p:cNvSpPr/>
          <p:nvPr/>
        </p:nvSpPr>
        <p:spPr>
          <a:xfrm>
            <a:off x="7927848" y="3675888"/>
            <a:ext cx="3511296" cy="164592"/>
          </a:xfrm>
          <a:prstGeom prst="rect">
            <a:avLst/>
          </a:prstGeom>
          <a:noFill/>
          <a:ln/>
        </p:spPr>
        <p:txBody>
          <a:bodyPr wrap="square" lIns="0" tIns="0" rIns="0" bIns="0" rtlCol="0" anchor="ctr"/>
          <a:lstStyle/>
          <a:p>
            <a:pPr indent="0" marL="0">
              <a:buNone/>
            </a:pPr>
            <a:r>
              <a:rPr lang="en-US" sz="750" b="1" spc="80" kern="0" dirty="0">
                <a:solidFill>
                  <a:srgbClr val="64748B"/>
                </a:solidFill>
              </a:rPr>
              <a:t>ACCEPTANCE</a:t>
            </a:r>
            <a:endParaRPr lang="en-US" sz="750" dirty="0"/>
          </a:p>
        </p:txBody>
      </p:sp>
      <p:sp>
        <p:nvSpPr>
          <p:cNvPr id="19" name="Text 16"/>
          <p:cNvSpPr/>
          <p:nvPr/>
        </p:nvSpPr>
        <p:spPr>
          <a:xfrm>
            <a:off x="7927848" y="3822192"/>
            <a:ext cx="3511296" cy="365760"/>
          </a:xfrm>
          <a:prstGeom prst="rect">
            <a:avLst/>
          </a:prstGeom>
          <a:noFill/>
          <a:ln/>
        </p:spPr>
        <p:txBody>
          <a:bodyPr wrap="square" lIns="0" tIns="0" rIns="0" bIns="0" rtlCol="0" anchor="ctr"/>
          <a:lstStyle/>
          <a:p>
            <a:pPr indent="0" marL="0">
              <a:lnSpc>
                <a:spcPts val="1150"/>
              </a:lnSpc>
              <a:buNone/>
            </a:pPr>
            <a:r>
              <a:rPr lang="en-US" sz="950" i="1" dirty="0">
                <a:solidFill>
                  <a:srgbClr val="B45309"/>
                </a:solidFill>
              </a:rPr>
              <a:t>≥ 98% equivalence at 120 programs; ≥ 95% rejection at 60; measured gain from guard elision</a:t>
            </a:r>
            <a:endParaRPr lang="en-US" sz="950" dirty="0"/>
          </a:p>
        </p:txBody>
      </p:sp>
      <p:sp>
        <p:nvSpPr>
          <p:cNvPr id="20" name="Shape 17"/>
          <p:cNvSpPr/>
          <p:nvPr/>
        </p:nvSpPr>
        <p:spPr>
          <a:xfrm>
            <a:off x="7744968" y="4407408"/>
            <a:ext cx="3877056" cy="1572768"/>
          </a:xfrm>
          <a:prstGeom prst="roundRect">
            <a:avLst>
              <a:gd name="adj" fmla="val 4651"/>
            </a:avLst>
          </a:prstGeom>
          <a:solidFill>
            <a:srgbClr val="F1F5F9"/>
          </a:solidFill>
          <a:ln w="9525">
            <a:solidFill>
              <a:srgbClr val="E2E8F0"/>
            </a:solidFill>
            <a:prstDash val="solid"/>
          </a:ln>
        </p:spPr>
      </p:sp>
      <p:sp>
        <p:nvSpPr>
          <p:cNvPr id="21" name="Text 18"/>
          <p:cNvSpPr/>
          <p:nvPr/>
        </p:nvSpPr>
        <p:spPr>
          <a:xfrm>
            <a:off x="7927848" y="4535424"/>
            <a:ext cx="2011680" cy="237744"/>
          </a:xfrm>
          <a:prstGeom prst="rect">
            <a:avLst/>
          </a:prstGeom>
          <a:noFill/>
          <a:ln/>
        </p:spPr>
        <p:txBody>
          <a:bodyPr wrap="square" lIns="0" tIns="0" rIns="0" bIns="0" rtlCol="0" anchor="ctr"/>
          <a:lstStyle/>
          <a:p>
            <a:pPr indent="0" marL="0">
              <a:buNone/>
            </a:pPr>
            <a:r>
              <a:rPr lang="en-US" sz="1150" b="1" spc="100" kern="0" dirty="0">
                <a:solidFill>
                  <a:srgbClr val="8B5CF6"/>
                </a:solidFill>
              </a:rPr>
              <a:t>REVIEW 3</a:t>
            </a:r>
            <a:endParaRPr lang="en-US" sz="1150" dirty="0"/>
          </a:p>
        </p:txBody>
      </p:sp>
      <p:sp>
        <p:nvSpPr>
          <p:cNvPr id="22" name="Text 19"/>
          <p:cNvSpPr/>
          <p:nvPr/>
        </p:nvSpPr>
        <p:spPr>
          <a:xfrm>
            <a:off x="10076688" y="4535424"/>
            <a:ext cx="1371600" cy="237744"/>
          </a:xfrm>
          <a:prstGeom prst="rect">
            <a:avLst/>
          </a:prstGeom>
          <a:noFill/>
          <a:ln/>
        </p:spPr>
        <p:txBody>
          <a:bodyPr wrap="square" lIns="0" tIns="0" rIns="0" bIns="0" rtlCol="0" anchor="ctr"/>
          <a:lstStyle/>
          <a:p>
            <a:pPr algn="r" indent="0" marL="0">
              <a:buNone/>
            </a:pPr>
            <a:r>
              <a:rPr lang="en-US" sz="1150" b="1" dirty="0">
                <a:solidFill>
                  <a:srgbClr val="64748B"/>
                </a:solidFill>
              </a:rPr>
              <a:t>W12</a:t>
            </a:r>
            <a:endParaRPr lang="en-US" sz="1150" dirty="0"/>
          </a:p>
        </p:txBody>
      </p:sp>
      <p:sp>
        <p:nvSpPr>
          <p:cNvPr id="23" name="Text 20"/>
          <p:cNvSpPr/>
          <p:nvPr/>
        </p:nvSpPr>
        <p:spPr>
          <a:xfrm>
            <a:off x="7927848" y="4809744"/>
            <a:ext cx="3511296" cy="603504"/>
          </a:xfrm>
          <a:prstGeom prst="rect">
            <a:avLst/>
          </a:prstGeom>
          <a:noFill/>
          <a:ln/>
        </p:spPr>
        <p:txBody>
          <a:bodyPr wrap="square" lIns="0" tIns="0" rIns="0" bIns="0" rtlCol="0" anchor="ctr"/>
          <a:lstStyle/>
          <a:p>
            <a:pPr indent="0" marL="0">
              <a:lnSpc>
                <a:spcPts val="1200"/>
              </a:lnSpc>
              <a:buNone/>
            </a:pPr>
            <a:r>
              <a:rPr lang="en-US" sz="950" dirty="0">
                <a:solidFill>
                  <a:srgbClr val="334155"/>
                </a:solidFill>
              </a:rPr>
              <a:t>Classes and dict · try/except · region-based reclamation · WebAssembly back end · final evaluation</a:t>
            </a:r>
            <a:endParaRPr lang="en-US" sz="950" dirty="0"/>
          </a:p>
        </p:txBody>
      </p:sp>
      <p:sp>
        <p:nvSpPr>
          <p:cNvPr id="24" name="Text 21"/>
          <p:cNvSpPr/>
          <p:nvPr/>
        </p:nvSpPr>
        <p:spPr>
          <a:xfrm>
            <a:off x="7927848" y="5413248"/>
            <a:ext cx="3511296" cy="164592"/>
          </a:xfrm>
          <a:prstGeom prst="rect">
            <a:avLst/>
          </a:prstGeom>
          <a:noFill/>
          <a:ln/>
        </p:spPr>
        <p:txBody>
          <a:bodyPr wrap="square" lIns="0" tIns="0" rIns="0" bIns="0" rtlCol="0" anchor="ctr"/>
          <a:lstStyle/>
          <a:p>
            <a:pPr indent="0" marL="0">
              <a:buNone/>
            </a:pPr>
            <a:r>
              <a:rPr lang="en-US" sz="750" b="1" spc="80" kern="0" dirty="0">
                <a:solidFill>
                  <a:srgbClr val="64748B"/>
                </a:solidFill>
              </a:rPr>
              <a:t>ACCEPTANCE</a:t>
            </a:r>
            <a:endParaRPr lang="en-US" sz="750" dirty="0"/>
          </a:p>
        </p:txBody>
      </p:sp>
      <p:sp>
        <p:nvSpPr>
          <p:cNvPr id="25" name="Text 22"/>
          <p:cNvSpPr/>
          <p:nvPr/>
        </p:nvSpPr>
        <p:spPr>
          <a:xfrm>
            <a:off x="7927848" y="5559552"/>
            <a:ext cx="3511296" cy="365760"/>
          </a:xfrm>
          <a:prstGeom prst="rect">
            <a:avLst/>
          </a:prstGeom>
          <a:noFill/>
          <a:ln/>
        </p:spPr>
        <p:txBody>
          <a:bodyPr wrap="square" lIns="0" tIns="0" rIns="0" bIns="0" rtlCol="0" anchor="ctr"/>
          <a:lstStyle/>
          <a:p>
            <a:pPr indent="0" marL="0">
              <a:lnSpc>
                <a:spcPts val="1150"/>
              </a:lnSpc>
              <a:buNone/>
            </a:pPr>
            <a:r>
              <a:rPr lang="en-US" sz="950" i="1" dirty="0">
                <a:solidFill>
                  <a:srgbClr val="8B5CF6"/>
                </a:solidFill>
              </a:rPr>
              <a:t>≥ 98% equivalence maintained; two back ends from one PIR; memory reclaimed without output change</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8040319" cy="566928"/>
          </a:xfrm>
          <a:prstGeom prst="rect">
            <a:avLst/>
          </a:prstGeom>
          <a:noFill/>
          <a:ln/>
        </p:spPr>
        <p:txBody>
          <a:bodyPr wrap="square" lIns="0" tIns="0" rIns="0" bIns="0" rtlCol="0" anchor="ctr"/>
          <a:lstStyle/>
          <a:p>
            <a:pPr indent="0" marL="0">
              <a:buNone/>
            </a:pPr>
            <a:r>
              <a:rPr lang="en-US" sz="2400" b="1" dirty="0">
                <a:solidFill>
                  <a:srgbClr val="0F172A"/>
                </a:solidFill>
              </a:rPr>
              <a:t>Initial progress — and the numbers behind it</a:t>
            </a:r>
            <a:endParaRPr lang="en-US" sz="2400" dirty="0"/>
          </a:p>
        </p:txBody>
      </p:sp>
      <p:sp>
        <p:nvSpPr>
          <p:cNvPr id="3" name="Shape 1"/>
          <p:cNvSpPr/>
          <p:nvPr/>
        </p:nvSpPr>
        <p:spPr>
          <a:xfrm>
            <a:off x="8835847" y="310896"/>
            <a:ext cx="2788920" cy="310896"/>
          </a:xfrm>
          <a:prstGeom prst="roundRect">
            <a:avLst>
              <a:gd name="adj" fmla="val 50000"/>
            </a:avLst>
          </a:prstGeom>
          <a:solidFill>
            <a:srgbClr val="F1F5F9"/>
          </a:solidFill>
          <a:ln w="9525">
            <a:solidFill>
              <a:srgbClr val="E2E8F0"/>
            </a:solidFill>
            <a:prstDash val="solid"/>
          </a:ln>
        </p:spPr>
      </p:sp>
      <p:sp>
        <p:nvSpPr>
          <p:cNvPr id="4" name="Text 2"/>
          <p:cNvSpPr/>
          <p:nvPr/>
        </p:nvSpPr>
        <p:spPr>
          <a:xfrm>
            <a:off x="8835847" y="310896"/>
            <a:ext cx="2788920" cy="310896"/>
          </a:xfrm>
          <a:prstGeom prst="rect">
            <a:avLst/>
          </a:prstGeom>
          <a:noFill/>
          <a:ln/>
        </p:spPr>
        <p:txBody>
          <a:bodyPr wrap="square" lIns="0" tIns="0" rIns="0" bIns="0" rtlCol="0" anchor="ctr"/>
          <a:lstStyle/>
          <a:p>
            <a:pPr algn="ctr" indent="0" marL="0">
              <a:buNone/>
            </a:pPr>
            <a:r>
              <a:rPr lang="en-US" sz="900" b="1" spc="80" kern="0" dirty="0">
                <a:solidFill>
                  <a:srgbClr val="334155"/>
                </a:solidFill>
              </a:rPr>
              <a:t>MEMBER 4 · AARYAN</a:t>
            </a:r>
            <a:endParaRPr lang="en-US" sz="900" dirty="0"/>
          </a:p>
        </p:txBody>
      </p:sp>
      <p:sp>
        <p:nvSpPr>
          <p:cNvPr id="5" name="Text 3"/>
          <p:cNvSpPr/>
          <p:nvPr/>
        </p:nvSpPr>
        <p:spPr>
          <a:xfrm>
            <a:off x="11076127" y="6382512"/>
            <a:ext cx="548640" cy="274320"/>
          </a:xfrm>
          <a:prstGeom prst="rect">
            <a:avLst/>
          </a:prstGeom>
          <a:noFill/>
          <a:ln/>
        </p:spPr>
        <p:txBody>
          <a:bodyPr wrap="square" lIns="0" tIns="0" rIns="0" bIns="0" rtlCol="0" anchor="ctr"/>
          <a:lstStyle/>
          <a:p>
            <a:pPr algn="r" indent="0" marL="0">
              <a:buNone/>
            </a:pPr>
            <a:r>
              <a:rPr lang="en-US" sz="1000" dirty="0">
                <a:solidFill>
                  <a:srgbClr val="64748B"/>
                </a:solidFill>
              </a:rPr>
              <a:t>12</a:t>
            </a:r>
            <a:endParaRPr lang="en-US" sz="1000" dirty="0"/>
          </a:p>
        </p:txBody>
      </p:sp>
      <p:sp>
        <p:nvSpPr>
          <p:cNvPr id="6" name="Text 4"/>
          <p:cNvSpPr/>
          <p:nvPr/>
        </p:nvSpPr>
        <p:spPr>
          <a:xfrm>
            <a:off x="566928" y="6382512"/>
            <a:ext cx="5486400" cy="274320"/>
          </a:xfrm>
          <a:prstGeom prst="rect">
            <a:avLst/>
          </a:prstGeom>
          <a:noFill/>
          <a:ln/>
        </p:spPr>
        <p:txBody>
          <a:bodyPr wrap="square" lIns="0" tIns="0" rIns="0" bIns="0" rtlCol="0" anchor="ctr"/>
          <a:lstStyle/>
          <a:p>
            <a:pPr indent="0" marL="0">
              <a:buNone/>
            </a:pPr>
            <a:r>
              <a:rPr lang="en-US" sz="900" dirty="0">
                <a:solidFill>
                  <a:srgbClr val="94A3B8"/>
                </a:solidFill>
              </a:rPr>
              <a:t>PYTHIA  ·  BCSE307L Team 2  ·  Project A15</a:t>
            </a:r>
            <a:endParaRPr lang="en-US" sz="900" dirty="0"/>
          </a:p>
        </p:txBody>
      </p:sp>
      <p:sp>
        <p:nvSpPr>
          <p:cNvPr id="7" name="Shape 5"/>
          <p:cNvSpPr/>
          <p:nvPr/>
        </p:nvSpPr>
        <p:spPr>
          <a:xfrm>
            <a:off x="566928" y="932688"/>
            <a:ext cx="2066544" cy="1371600"/>
          </a:xfrm>
          <a:prstGeom prst="roundRect">
            <a:avLst>
              <a:gd name="adj" fmla="val 5333"/>
            </a:avLst>
          </a:prstGeom>
          <a:solidFill>
            <a:srgbClr val="F1F5F9"/>
          </a:solidFill>
          <a:ln w="9525">
            <a:solidFill>
              <a:srgbClr val="E2E8F0"/>
            </a:solidFill>
            <a:prstDash val="solid"/>
          </a:ln>
        </p:spPr>
      </p:sp>
      <p:sp>
        <p:nvSpPr>
          <p:cNvPr id="8" name="Text 6"/>
          <p:cNvSpPr/>
          <p:nvPr/>
        </p:nvSpPr>
        <p:spPr>
          <a:xfrm>
            <a:off x="566928" y="1005840"/>
            <a:ext cx="2066544" cy="658368"/>
          </a:xfrm>
          <a:prstGeom prst="rect">
            <a:avLst/>
          </a:prstGeom>
          <a:noFill/>
          <a:ln/>
        </p:spPr>
        <p:txBody>
          <a:bodyPr wrap="square" lIns="0" tIns="0" rIns="0" bIns="0" rtlCol="0" anchor="ctr"/>
          <a:lstStyle/>
          <a:p>
            <a:pPr algn="ctr" indent="0" marL="0">
              <a:buNone/>
            </a:pPr>
            <a:r>
              <a:rPr lang="en-US" sz="4000" b="1" dirty="0">
                <a:solidFill>
                  <a:srgbClr val="0D9488"/>
                </a:solidFill>
              </a:rPr>
              <a:t>14 / 14</a:t>
            </a:r>
            <a:endParaRPr lang="en-US" sz="4000" dirty="0"/>
          </a:p>
        </p:txBody>
      </p:sp>
      <p:sp>
        <p:nvSpPr>
          <p:cNvPr id="9" name="Text 7"/>
          <p:cNvSpPr/>
          <p:nvPr/>
        </p:nvSpPr>
        <p:spPr>
          <a:xfrm>
            <a:off x="566928" y="1645920"/>
            <a:ext cx="2066544" cy="457200"/>
          </a:xfrm>
          <a:prstGeom prst="rect">
            <a:avLst/>
          </a:prstGeom>
          <a:noFill/>
          <a:ln/>
        </p:spPr>
        <p:txBody>
          <a:bodyPr wrap="square" lIns="0" tIns="0" rIns="0" bIns="0" rtlCol="0" anchor="t"/>
          <a:lstStyle/>
          <a:p>
            <a:pPr algn="ctr" indent="0" marL="0">
              <a:lnSpc>
                <a:spcPts val="1300"/>
              </a:lnSpc>
              <a:buNone/>
            </a:pPr>
            <a:r>
              <a:rPr lang="en-US" sz="1050" dirty="0">
                <a:solidFill>
                  <a:srgbClr val="64748B"/>
                </a:solidFill>
              </a:rPr>
              <a:t>programs semantically</a:t>
            </a:r>
            <a:endParaRPr lang="en-US" sz="1050" dirty="0"/>
          </a:p>
          <a:p>
            <a:pPr algn="ctr" indent="0" marL="0">
              <a:lnSpc>
                <a:spcPts val="1300"/>
              </a:lnSpc>
              <a:buNone/>
            </a:pPr>
            <a:r>
              <a:rPr lang="en-US" sz="1050" dirty="0">
                <a:solidFill>
                  <a:srgbClr val="64748B"/>
                </a:solidFill>
              </a:rPr>
              <a:t>equivalent to CPython 3.12</a:t>
            </a:r>
            <a:endParaRPr lang="en-US" sz="1050" dirty="0"/>
          </a:p>
        </p:txBody>
      </p:sp>
      <p:sp>
        <p:nvSpPr>
          <p:cNvPr id="10" name="Shape 8"/>
          <p:cNvSpPr/>
          <p:nvPr/>
        </p:nvSpPr>
        <p:spPr>
          <a:xfrm>
            <a:off x="2798064" y="932688"/>
            <a:ext cx="2066544" cy="1371600"/>
          </a:xfrm>
          <a:prstGeom prst="roundRect">
            <a:avLst>
              <a:gd name="adj" fmla="val 5333"/>
            </a:avLst>
          </a:prstGeom>
          <a:solidFill>
            <a:srgbClr val="F1F5F9"/>
          </a:solidFill>
          <a:ln w="9525">
            <a:solidFill>
              <a:srgbClr val="E2E8F0"/>
            </a:solidFill>
            <a:prstDash val="solid"/>
          </a:ln>
        </p:spPr>
      </p:sp>
      <p:sp>
        <p:nvSpPr>
          <p:cNvPr id="11" name="Text 9"/>
          <p:cNvSpPr/>
          <p:nvPr/>
        </p:nvSpPr>
        <p:spPr>
          <a:xfrm>
            <a:off x="2798064" y="1005840"/>
            <a:ext cx="2066544" cy="658368"/>
          </a:xfrm>
          <a:prstGeom prst="rect">
            <a:avLst/>
          </a:prstGeom>
          <a:noFill/>
          <a:ln/>
        </p:spPr>
        <p:txBody>
          <a:bodyPr wrap="square" lIns="0" tIns="0" rIns="0" bIns="0" rtlCol="0" anchor="ctr"/>
          <a:lstStyle/>
          <a:p>
            <a:pPr algn="ctr" indent="0" marL="0">
              <a:buNone/>
            </a:pPr>
            <a:r>
              <a:rPr lang="en-US" sz="4000" b="1" dirty="0">
                <a:solidFill>
                  <a:srgbClr val="8B5CF6"/>
                </a:solidFill>
              </a:rPr>
              <a:t>12 / 12</a:t>
            </a:r>
            <a:endParaRPr lang="en-US" sz="4000" dirty="0"/>
          </a:p>
        </p:txBody>
      </p:sp>
      <p:sp>
        <p:nvSpPr>
          <p:cNvPr id="12" name="Text 10"/>
          <p:cNvSpPr/>
          <p:nvPr/>
        </p:nvSpPr>
        <p:spPr>
          <a:xfrm>
            <a:off x="2798064" y="1645920"/>
            <a:ext cx="2066544" cy="457200"/>
          </a:xfrm>
          <a:prstGeom prst="rect">
            <a:avLst/>
          </a:prstGeom>
          <a:noFill/>
          <a:ln/>
        </p:spPr>
        <p:txBody>
          <a:bodyPr wrap="square" lIns="0" tIns="0" rIns="0" bIns="0" rtlCol="0" anchor="t"/>
          <a:lstStyle/>
          <a:p>
            <a:pPr algn="ctr" indent="0" marL="0">
              <a:lnSpc>
                <a:spcPts val="1300"/>
              </a:lnSpc>
              <a:buNone/>
            </a:pPr>
            <a:r>
              <a:rPr lang="en-US" sz="1050" dirty="0">
                <a:solidFill>
                  <a:srgbClr val="64748B"/>
                </a:solidFill>
              </a:rPr>
              <a:t>ill-typed programs</a:t>
            </a:r>
            <a:endParaRPr lang="en-US" sz="1050" dirty="0"/>
          </a:p>
          <a:p>
            <a:pPr algn="ctr" indent="0" marL="0">
              <a:lnSpc>
                <a:spcPts val="1300"/>
              </a:lnSpc>
              <a:buNone/>
            </a:pPr>
            <a:r>
              <a:rPr lang="en-US" sz="1050" dirty="0">
                <a:solidFill>
                  <a:srgbClr val="64748B"/>
                </a:solidFill>
              </a:rPr>
              <a:t>rejected before emission</a:t>
            </a:r>
            <a:endParaRPr lang="en-US" sz="1050" dirty="0"/>
          </a:p>
        </p:txBody>
      </p:sp>
      <p:sp>
        <p:nvSpPr>
          <p:cNvPr id="13" name="Shape 11"/>
          <p:cNvSpPr/>
          <p:nvPr/>
        </p:nvSpPr>
        <p:spPr>
          <a:xfrm>
            <a:off x="5029200" y="932688"/>
            <a:ext cx="2066544" cy="1371600"/>
          </a:xfrm>
          <a:prstGeom prst="roundRect">
            <a:avLst>
              <a:gd name="adj" fmla="val 5333"/>
            </a:avLst>
          </a:prstGeom>
          <a:solidFill>
            <a:srgbClr val="F1F5F9"/>
          </a:solidFill>
          <a:ln w="9525">
            <a:solidFill>
              <a:srgbClr val="E2E8F0"/>
            </a:solidFill>
            <a:prstDash val="solid"/>
          </a:ln>
        </p:spPr>
      </p:sp>
      <p:sp>
        <p:nvSpPr>
          <p:cNvPr id="14" name="Text 12"/>
          <p:cNvSpPr/>
          <p:nvPr/>
        </p:nvSpPr>
        <p:spPr>
          <a:xfrm>
            <a:off x="5029200" y="1005840"/>
            <a:ext cx="2066544" cy="658368"/>
          </a:xfrm>
          <a:prstGeom prst="rect">
            <a:avLst/>
          </a:prstGeom>
          <a:noFill/>
          <a:ln/>
        </p:spPr>
        <p:txBody>
          <a:bodyPr wrap="square" lIns="0" tIns="0" rIns="0" bIns="0" rtlCol="0" anchor="ctr"/>
          <a:lstStyle/>
          <a:p>
            <a:pPr algn="ctr" indent="0" marL="0">
              <a:buNone/>
            </a:pPr>
            <a:r>
              <a:rPr lang="en-US" sz="4000" b="1" dirty="0">
                <a:solidFill>
                  <a:srgbClr val="F59E0B"/>
                </a:solidFill>
              </a:rPr>
              <a:t>9.4×</a:t>
            </a:r>
            <a:endParaRPr lang="en-US" sz="4000" dirty="0"/>
          </a:p>
        </p:txBody>
      </p:sp>
      <p:sp>
        <p:nvSpPr>
          <p:cNvPr id="15" name="Text 13"/>
          <p:cNvSpPr/>
          <p:nvPr/>
        </p:nvSpPr>
        <p:spPr>
          <a:xfrm>
            <a:off x="5029200" y="1645920"/>
            <a:ext cx="2066544" cy="457200"/>
          </a:xfrm>
          <a:prstGeom prst="rect">
            <a:avLst/>
          </a:prstGeom>
          <a:noFill/>
          <a:ln/>
        </p:spPr>
        <p:txBody>
          <a:bodyPr wrap="square" lIns="0" tIns="0" rIns="0" bIns="0" rtlCol="0" anchor="t"/>
          <a:lstStyle/>
          <a:p>
            <a:pPr algn="ctr" indent="0" marL="0">
              <a:lnSpc>
                <a:spcPts val="1300"/>
              </a:lnSpc>
              <a:buNone/>
            </a:pPr>
            <a:r>
              <a:rPr lang="en-US" sz="1050" dirty="0">
                <a:solidFill>
                  <a:srgbClr val="64748B"/>
                </a:solidFill>
              </a:rPr>
              <a:t>median speedup</a:t>
            </a:r>
            <a:endParaRPr lang="en-US" sz="1050" dirty="0"/>
          </a:p>
          <a:p>
            <a:pPr algn="ctr" indent="0" marL="0">
              <a:lnSpc>
                <a:spcPts val="1300"/>
              </a:lnSpc>
              <a:buNone/>
            </a:pPr>
            <a:r>
              <a:rPr lang="en-US" sz="1050" dirty="0">
                <a:solidFill>
                  <a:srgbClr val="64748B"/>
                </a:solidFill>
              </a:rPr>
              <a:t>(min 3.3×, max 13.8×)</a:t>
            </a:r>
            <a:endParaRPr lang="en-US" sz="1050" dirty="0"/>
          </a:p>
        </p:txBody>
      </p:sp>
      <p:sp>
        <p:nvSpPr>
          <p:cNvPr id="16" name="Shape 14"/>
          <p:cNvSpPr/>
          <p:nvPr/>
        </p:nvSpPr>
        <p:spPr>
          <a:xfrm>
            <a:off x="7260336" y="932688"/>
            <a:ext cx="2066544" cy="1371600"/>
          </a:xfrm>
          <a:prstGeom prst="roundRect">
            <a:avLst>
              <a:gd name="adj" fmla="val 5333"/>
            </a:avLst>
          </a:prstGeom>
          <a:solidFill>
            <a:srgbClr val="F1F5F9"/>
          </a:solidFill>
          <a:ln w="9525">
            <a:solidFill>
              <a:srgbClr val="E2E8F0"/>
            </a:solidFill>
            <a:prstDash val="solid"/>
          </a:ln>
        </p:spPr>
      </p:sp>
      <p:sp>
        <p:nvSpPr>
          <p:cNvPr id="17" name="Text 15"/>
          <p:cNvSpPr/>
          <p:nvPr/>
        </p:nvSpPr>
        <p:spPr>
          <a:xfrm>
            <a:off x="7260336" y="1005840"/>
            <a:ext cx="2066544" cy="658368"/>
          </a:xfrm>
          <a:prstGeom prst="rect">
            <a:avLst/>
          </a:prstGeom>
          <a:noFill/>
          <a:ln/>
        </p:spPr>
        <p:txBody>
          <a:bodyPr wrap="square" lIns="0" tIns="0" rIns="0" bIns="0" rtlCol="0" anchor="ctr"/>
          <a:lstStyle/>
          <a:p>
            <a:pPr algn="ctr" indent="0" marL="0">
              <a:buNone/>
            </a:pPr>
            <a:r>
              <a:rPr lang="en-US" sz="4000" b="1" dirty="0">
                <a:solidFill>
                  <a:srgbClr val="0EA5E9"/>
                </a:solidFill>
              </a:rPr>
              <a:t>~2 800</a:t>
            </a:r>
            <a:endParaRPr lang="en-US" sz="4000" dirty="0"/>
          </a:p>
        </p:txBody>
      </p:sp>
      <p:sp>
        <p:nvSpPr>
          <p:cNvPr id="18" name="Text 16"/>
          <p:cNvSpPr/>
          <p:nvPr/>
        </p:nvSpPr>
        <p:spPr>
          <a:xfrm>
            <a:off x="7260336" y="1645920"/>
            <a:ext cx="2066544" cy="457200"/>
          </a:xfrm>
          <a:prstGeom prst="rect">
            <a:avLst/>
          </a:prstGeom>
          <a:noFill/>
          <a:ln/>
        </p:spPr>
        <p:txBody>
          <a:bodyPr wrap="square" lIns="0" tIns="0" rIns="0" bIns="0" rtlCol="0" anchor="t"/>
          <a:lstStyle/>
          <a:p>
            <a:pPr algn="ctr" indent="0" marL="0">
              <a:lnSpc>
                <a:spcPts val="1300"/>
              </a:lnSpc>
              <a:buNone/>
            </a:pPr>
            <a:r>
              <a:rPr lang="en-US" sz="1050" dirty="0">
                <a:solidFill>
                  <a:srgbClr val="64748B"/>
                </a:solidFill>
              </a:rPr>
              <a:t>lines of implementation</a:t>
            </a:r>
            <a:endParaRPr lang="en-US" sz="1050" dirty="0"/>
          </a:p>
          <a:p>
            <a:pPr algn="ctr" indent="0" marL="0">
              <a:lnSpc>
                <a:spcPts val="1300"/>
              </a:lnSpc>
              <a:buNone/>
            </a:pPr>
            <a:r>
              <a:rPr lang="en-US" sz="1050" dirty="0">
                <a:solidFill>
                  <a:srgbClr val="64748B"/>
                </a:solidFill>
              </a:rPr>
              <a:t>across 8 modules</a:t>
            </a:r>
            <a:endParaRPr lang="en-US" sz="1050" dirty="0"/>
          </a:p>
        </p:txBody>
      </p:sp>
      <p:sp>
        <p:nvSpPr>
          <p:cNvPr id="19" name="Shape 17"/>
          <p:cNvSpPr/>
          <p:nvPr/>
        </p:nvSpPr>
        <p:spPr>
          <a:xfrm>
            <a:off x="9491472" y="932688"/>
            <a:ext cx="2066544" cy="1371600"/>
          </a:xfrm>
          <a:prstGeom prst="roundRect">
            <a:avLst>
              <a:gd name="adj" fmla="val 5333"/>
            </a:avLst>
          </a:prstGeom>
          <a:solidFill>
            <a:srgbClr val="F1F5F9"/>
          </a:solidFill>
          <a:ln w="9525">
            <a:solidFill>
              <a:srgbClr val="E2E8F0"/>
            </a:solidFill>
            <a:prstDash val="solid"/>
          </a:ln>
        </p:spPr>
      </p:sp>
      <p:sp>
        <p:nvSpPr>
          <p:cNvPr id="20" name="Text 18"/>
          <p:cNvSpPr/>
          <p:nvPr/>
        </p:nvSpPr>
        <p:spPr>
          <a:xfrm>
            <a:off x="9491472" y="1005840"/>
            <a:ext cx="2066544" cy="658368"/>
          </a:xfrm>
          <a:prstGeom prst="rect">
            <a:avLst/>
          </a:prstGeom>
          <a:noFill/>
          <a:ln/>
        </p:spPr>
        <p:txBody>
          <a:bodyPr wrap="square" lIns="0" tIns="0" rIns="0" bIns="0" rtlCol="0" anchor="ctr"/>
          <a:lstStyle/>
          <a:p>
            <a:pPr algn="ctr" indent="0" marL="0">
              <a:buNone/>
            </a:pPr>
            <a:r>
              <a:rPr lang="en-US" sz="4000" b="1" dirty="0">
                <a:solidFill>
                  <a:srgbClr val="F97316"/>
                </a:solidFill>
              </a:rPr>
              <a:t>123</a:t>
            </a:r>
            <a:endParaRPr lang="en-US" sz="4000" dirty="0"/>
          </a:p>
        </p:txBody>
      </p:sp>
      <p:sp>
        <p:nvSpPr>
          <p:cNvPr id="21" name="Text 19"/>
          <p:cNvSpPr/>
          <p:nvPr/>
        </p:nvSpPr>
        <p:spPr>
          <a:xfrm>
            <a:off x="9491472" y="1645920"/>
            <a:ext cx="2066544" cy="457200"/>
          </a:xfrm>
          <a:prstGeom prst="rect">
            <a:avLst/>
          </a:prstGeom>
          <a:noFill/>
          <a:ln/>
        </p:spPr>
        <p:txBody>
          <a:bodyPr wrap="square" lIns="0" tIns="0" rIns="0" bIns="0" rtlCol="0" anchor="t"/>
          <a:lstStyle/>
          <a:p>
            <a:pPr algn="ctr" indent="0" marL="0">
              <a:lnSpc>
                <a:spcPts val="1300"/>
              </a:lnSpc>
              <a:buNone/>
            </a:pPr>
            <a:r>
              <a:rPr lang="en-US" sz="1050" dirty="0">
                <a:solidFill>
                  <a:srgbClr val="64748B"/>
                </a:solidFill>
              </a:rPr>
              <a:t>positioned fidelity notes</a:t>
            </a:r>
            <a:endParaRPr lang="en-US" sz="1050" dirty="0"/>
          </a:p>
          <a:p>
            <a:pPr algn="ctr" indent="0" marL="0">
              <a:lnSpc>
                <a:spcPts val="1300"/>
              </a:lnSpc>
              <a:buNone/>
            </a:pPr>
            <a:r>
              <a:rPr lang="en-US" sz="1050" dirty="0">
                <a:solidFill>
                  <a:srgbClr val="64748B"/>
                </a:solidFill>
              </a:rPr>
              <a:t>across 7 divergence classes</a:t>
            </a:r>
            <a:endParaRPr lang="en-US" sz="1050" dirty="0"/>
          </a:p>
        </p:txBody>
      </p:sp>
      <p:sp>
        <p:nvSpPr>
          <p:cNvPr id="22" name="Text 20"/>
          <p:cNvSpPr/>
          <p:nvPr/>
        </p:nvSpPr>
        <p:spPr>
          <a:xfrm>
            <a:off x="566928" y="2487168"/>
            <a:ext cx="5486400" cy="274320"/>
          </a:xfrm>
          <a:prstGeom prst="rect">
            <a:avLst/>
          </a:prstGeom>
          <a:noFill/>
          <a:ln/>
        </p:spPr>
        <p:txBody>
          <a:bodyPr wrap="square" lIns="0" tIns="0" rIns="0" bIns="0" rtlCol="0" anchor="ctr"/>
          <a:lstStyle/>
          <a:p>
            <a:pPr indent="0" marL="0">
              <a:buNone/>
            </a:pPr>
            <a:r>
              <a:rPr lang="en-US" sz="1300" b="1" dirty="0">
                <a:solidFill>
                  <a:srgbClr val="0F172A"/>
                </a:solidFill>
              </a:rPr>
              <a:t>End-to-end: gcd, and the one line that matters</a:t>
            </a:r>
            <a:endParaRPr lang="en-US" sz="1300" dirty="0"/>
          </a:p>
        </p:txBody>
      </p:sp>
      <p:sp>
        <p:nvSpPr>
          <p:cNvPr id="23" name="Shape 21"/>
          <p:cNvSpPr/>
          <p:nvPr/>
        </p:nvSpPr>
        <p:spPr>
          <a:xfrm>
            <a:off x="566928" y="2798064"/>
            <a:ext cx="5349240" cy="2999232"/>
          </a:xfrm>
          <a:prstGeom prst="roundRect">
            <a:avLst>
              <a:gd name="adj" fmla="val 1829"/>
            </a:avLst>
          </a:prstGeom>
          <a:solidFill>
            <a:srgbClr val="0F172A"/>
          </a:solidFill>
          <a:ln w="12700">
            <a:solidFill>
              <a:srgbClr val="333333"/>
            </a:solidFill>
            <a:prstDash val="solid"/>
          </a:ln>
        </p:spPr>
      </p:sp>
      <p:sp>
        <p:nvSpPr>
          <p:cNvPr id="24" name="Text 22"/>
          <p:cNvSpPr/>
          <p:nvPr/>
        </p:nvSpPr>
        <p:spPr>
          <a:xfrm>
            <a:off x="768096" y="2926080"/>
            <a:ext cx="4983480" cy="2743200"/>
          </a:xfrm>
          <a:prstGeom prst="rect">
            <a:avLst/>
          </a:prstGeom>
          <a:noFill/>
          <a:ln/>
        </p:spPr>
        <p:txBody>
          <a:bodyPr wrap="square" lIns="0" tIns="0" rIns="0" bIns="0" rtlCol="0" anchor="t"/>
          <a:lstStyle/>
          <a:p>
            <a:pPr indent="0" marL="0">
              <a:lnSpc>
                <a:spcPts val="1150"/>
              </a:lnSpc>
              <a:buNone/>
            </a:pPr>
            <a:r>
              <a:rPr lang="en-US" sz="900" dirty="0">
                <a:solidFill>
                  <a:srgbClr val="7DD3FC"/>
                </a:solidFill>
              </a:rPr>
              <a:t>def gcd(a: int, b: int) -&gt; int:
</a:t>
            </a:r>
            <a:pPr indent="0" marL="0">
              <a:lnSpc>
                <a:spcPts val="1150"/>
              </a:lnSpc>
              <a:buNone/>
            </a:pPr>
            <a:r>
              <a:rPr lang="en-US" sz="900" dirty="0">
                <a:solidFill>
                  <a:srgbClr val="E2E8F0"/>
                </a:solidFill>
              </a:rPr>
              <a:t>    while b != 0:
        t: int = b
        b = a % b
        a = t
    return a
</a:t>
            </a:r>
            <a:pPr indent="0" marL="0">
              <a:lnSpc>
                <a:spcPts val="1150"/>
              </a:lnSpc>
              <a:buNone/>
            </a:pPr>
            <a:r>
              <a:rPr lang="en-US" sz="900" dirty="0">
                <a:solidFill>
                  <a:srgbClr val="E2E8F0"/>
                </a:solidFill>
              </a:rPr>
              <a:t>print(gcd(48, 18), gcd(-48, 18))
</a:t>
            </a:r>
            <a:pPr indent="0" marL="0">
              <a:lnSpc>
                <a:spcPts val="1150"/>
              </a:lnSpc>
              <a:buNone/>
            </a:pPr>
            <a:r>
              <a:rPr lang="en-US" sz="900" dirty="0">
                <a:solidFill>
                  <a:srgbClr val="334155"/>
                </a:solidFill>
              </a:rPr>
              <a:t>────────────────────────────────
</a:t>
            </a:r>
            <a:pPr indent="0" marL="0">
              <a:lnSpc>
                <a:spcPts val="1150"/>
              </a:lnSpc>
              <a:buNone/>
            </a:pPr>
            <a:r>
              <a:rPr lang="en-US" sz="900" dirty="0">
                <a:solidFill>
                  <a:srgbClr val="E2E8F0"/>
                </a:solidFill>
              </a:rPr>
              <a:t>static int64_t f_gcd(int64_t p_a, int64_t p_b) {</a:t>
            </a:r>
            <a:endParaRPr lang="en-US" sz="900" dirty="0"/>
          </a:p>
          <a:p>
            <a:pPr indent="0" marL="0">
              <a:lnSpc>
                <a:spcPts val="1150"/>
              </a:lnSpc>
              <a:buNone/>
            </a:pPr>
            <a:r>
              <a:rPr lang="en-US" sz="900" dirty="0">
                <a:solidFill>
                  <a:srgbClr val="E2E8F0"/>
                </a:solidFill>
              </a:rPr>
              <a:t>    int64_t p_t = 0;</a:t>
            </a:r>
            <a:endParaRPr lang="en-US" sz="900" dirty="0"/>
          </a:p>
          <a:p>
            <a:pPr indent="0" marL="0">
              <a:lnSpc>
                <a:spcPts val="1150"/>
              </a:lnSpc>
              <a:buNone/>
            </a:pPr>
            <a:r>
              <a:rPr lang="en-US" sz="900" dirty="0">
                <a:solidFill>
                  <a:srgbClr val="E2E8F0"/>
                </a:solidFill>
              </a:rPr>
              <a:t>    while ((p_b) != (INT64_C(0))) {</a:t>
            </a:r>
            <a:endParaRPr lang="en-US" sz="900" dirty="0"/>
          </a:p>
          <a:p>
            <a:pPr indent="0" marL="0">
              <a:lnSpc>
                <a:spcPts val="1150"/>
              </a:lnSpc>
              <a:buNone/>
            </a:pPr>
            <a:r>
              <a:rPr lang="en-US" sz="900" dirty="0">
                <a:solidFill>
                  <a:srgbClr val="E2E8F0"/>
                </a:solidFill>
              </a:rPr>
              <a:t>        p_t = p_b;</a:t>
            </a:r>
            <a:endParaRPr lang="en-US" sz="900" dirty="0"/>
          </a:p>
          <a:p>
            <a:pPr indent="0" marL="0">
              <a:lnSpc>
                <a:spcPts val="1150"/>
              </a:lnSpc>
              <a:buNone/>
            </a:pPr>
            <a:r>
              <a:rPr lang="en-US" sz="900" dirty="0">
                <a:solidFill>
                  <a:srgbClr val="E2E8F0"/>
                </a:solidFill>
              </a:rPr>
              <a:t>        p_b = </a:t>
            </a:r>
            <a:endParaRPr lang="en-US" sz="900" dirty="0"/>
          </a:p>
          <a:p>
            <a:pPr indent="0" marL="0">
              <a:lnSpc>
                <a:spcPts val="1150"/>
              </a:lnSpc>
              <a:buNone/>
            </a:pPr>
            <a:r>
              <a:rPr lang="en-US" sz="900" b="1" dirty="0">
                <a:solidFill>
                  <a:srgbClr val="F59E0B"/>
                </a:solidFill>
              </a:rPr>
              <a:t>py_mod_i64(p_a, p_b)</a:t>
            </a:r>
            <a:pPr indent="0" marL="0">
              <a:lnSpc>
                <a:spcPts val="1150"/>
              </a:lnSpc>
              <a:buNone/>
            </a:pPr>
            <a:r>
              <a:rPr lang="en-US" sz="900" dirty="0">
                <a:solidFill>
                  <a:srgbClr val="E2E8F0"/>
                </a:solidFill>
              </a:rPr>
              <a:t>;</a:t>
            </a:r>
            <a:endParaRPr lang="en-US" sz="900" dirty="0"/>
          </a:p>
          <a:p>
            <a:pPr indent="0" marL="0">
              <a:lnSpc>
                <a:spcPts val="1150"/>
              </a:lnSpc>
              <a:buNone/>
            </a:pPr>
            <a:r>
              <a:rPr lang="en-US" sz="900" dirty="0">
                <a:solidFill>
                  <a:srgbClr val="E2E8F0"/>
                </a:solidFill>
              </a:rPr>
              <a:t>        p_a = p_t;</a:t>
            </a:r>
            <a:endParaRPr lang="en-US" sz="900" dirty="0"/>
          </a:p>
          <a:p>
            <a:pPr indent="0" marL="0">
              <a:lnSpc>
                <a:spcPts val="1150"/>
              </a:lnSpc>
              <a:buNone/>
            </a:pPr>
            <a:r>
              <a:rPr lang="en-US" sz="900" dirty="0">
                <a:solidFill>
                  <a:srgbClr val="E2E8F0"/>
                </a:solidFill>
              </a:rPr>
              <a:t>    }</a:t>
            </a:r>
            <a:endParaRPr lang="en-US" sz="900" dirty="0"/>
          </a:p>
          <a:p>
            <a:pPr indent="0" marL="0">
              <a:lnSpc>
                <a:spcPts val="1150"/>
              </a:lnSpc>
              <a:buNone/>
            </a:pPr>
            <a:r>
              <a:rPr lang="en-US" sz="900" dirty="0">
                <a:solidFill>
                  <a:srgbClr val="E2E8F0"/>
                </a:solidFill>
              </a:rPr>
              <a:t>    return p_a;</a:t>
            </a:r>
            <a:endParaRPr lang="en-US" sz="900" dirty="0"/>
          </a:p>
          <a:p>
            <a:pPr indent="0" marL="0">
              <a:lnSpc>
                <a:spcPts val="1150"/>
              </a:lnSpc>
              <a:buNone/>
            </a:pPr>
            <a:r>
              <a:rPr lang="en-US" sz="900" dirty="0">
                <a:solidFill>
                  <a:srgbClr val="E2E8F0"/>
                </a:solidFill>
              </a:rPr>
              <a:t>}</a:t>
            </a:r>
            <a:endParaRPr lang="en-US" sz="900" dirty="0"/>
          </a:p>
        </p:txBody>
      </p:sp>
      <p:sp>
        <p:nvSpPr>
          <p:cNvPr id="25" name="Text 23"/>
          <p:cNvSpPr/>
          <p:nvPr/>
        </p:nvSpPr>
        <p:spPr>
          <a:xfrm>
            <a:off x="566928" y="5852160"/>
            <a:ext cx="5349240" cy="274320"/>
          </a:xfrm>
          <a:prstGeom prst="rect">
            <a:avLst/>
          </a:prstGeom>
          <a:noFill/>
          <a:ln/>
        </p:spPr>
        <p:txBody>
          <a:bodyPr wrap="square" lIns="0" tIns="0" rIns="0" bIns="0" rtlCol="0" anchor="ctr"/>
          <a:lstStyle/>
          <a:p>
            <a:pPr indent="0" marL="0">
              <a:buNone/>
            </a:pPr>
            <a:r>
              <a:rPr lang="en-US" sz="1000" i="1" dirty="0">
                <a:solidFill>
                  <a:srgbClr val="B45309"/>
                </a:solidFill>
              </a:rPr>
              <a:t>Both print 6 6. C's own % would print 6 −6 — divergence D3, caught by construction.</a:t>
            </a:r>
            <a:endParaRPr lang="en-US" sz="1000" dirty="0"/>
          </a:p>
        </p:txBody>
      </p:sp>
      <p:sp>
        <p:nvSpPr>
          <p:cNvPr id="26" name="Text 24"/>
          <p:cNvSpPr/>
          <p:nvPr/>
        </p:nvSpPr>
        <p:spPr>
          <a:xfrm>
            <a:off x="6236208" y="2487168"/>
            <a:ext cx="5486400" cy="274320"/>
          </a:xfrm>
          <a:prstGeom prst="rect">
            <a:avLst/>
          </a:prstGeom>
          <a:noFill/>
          <a:ln/>
        </p:spPr>
        <p:txBody>
          <a:bodyPr wrap="square" lIns="0" tIns="0" rIns="0" bIns="0" rtlCol="0" anchor="ctr"/>
          <a:lstStyle/>
          <a:p>
            <a:pPr indent="0" marL="0">
              <a:buNone/>
            </a:pPr>
            <a:r>
              <a:rPr lang="en-US" sz="1300" b="1" dirty="0">
                <a:solidFill>
                  <a:srgbClr val="0F172A"/>
                </a:solidFill>
              </a:rPr>
              <a:t>The oracle earned its place in week one</a:t>
            </a:r>
            <a:endParaRPr lang="en-US" sz="1300" dirty="0"/>
          </a:p>
        </p:txBody>
      </p:sp>
      <p:sp>
        <p:nvSpPr>
          <p:cNvPr id="27" name="Shape 25"/>
          <p:cNvSpPr/>
          <p:nvPr/>
        </p:nvSpPr>
        <p:spPr>
          <a:xfrm>
            <a:off x="6236208" y="2798064"/>
            <a:ext cx="5385816" cy="1883664"/>
          </a:xfrm>
          <a:prstGeom prst="roundRect">
            <a:avLst>
              <a:gd name="adj" fmla="val 3883"/>
            </a:avLst>
          </a:prstGeom>
          <a:solidFill>
            <a:srgbClr val="FEF2F2"/>
          </a:solidFill>
          <a:ln w="9525">
            <a:solidFill>
              <a:srgbClr val="FECACA"/>
            </a:solidFill>
            <a:prstDash val="solid"/>
          </a:ln>
        </p:spPr>
      </p:sp>
      <p:sp>
        <p:nvSpPr>
          <p:cNvPr id="28" name="Text 26"/>
          <p:cNvSpPr/>
          <p:nvPr/>
        </p:nvSpPr>
        <p:spPr>
          <a:xfrm>
            <a:off x="6437376" y="2935224"/>
            <a:ext cx="4983480" cy="219456"/>
          </a:xfrm>
          <a:prstGeom prst="rect">
            <a:avLst/>
          </a:prstGeom>
          <a:noFill/>
          <a:ln/>
        </p:spPr>
        <p:txBody>
          <a:bodyPr wrap="square" lIns="0" tIns="0" rIns="0" bIns="0" rtlCol="0" anchor="ctr"/>
          <a:lstStyle/>
          <a:p>
            <a:pPr indent="0" marL="0">
              <a:buNone/>
            </a:pPr>
            <a:r>
              <a:rPr lang="en-US" sz="950" b="1" spc="90" kern="0" dirty="0">
                <a:solidFill>
                  <a:srgbClr val="BE123C"/>
                </a:solidFill>
              </a:rPr>
              <a:t>FOUR BUGS FOUND ON THE FIRST FULL RUN</a:t>
            </a:r>
            <a:endParaRPr lang="en-US" sz="950" dirty="0"/>
          </a:p>
        </p:txBody>
      </p:sp>
      <p:sp>
        <p:nvSpPr>
          <p:cNvPr id="29" name="Text 27"/>
          <p:cNvSpPr/>
          <p:nvPr/>
        </p:nvSpPr>
        <p:spPr>
          <a:xfrm>
            <a:off x="6437376" y="3172968"/>
            <a:ext cx="4983480" cy="1380744"/>
          </a:xfrm>
          <a:prstGeom prst="rect">
            <a:avLst/>
          </a:prstGeom>
          <a:noFill/>
          <a:ln/>
        </p:spPr>
        <p:txBody>
          <a:bodyPr wrap="square" lIns="0" tIns="0" rIns="0" bIns="0" rtlCol="0" anchor="t"/>
          <a:lstStyle/>
          <a:p>
            <a:pPr indent="0" marL="0">
              <a:lnSpc>
                <a:spcPts val="1200"/>
              </a:lnSpc>
              <a:buNone/>
            </a:pPr>
            <a:r>
              <a:rPr lang="en-US" sz="950" dirty="0">
                <a:solidFill>
                  <a:srgbClr val="334155"/>
                </a:solidFill>
              </a:rPr>
              <a:t>Frozen-dataclass types compared by identity, not equality — so "a" + "b" was rejected as ill-typed.</a:t>
            </a:r>
            <a:endParaRPr lang="en-US" sz="950" dirty="0"/>
          </a:p>
          <a:p>
            <a:pPr indent="0" marL="0">
              <a:lnSpc>
                <a:spcPts val="1200"/>
              </a:lnSpc>
              <a:buNone/>
            </a:pPr>
            <a:r>
              <a:rPr lang="en-US" sz="950" dirty="0">
                <a:solidFill>
                  <a:srgbClr val="334155"/>
                </a:solidFill>
              </a:rPr>
              <a:t>Float modulo returned −0.0 where CPython returns 0.0; a zero result takes the divisor's sign.</a:t>
            </a:r>
            <a:endParaRPr lang="en-US" sz="950" dirty="0"/>
          </a:p>
          <a:p>
            <a:pPr indent="0" marL="0">
              <a:lnSpc>
                <a:spcPts val="1200"/>
              </a:lnSpc>
              <a:buNone/>
            </a:pPr>
            <a:r>
              <a:rPr lang="en-US" sz="950" dirty="0">
                <a:solidFill>
                  <a:srgbClr val="334155"/>
                </a:solidFill>
              </a:rPr>
              <a:t>A module-scope loop variable collided with a later annotated declaration of the same name and type, which Python permits.</a:t>
            </a:r>
            <a:endParaRPr lang="en-US" sz="950" dirty="0"/>
          </a:p>
          <a:p>
            <a:pPr indent="0" marL="0">
              <a:lnSpc>
                <a:spcPts val="1200"/>
              </a:lnSpc>
              <a:buNone/>
            </a:pPr>
            <a:r>
              <a:rPr lang="en-US" sz="950" dirty="0">
                <a:solidFill>
                  <a:srgbClr val="334155"/>
                </a:solidFill>
              </a:rPr>
              <a:t>A rejection message did not match its own # expect: marker.</a:t>
            </a:r>
            <a:endParaRPr lang="en-US" sz="950" dirty="0"/>
          </a:p>
        </p:txBody>
      </p:sp>
      <p:sp>
        <p:nvSpPr>
          <p:cNvPr id="30" name="Shape 28"/>
          <p:cNvSpPr/>
          <p:nvPr/>
        </p:nvSpPr>
        <p:spPr>
          <a:xfrm>
            <a:off x="6236208" y="4809744"/>
            <a:ext cx="5385816" cy="1316736"/>
          </a:xfrm>
          <a:prstGeom prst="roundRect">
            <a:avLst>
              <a:gd name="adj" fmla="val 5556"/>
            </a:avLst>
          </a:prstGeom>
          <a:solidFill>
            <a:srgbClr val="F1F5F9"/>
          </a:solidFill>
          <a:ln w="9525">
            <a:solidFill>
              <a:srgbClr val="E2E8F0"/>
            </a:solidFill>
            <a:prstDash val="solid"/>
          </a:ln>
        </p:spPr>
      </p:sp>
      <p:sp>
        <p:nvSpPr>
          <p:cNvPr id="31" name="Text 29"/>
          <p:cNvSpPr/>
          <p:nvPr/>
        </p:nvSpPr>
        <p:spPr>
          <a:xfrm>
            <a:off x="6437376" y="4946904"/>
            <a:ext cx="4983480" cy="219456"/>
          </a:xfrm>
          <a:prstGeom prst="rect">
            <a:avLst/>
          </a:prstGeom>
          <a:noFill/>
          <a:ln/>
        </p:spPr>
        <p:txBody>
          <a:bodyPr wrap="square" lIns="0" tIns="0" rIns="0" bIns="0" rtlCol="0" anchor="ctr"/>
          <a:lstStyle/>
          <a:p>
            <a:pPr indent="0" marL="0">
              <a:buNone/>
            </a:pPr>
            <a:r>
              <a:rPr lang="en-US" sz="950" b="1" spc="90" kern="0" dirty="0">
                <a:solidFill>
                  <a:srgbClr val="B45309"/>
                </a:solidFill>
              </a:rPr>
              <a:t>THE MOST INFORMATIVE ROW</a:t>
            </a:r>
            <a:endParaRPr lang="en-US" sz="950" dirty="0"/>
          </a:p>
        </p:txBody>
      </p:sp>
      <p:sp>
        <p:nvSpPr>
          <p:cNvPr id="32" name="Text 30"/>
          <p:cNvSpPr/>
          <p:nvPr/>
        </p:nvSpPr>
        <p:spPr>
          <a:xfrm>
            <a:off x="6437376" y="5184648"/>
            <a:ext cx="4983480" cy="813816"/>
          </a:xfrm>
          <a:prstGeom prst="rect">
            <a:avLst/>
          </a:prstGeom>
          <a:noFill/>
          <a:ln/>
        </p:spPr>
        <p:txBody>
          <a:bodyPr wrap="square" lIns="0" tIns="0" rIns="0" bIns="0" rtlCol="0" anchor="t"/>
          <a:lstStyle/>
          <a:p>
            <a:pPr indent="0" marL="0">
              <a:lnSpc>
                <a:spcPts val="1200"/>
              </a:lnSpc>
              <a:buNone/>
            </a:pPr>
            <a:r>
              <a:rPr lang="en-US" sz="950" dirty="0">
                <a:solidFill>
                  <a:srgbClr val="334155"/>
                </a:solidFill>
              </a:rPr>
              <a:t>Collatz is the slowest benchmark at 5.0×, and the reason is measurable rather than mysterious: it is integer-bound, so nearly every operation pays for an overflow guard.</a:t>
            </a:r>
            <a:endParaRPr lang="en-US" sz="950" dirty="0"/>
          </a:p>
          <a:p>
            <a:pPr indent="0" marL="0">
              <a:lnSpc>
                <a:spcPts val="1200"/>
              </a:lnSpc>
              <a:buNone/>
            </a:pPr>
            <a:r>
              <a:rPr lang="en-US" sz="950" dirty="0">
                <a:solidFill>
                  <a:srgbClr val="334155"/>
                </a:solidFill>
              </a:rPr>
              <a:t>That single number turns interval analysis into a Review 2 objective with a target attached.</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566928" y="274320"/>
            <a:ext cx="8040319" cy="566928"/>
          </a:xfrm>
          <a:prstGeom prst="rect">
            <a:avLst/>
          </a:prstGeom>
          <a:noFill/>
          <a:ln/>
        </p:spPr>
        <p:txBody>
          <a:bodyPr wrap="square" lIns="0" tIns="0" rIns="0" bIns="0" rtlCol="0" anchor="ctr"/>
          <a:lstStyle/>
          <a:p>
            <a:pPr indent="0" marL="0">
              <a:buNone/>
            </a:pPr>
            <a:r>
              <a:rPr lang="en-US" sz="2400" b="1" dirty="0">
                <a:solidFill>
                  <a:srgbClr val="FFFFFF"/>
                </a:solidFill>
              </a:rPr>
              <a:t>Expected outcomes, extensions and conclusion</a:t>
            </a:r>
            <a:endParaRPr lang="en-US" sz="2400" dirty="0"/>
          </a:p>
        </p:txBody>
      </p:sp>
      <p:sp>
        <p:nvSpPr>
          <p:cNvPr id="3" name="Shape 1"/>
          <p:cNvSpPr/>
          <p:nvPr/>
        </p:nvSpPr>
        <p:spPr>
          <a:xfrm>
            <a:off x="8835847" y="310896"/>
            <a:ext cx="2788920" cy="310896"/>
          </a:xfrm>
          <a:prstGeom prst="roundRect">
            <a:avLst>
              <a:gd name="adj" fmla="val 50000"/>
            </a:avLst>
          </a:prstGeom>
          <a:solidFill>
            <a:srgbClr val="F1F5F9"/>
          </a:solidFill>
          <a:ln w="9525">
            <a:solidFill>
              <a:srgbClr val="E2E8F0"/>
            </a:solidFill>
            <a:prstDash val="solid"/>
          </a:ln>
        </p:spPr>
      </p:sp>
      <p:sp>
        <p:nvSpPr>
          <p:cNvPr id="4" name="Text 2"/>
          <p:cNvSpPr/>
          <p:nvPr/>
        </p:nvSpPr>
        <p:spPr>
          <a:xfrm>
            <a:off x="8835847" y="310896"/>
            <a:ext cx="2788920" cy="310896"/>
          </a:xfrm>
          <a:prstGeom prst="rect">
            <a:avLst/>
          </a:prstGeom>
          <a:noFill/>
          <a:ln/>
        </p:spPr>
        <p:txBody>
          <a:bodyPr wrap="square" lIns="0" tIns="0" rIns="0" bIns="0" rtlCol="0" anchor="ctr"/>
          <a:lstStyle/>
          <a:p>
            <a:pPr algn="ctr" indent="0" marL="0">
              <a:buNone/>
            </a:pPr>
            <a:r>
              <a:rPr lang="en-US" sz="900" b="1" spc="80" kern="0" dirty="0">
                <a:solidFill>
                  <a:srgbClr val="334155"/>
                </a:solidFill>
              </a:rPr>
              <a:t>ALL MEMBERS</a:t>
            </a:r>
            <a:endParaRPr lang="en-US" sz="900" dirty="0"/>
          </a:p>
        </p:txBody>
      </p:sp>
      <p:sp>
        <p:nvSpPr>
          <p:cNvPr id="5" name="Text 3"/>
          <p:cNvSpPr/>
          <p:nvPr/>
        </p:nvSpPr>
        <p:spPr>
          <a:xfrm>
            <a:off x="11076127" y="6382512"/>
            <a:ext cx="548640" cy="274320"/>
          </a:xfrm>
          <a:prstGeom prst="rect">
            <a:avLst/>
          </a:prstGeom>
          <a:noFill/>
          <a:ln/>
        </p:spPr>
        <p:txBody>
          <a:bodyPr wrap="square" lIns="0" tIns="0" rIns="0" bIns="0" rtlCol="0" anchor="ctr"/>
          <a:lstStyle/>
          <a:p>
            <a:pPr algn="r" indent="0" marL="0">
              <a:buNone/>
            </a:pPr>
            <a:r>
              <a:rPr lang="en-US" sz="1000" dirty="0">
                <a:solidFill>
                  <a:srgbClr val="475569"/>
                </a:solidFill>
              </a:rPr>
              <a:t>13</a:t>
            </a:r>
            <a:endParaRPr lang="en-US" sz="1000" dirty="0"/>
          </a:p>
        </p:txBody>
      </p:sp>
      <p:sp>
        <p:nvSpPr>
          <p:cNvPr id="6" name="Text 4"/>
          <p:cNvSpPr/>
          <p:nvPr/>
        </p:nvSpPr>
        <p:spPr>
          <a:xfrm>
            <a:off x="566928" y="6382512"/>
            <a:ext cx="5486400" cy="274320"/>
          </a:xfrm>
          <a:prstGeom prst="rect">
            <a:avLst/>
          </a:prstGeom>
          <a:noFill/>
          <a:ln/>
        </p:spPr>
        <p:txBody>
          <a:bodyPr wrap="square" lIns="0" tIns="0" rIns="0" bIns="0" rtlCol="0" anchor="ctr"/>
          <a:lstStyle/>
          <a:p>
            <a:pPr indent="0" marL="0">
              <a:buNone/>
            </a:pPr>
            <a:r>
              <a:rPr lang="en-US" sz="900" dirty="0">
                <a:solidFill>
                  <a:srgbClr val="475569"/>
                </a:solidFill>
              </a:rPr>
              <a:t>PYTHIA  ·  BCSE307L Team 2  ·  Project A15</a:t>
            </a:r>
            <a:endParaRPr lang="en-US" sz="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66928" y="950976"/>
          <a:ext cx="6035040" cy="914400"/>
        </p:xfrm>
        <a:graphic>
          <a:graphicData uri="http://schemas.openxmlformats.org/drawingml/2006/table">
            <a:tbl>
              <a:tblPr/>
              <a:tblGrid>
                <a:gridCol w="3108960"/>
                <a:gridCol w="1600200"/>
                <a:gridCol w="1325880"/>
              </a:tblGrid>
              <a:tr h="301752">
                <a:tc>
                  <a:txBody>
                    <a:bodyPr/>
                    <a:lstStyle/>
                    <a:p>
                      <a:pPr indent="0" marL="0">
                        <a:buNone/>
                      </a:pPr>
                      <a:r>
                        <a:rPr lang="en-US" sz="1000" b="1" dirty="0">
                          <a:solidFill>
                            <a:srgbClr val="1E293B"/>
                          </a:solidFill>
                          <a:latin typeface="Calibri" pitchFamily="34" charset="0"/>
                          <a:ea typeface="Calibri" pitchFamily="34" charset="-122"/>
                          <a:cs typeface="Calibri" pitchFamily="34" charset="-120"/>
                        </a:rPr>
                        <a:t>Outcome</a:t>
                      </a:r>
                      <a:endParaRPr lang="en-US" sz="100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000" b="1" dirty="0">
                          <a:solidFill>
                            <a:srgbClr val="1E293B"/>
                          </a:solidFill>
                          <a:latin typeface="Calibri" pitchFamily="34" charset="0"/>
                          <a:ea typeface="Calibri" pitchFamily="34" charset="-122"/>
                          <a:cs typeface="Calibri" pitchFamily="34" charset="-120"/>
                        </a:rPr>
                        <a:t>Target at R3</a:t>
                      </a:r>
                      <a:endParaRPr lang="en-US" sz="100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000" b="1" dirty="0">
                          <a:solidFill>
                            <a:srgbClr val="1E293B"/>
                          </a:solidFill>
                          <a:latin typeface="Calibri" pitchFamily="34" charset="0"/>
                          <a:ea typeface="Calibri" pitchFamily="34" charset="-122"/>
                          <a:cs typeface="Calibri" pitchFamily="34" charset="-120"/>
                        </a:rPr>
                        <a:t>At R1</a:t>
                      </a:r>
                      <a:endParaRPr lang="en-US" sz="100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1F5F9"/>
                    </a:solidFill>
                  </a:tcPr>
                </a:tc>
              </a:tr>
              <a:tr h="301752">
                <a:tc>
                  <a:txBody>
                    <a:bodyPr/>
                    <a:lstStyle/>
                    <a:p>
                      <a:pPr indent="0" marL="0">
                        <a:buNone/>
                      </a:pPr>
                      <a:r>
                        <a:rPr lang="en-US" sz="1000" b="1" dirty="0">
                          <a:solidFill>
                            <a:srgbClr val="0F172A"/>
                          </a:solidFill>
                          <a:latin typeface="Calibri" pitchFamily="34" charset="0"/>
                          <a:ea typeface="Calibri" pitchFamily="34" charset="-122"/>
                          <a:cs typeface="Calibri" pitchFamily="34" charset="-120"/>
                        </a:rPr>
                        <a:t>Semantic equivalence with CPython 3.12</a:t>
                      </a:r>
                      <a:endParaRPr lang="en-US" sz="100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 98% of ≥ 120</a:t>
                      </a:r>
                      <a:endParaRPr lang="en-US" sz="100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100% of 14</a:t>
                      </a:r>
                      <a:endParaRPr lang="en-US" sz="100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r>
              <a:tr h="301752">
                <a:tc>
                  <a:txBody>
                    <a:bodyPr/>
                    <a:lstStyle/>
                    <a:p>
                      <a:pPr indent="0" marL="0">
                        <a:buNone/>
                      </a:pPr>
                      <a:r>
                        <a:rPr lang="en-US" sz="1000" b="1" dirty="0">
                          <a:solidFill>
                            <a:srgbClr val="0F172A"/>
                          </a:solidFill>
                          <a:latin typeface="Calibri" pitchFamily="34" charset="0"/>
                          <a:ea typeface="Calibri" pitchFamily="34" charset="-122"/>
                          <a:cs typeface="Calibri" pitchFamily="34" charset="-120"/>
                        </a:rPr>
                        <a:t>Ill-typed programs rejected</a:t>
                      </a:r>
                      <a:endParaRPr lang="en-US" sz="100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 95% of 60</a:t>
                      </a:r>
                      <a:endParaRPr lang="en-US" sz="100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100% of 12</a:t>
                      </a:r>
                      <a:endParaRPr lang="en-US" sz="100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r>
              <a:tr h="301752">
                <a:tc>
                  <a:txBody>
                    <a:bodyPr/>
                    <a:lstStyle/>
                    <a:p>
                      <a:pPr indent="0" marL="0">
                        <a:buNone/>
                      </a:pPr>
                      <a:r>
                        <a:rPr lang="en-US" sz="1000" b="1" dirty="0">
                          <a:solidFill>
                            <a:srgbClr val="0F172A"/>
                          </a:solidFill>
                          <a:latin typeface="Calibri" pitchFamily="34" charset="0"/>
                          <a:ea typeface="Calibri" pitchFamily="34" charset="-122"/>
                          <a:cs typeface="Calibri" pitchFamily="34" charset="-120"/>
                        </a:rPr>
                        <a:t>Median speedup over CPython</a:t>
                      </a:r>
                      <a:endParaRPr lang="en-US" sz="100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 8× (≥ 12× after elision)</a:t>
                      </a:r>
                      <a:endParaRPr lang="en-US" sz="100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9.4×</a:t>
                      </a:r>
                      <a:endParaRPr lang="en-US" sz="100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r>
              <a:tr h="301752">
                <a:tc>
                  <a:txBody>
                    <a:bodyPr/>
                    <a:lstStyle/>
                    <a:p>
                      <a:pPr indent="0" marL="0">
                        <a:buNone/>
                      </a:pPr>
                      <a:r>
                        <a:rPr lang="en-US" sz="1000" b="1" dirty="0">
                          <a:solidFill>
                            <a:srgbClr val="0F172A"/>
                          </a:solidFill>
                          <a:latin typeface="Calibri" pitchFamily="34" charset="0"/>
                          <a:ea typeface="Calibri" pitchFamily="34" charset="-122"/>
                          <a:cs typeface="Calibri" pitchFamily="34" charset="-120"/>
                        </a:rPr>
                        <a:t>Divergence classes catalogued</a:t>
                      </a:r>
                      <a:endParaRPr lang="en-US" sz="100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 10</a:t>
                      </a:r>
                      <a:endParaRPr lang="en-US" sz="100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7</a:t>
                      </a:r>
                      <a:endParaRPr lang="en-US" sz="100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r>
              <a:tr h="301752">
                <a:tc>
                  <a:txBody>
                    <a:bodyPr/>
                    <a:lstStyle/>
                    <a:p>
                      <a:pPr indent="0" marL="0">
                        <a:buNone/>
                      </a:pPr>
                      <a:r>
                        <a:rPr lang="en-US" sz="1000" b="1" dirty="0">
                          <a:solidFill>
                            <a:srgbClr val="0F172A"/>
                          </a:solidFill>
                          <a:latin typeface="Calibri" pitchFamily="34" charset="0"/>
                          <a:ea typeface="Calibri" pitchFamily="34" charset="-122"/>
                          <a:cs typeface="Calibri" pitchFamily="34" charset="-120"/>
                        </a:rPr>
                        <a:t>Back ends driven from one PIR</a:t>
                      </a:r>
                      <a:endParaRPr lang="en-US" sz="100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2 (C11 + WASM text)</a:t>
                      </a:r>
                      <a:endParaRPr lang="en-US" sz="100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r>
              <a:tr h="301752">
                <a:tc>
                  <a:txBody>
                    <a:bodyPr/>
                    <a:lstStyle/>
                    <a:p>
                      <a:pPr indent="0" marL="0">
                        <a:buNone/>
                      </a:pPr>
                      <a:r>
                        <a:rPr lang="en-US" sz="1000" b="1" dirty="0">
                          <a:solidFill>
                            <a:srgbClr val="0F172A"/>
                          </a:solidFill>
                          <a:latin typeface="Calibri" pitchFamily="34" charset="0"/>
                          <a:ea typeface="Calibri" pitchFamily="34" charset="-122"/>
                          <a:cs typeface="Calibri" pitchFamily="34" charset="-120"/>
                        </a:rPr>
                        <a:t>Peak memory vs CPython</a:t>
                      </a:r>
                      <a:endParaRPr lang="en-US" sz="100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 1.5× after regions</a:t>
                      </a:r>
                      <a:endParaRPr lang="en-US" sz="100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unbounded (D7)</a:t>
                      </a:r>
                      <a:endParaRPr lang="en-US" sz="1000" dirty="0">
                        <a:latin typeface="Calibri" charset="0"/>
                        <a:ea typeface="Calibri" charset="0"/>
                        <a:cs typeface="Calibri" charset="0"/>
                      </a:endParaRPr>
                    </a:p>
                  </a:txBody>
                  <a:tcPr marL="88900" marR="88900" marT="50800" marB="50800"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AFAFA"/>
                    </a:solidFill>
                  </a:tcPr>
                </a:tc>
              </a:tr>
            </a:tbl>
          </a:graphicData>
        </a:graphic>
      </p:graphicFrame>
      <p:sp>
        <p:nvSpPr>
          <p:cNvPr id="8" name="Text 5"/>
          <p:cNvSpPr/>
          <p:nvPr/>
        </p:nvSpPr>
        <p:spPr>
          <a:xfrm>
            <a:off x="6922008" y="950976"/>
            <a:ext cx="4663440" cy="274320"/>
          </a:xfrm>
          <a:prstGeom prst="rect">
            <a:avLst/>
          </a:prstGeom>
          <a:noFill/>
          <a:ln/>
        </p:spPr>
        <p:txBody>
          <a:bodyPr wrap="square" lIns="0" tIns="0" rIns="0" bIns="0" rtlCol="0" anchor="ctr"/>
          <a:lstStyle/>
          <a:p>
            <a:pPr indent="0" marL="0">
              <a:buNone/>
            </a:pPr>
            <a:r>
              <a:rPr lang="en-US" sz="1400" b="1" dirty="0">
                <a:solidFill>
                  <a:srgbClr val="FFFFFF"/>
                </a:solidFill>
              </a:rPr>
              <a:t>Extension and publication potential</a:t>
            </a:r>
            <a:endParaRPr lang="en-US" sz="1400" dirty="0"/>
          </a:p>
        </p:txBody>
      </p:sp>
      <p:sp>
        <p:nvSpPr>
          <p:cNvPr id="9" name="Text 6"/>
          <p:cNvSpPr/>
          <p:nvPr/>
        </p:nvSpPr>
        <p:spPr>
          <a:xfrm>
            <a:off x="6922008" y="1298448"/>
            <a:ext cx="4700016" cy="2286000"/>
          </a:xfrm>
          <a:prstGeom prst="rect">
            <a:avLst/>
          </a:prstGeom>
          <a:noFill/>
          <a:ln/>
        </p:spPr>
        <p:txBody>
          <a:bodyPr wrap="square" lIns="0" tIns="0" rIns="0" bIns="0" rtlCol="0" anchor="ctr"/>
          <a:lstStyle/>
          <a:p>
            <a:pPr marL="342900" indent="-342900">
              <a:lnSpc>
                <a:spcPts val="1300"/>
              </a:lnSpc>
              <a:spcAft>
                <a:spcPts val="800"/>
              </a:spcAft>
              <a:buSzPct val="100000"/>
              <a:buChar char="•"/>
            </a:pPr>
            <a:r>
              <a:rPr lang="en-US" sz="1050" dirty="0">
                <a:solidFill>
                  <a:srgbClr val="CBD5E1"/>
                </a:solidFill>
              </a:rPr>
              <a:t>Retargeting — PIR is target-agnostic by construction; a WebAssembly back end would show the normalisation belongs to the IR, not the C emitter.</a:t>
            </a:r>
            <a:endParaRPr lang="en-US" sz="1050" dirty="0"/>
          </a:p>
          <a:p>
            <a:pPr marL="342900" indent="-342900">
              <a:lnSpc>
                <a:spcPts val="1300"/>
              </a:lnSpc>
              <a:spcAft>
                <a:spcPts val="800"/>
              </a:spcAft>
              <a:buSzPct val="100000"/>
              <a:buChar char="•"/>
            </a:pPr>
            <a:r>
              <a:rPr lang="en-US" sz="1050" dirty="0">
                <a:solidFill>
                  <a:srgbClr val="CBD5E1"/>
                </a:solidFill>
              </a:rPr>
              <a:t>Guard elision by interval analysis — a real dataflow pass with a number attached: Collatz says ~2× is available.</a:t>
            </a:r>
            <a:endParaRPr lang="en-US" sz="1050" dirty="0"/>
          </a:p>
          <a:p>
            <a:pPr marL="342900" indent="-342900">
              <a:lnSpc>
                <a:spcPts val="1300"/>
              </a:lnSpc>
              <a:spcAft>
                <a:spcPts val="800"/>
              </a:spcAft>
              <a:buSzPct val="100000"/>
              <a:buChar char="•"/>
            </a:pPr>
            <a:r>
              <a:rPr lang="en-US" sz="1050" dirty="0">
                <a:solidFill>
                  <a:srgbClr val="CBD5E1"/>
                </a:solidFill>
              </a:rPr>
              <a:t>Selective bignum promotion — promote only at the sites interval analysis cannot discharge, closing D1 properly instead of guarding it.</a:t>
            </a:r>
            <a:endParaRPr lang="en-US" sz="1050" dirty="0"/>
          </a:p>
          <a:p>
            <a:pPr marL="342900" indent="-342900">
              <a:lnSpc>
                <a:spcPts val="1300"/>
              </a:lnSpc>
              <a:spcAft>
                <a:spcPts val="800"/>
              </a:spcAft>
              <a:buSzPct val="100000"/>
              <a:buChar char="•"/>
            </a:pPr>
            <a:r>
              <a:rPr lang="en-US" sz="1050" dirty="0">
                <a:solidFill>
                  <a:srgbClr val="CBD5E1"/>
                </a:solidFill>
              </a:rPr>
              <a:t>Mechanised proof that coercion insertion preserves typing — moving one link from tested to verified, in the spirit of CompCert.</a:t>
            </a:r>
            <a:endParaRPr lang="en-US" sz="1050" dirty="0"/>
          </a:p>
        </p:txBody>
      </p:sp>
      <p:sp>
        <p:nvSpPr>
          <p:cNvPr id="10" name="Shape 7"/>
          <p:cNvSpPr/>
          <p:nvPr/>
        </p:nvSpPr>
        <p:spPr>
          <a:xfrm>
            <a:off x="566928" y="3054096"/>
            <a:ext cx="11057839" cy="1371600"/>
          </a:xfrm>
          <a:prstGeom prst="roundRect">
            <a:avLst>
              <a:gd name="adj" fmla="val 5333"/>
            </a:avLst>
          </a:prstGeom>
          <a:solidFill>
            <a:srgbClr val="1E293B"/>
          </a:solidFill>
          <a:ln w="9525">
            <a:solidFill>
              <a:srgbClr val="334155"/>
            </a:solidFill>
            <a:prstDash val="solid"/>
          </a:ln>
        </p:spPr>
      </p:sp>
      <p:sp>
        <p:nvSpPr>
          <p:cNvPr id="11" name="Text 8"/>
          <p:cNvSpPr/>
          <p:nvPr/>
        </p:nvSpPr>
        <p:spPr>
          <a:xfrm>
            <a:off x="786384" y="3163824"/>
            <a:ext cx="5486400" cy="256032"/>
          </a:xfrm>
          <a:prstGeom prst="rect">
            <a:avLst/>
          </a:prstGeom>
          <a:noFill/>
          <a:ln/>
        </p:spPr>
        <p:txBody>
          <a:bodyPr wrap="square" lIns="0" tIns="0" rIns="0" bIns="0" rtlCol="0" anchor="ctr"/>
          <a:lstStyle/>
          <a:p>
            <a:pPr indent="0" marL="0">
              <a:buNone/>
            </a:pPr>
            <a:r>
              <a:rPr lang="en-US" sz="1200" b="1" dirty="0">
                <a:solidFill>
                  <a:srgbClr val="F59E0B"/>
                </a:solidFill>
              </a:rPr>
              <a:t>Top risks and what we actually do about them</a:t>
            </a:r>
            <a:endParaRPr lang="en-US" sz="1200" dirty="0"/>
          </a:p>
        </p:txBody>
      </p:sp>
      <p:sp>
        <p:nvSpPr>
          <p:cNvPr id="12" name="Text 9"/>
          <p:cNvSpPr/>
          <p:nvPr/>
        </p:nvSpPr>
        <p:spPr>
          <a:xfrm>
            <a:off x="786384" y="3474720"/>
            <a:ext cx="3429000" cy="237744"/>
          </a:xfrm>
          <a:prstGeom prst="rect">
            <a:avLst/>
          </a:prstGeom>
          <a:noFill/>
          <a:ln/>
        </p:spPr>
        <p:txBody>
          <a:bodyPr wrap="square" lIns="0" tIns="0" rIns="0" bIns="0" rtlCol="0" anchor="ctr"/>
          <a:lstStyle/>
          <a:p>
            <a:pPr indent="0" marL="0">
              <a:buNone/>
            </a:pPr>
            <a:r>
              <a:rPr lang="en-US" sz="1050" b="1" dirty="0">
                <a:solidFill>
                  <a:srgbClr val="FFFFFF"/>
                </a:solidFill>
              </a:rPr>
              <a:t>R1  Undiscovered divergences</a:t>
            </a:r>
            <a:endParaRPr lang="en-US" sz="1050" dirty="0"/>
          </a:p>
        </p:txBody>
      </p:sp>
      <p:sp>
        <p:nvSpPr>
          <p:cNvPr id="13" name="Text 10"/>
          <p:cNvSpPr/>
          <p:nvPr/>
        </p:nvSpPr>
        <p:spPr>
          <a:xfrm>
            <a:off x="786384" y="3712464"/>
            <a:ext cx="3429000" cy="585216"/>
          </a:xfrm>
          <a:prstGeom prst="rect">
            <a:avLst/>
          </a:prstGeom>
          <a:noFill/>
          <a:ln/>
        </p:spPr>
        <p:txBody>
          <a:bodyPr wrap="square" lIns="0" tIns="0" rIns="0" bIns="0" rtlCol="0" anchor="ctr"/>
          <a:lstStyle/>
          <a:p>
            <a:pPr indent="0" marL="0">
              <a:lnSpc>
                <a:spcPts val="1200"/>
              </a:lnSpc>
              <a:buNone/>
            </a:pPr>
            <a:r>
              <a:rPr lang="en-US" sz="950" dirty="0">
                <a:solidFill>
                  <a:srgbClr val="94A3B8"/>
                </a:solidFill>
              </a:rPr>
              <a:t>The grammar-directed generator searches the space we did not think of; each find becomes a class and a test.</a:t>
            </a:r>
            <a:endParaRPr lang="en-US" sz="950" dirty="0"/>
          </a:p>
        </p:txBody>
      </p:sp>
      <p:sp>
        <p:nvSpPr>
          <p:cNvPr id="14" name="Text 11"/>
          <p:cNvSpPr/>
          <p:nvPr/>
        </p:nvSpPr>
        <p:spPr>
          <a:xfrm>
            <a:off x="4398264" y="3474720"/>
            <a:ext cx="3429000" cy="237744"/>
          </a:xfrm>
          <a:prstGeom prst="rect">
            <a:avLst/>
          </a:prstGeom>
          <a:noFill/>
          <a:ln/>
        </p:spPr>
        <p:txBody>
          <a:bodyPr wrap="square" lIns="0" tIns="0" rIns="0" bIns="0" rtlCol="0" anchor="ctr"/>
          <a:lstStyle/>
          <a:p>
            <a:pPr indent="0" marL="0">
              <a:buNone/>
            </a:pPr>
            <a:r>
              <a:rPr lang="en-US" sz="1050" b="1" dirty="0">
                <a:solidFill>
                  <a:srgbClr val="FFFFFF"/>
                </a:solidFill>
              </a:rPr>
              <a:t>R2  Guards cost performance</a:t>
            </a:r>
            <a:endParaRPr lang="en-US" sz="1050" dirty="0"/>
          </a:p>
        </p:txBody>
      </p:sp>
      <p:sp>
        <p:nvSpPr>
          <p:cNvPr id="15" name="Text 12"/>
          <p:cNvSpPr/>
          <p:nvPr/>
        </p:nvSpPr>
        <p:spPr>
          <a:xfrm>
            <a:off x="4398264" y="3712464"/>
            <a:ext cx="3429000" cy="585216"/>
          </a:xfrm>
          <a:prstGeom prst="rect">
            <a:avLst/>
          </a:prstGeom>
          <a:noFill/>
          <a:ln/>
        </p:spPr>
        <p:txBody>
          <a:bodyPr wrap="square" lIns="0" tIns="0" rIns="0" bIns="0" rtlCol="0" anchor="ctr"/>
          <a:lstStyle/>
          <a:p>
            <a:pPr indent="0" marL="0">
              <a:lnSpc>
                <a:spcPts val="1200"/>
              </a:lnSpc>
              <a:buNone/>
            </a:pPr>
            <a:r>
              <a:rPr lang="en-US" sz="950" dirty="0">
                <a:solidFill>
                  <a:srgbClr val="94A3B8"/>
                </a:solidFill>
              </a:rPr>
              <a:t>Measured, not guessed: ~2× on Collatz. Interval analysis becomes a Review 2 objective with a target.</a:t>
            </a:r>
            <a:endParaRPr lang="en-US" sz="950" dirty="0"/>
          </a:p>
        </p:txBody>
      </p:sp>
      <p:sp>
        <p:nvSpPr>
          <p:cNvPr id="16" name="Text 13"/>
          <p:cNvSpPr/>
          <p:nvPr/>
        </p:nvSpPr>
        <p:spPr>
          <a:xfrm>
            <a:off x="8010144" y="3474720"/>
            <a:ext cx="3429000" cy="237744"/>
          </a:xfrm>
          <a:prstGeom prst="rect">
            <a:avLst/>
          </a:prstGeom>
          <a:noFill/>
          <a:ln/>
        </p:spPr>
        <p:txBody>
          <a:bodyPr wrap="square" lIns="0" tIns="0" rIns="0" bIns="0" rtlCol="0" anchor="ctr"/>
          <a:lstStyle/>
          <a:p>
            <a:pPr indent="0" marL="0">
              <a:buNone/>
            </a:pPr>
            <a:r>
              <a:rPr lang="en-US" sz="1050" b="1" dirty="0">
                <a:solidFill>
                  <a:srgbClr val="FFFFFF"/>
                </a:solidFill>
              </a:rPr>
              <a:t>R6  Type checker unsound</a:t>
            </a:r>
            <a:endParaRPr lang="en-US" sz="1050" dirty="0"/>
          </a:p>
        </p:txBody>
      </p:sp>
      <p:sp>
        <p:nvSpPr>
          <p:cNvPr id="17" name="Text 14"/>
          <p:cNvSpPr/>
          <p:nvPr/>
        </p:nvSpPr>
        <p:spPr>
          <a:xfrm>
            <a:off x="8010144" y="3712464"/>
            <a:ext cx="3429000" cy="585216"/>
          </a:xfrm>
          <a:prstGeom prst="rect">
            <a:avLst/>
          </a:prstGeom>
          <a:noFill/>
          <a:ln/>
        </p:spPr>
        <p:txBody>
          <a:bodyPr wrap="square" lIns="0" tIns="0" rIns="0" bIns="0" rtlCol="0" anchor="ctr"/>
          <a:lstStyle/>
          <a:p>
            <a:pPr indent="0" marL="0">
              <a:lnSpc>
                <a:spcPts val="1200"/>
              </a:lnSpc>
              <a:buNone/>
            </a:pPr>
            <a:r>
              <a:rPr lang="en-US" sz="950" dirty="0">
                <a:solidFill>
                  <a:srgbClr val="94A3B8"/>
                </a:solidFill>
              </a:rPr>
              <a:t>Exactly what the oracle detects — an unsoundness surfaces as an output mismatch, not a silent pass.</a:t>
            </a:r>
            <a:endParaRPr lang="en-US" sz="950" dirty="0"/>
          </a:p>
        </p:txBody>
      </p:sp>
      <p:sp>
        <p:nvSpPr>
          <p:cNvPr id="18" name="Shape 15"/>
          <p:cNvSpPr/>
          <p:nvPr/>
        </p:nvSpPr>
        <p:spPr>
          <a:xfrm>
            <a:off x="566928" y="4590288"/>
            <a:ext cx="11057839" cy="1298448"/>
          </a:xfrm>
          <a:prstGeom prst="roundRect">
            <a:avLst>
              <a:gd name="adj" fmla="val 5634"/>
            </a:avLst>
          </a:prstGeom>
          <a:solidFill>
            <a:srgbClr val="F59E0B"/>
          </a:solidFill>
          <a:ln w="12700">
            <a:solidFill>
              <a:srgbClr val="333333"/>
            </a:solidFill>
            <a:prstDash val="solid"/>
          </a:ln>
        </p:spPr>
      </p:sp>
      <p:sp>
        <p:nvSpPr>
          <p:cNvPr id="19" name="Text 16"/>
          <p:cNvSpPr/>
          <p:nvPr/>
        </p:nvSpPr>
        <p:spPr>
          <a:xfrm>
            <a:off x="841248" y="4700016"/>
            <a:ext cx="2743200" cy="274320"/>
          </a:xfrm>
          <a:prstGeom prst="rect">
            <a:avLst/>
          </a:prstGeom>
          <a:noFill/>
          <a:ln/>
        </p:spPr>
        <p:txBody>
          <a:bodyPr wrap="square" lIns="0" tIns="0" rIns="0" bIns="0" rtlCol="0" anchor="ctr"/>
          <a:lstStyle/>
          <a:p>
            <a:pPr indent="0" marL="0">
              <a:buNone/>
            </a:pPr>
            <a:r>
              <a:rPr lang="en-US" sz="1200" b="1" spc="100" kern="0" dirty="0">
                <a:solidFill>
                  <a:srgbClr val="78350F"/>
                </a:solidFill>
              </a:rPr>
              <a:t>Conclusion</a:t>
            </a:r>
            <a:endParaRPr lang="en-US" sz="1200" dirty="0"/>
          </a:p>
        </p:txBody>
      </p:sp>
      <p:sp>
        <p:nvSpPr>
          <p:cNvPr id="20" name="Text 17"/>
          <p:cNvSpPr/>
          <p:nvPr/>
        </p:nvSpPr>
        <p:spPr>
          <a:xfrm>
            <a:off x="841248" y="4956048"/>
            <a:ext cx="10515600" cy="347472"/>
          </a:xfrm>
          <a:prstGeom prst="rect">
            <a:avLst/>
          </a:prstGeom>
          <a:noFill/>
          <a:ln/>
        </p:spPr>
        <p:txBody>
          <a:bodyPr wrap="square" lIns="0" tIns="0" rIns="0" bIns="0" rtlCol="0" anchor="ctr"/>
          <a:lstStyle/>
          <a:p>
            <a:pPr indent="0" marL="0">
              <a:buNone/>
            </a:pPr>
            <a:r>
              <a:rPr lang="en-US" sz="1900" b="1" dirty="0">
                <a:solidFill>
                  <a:srgbClr val="451A03"/>
                </a:solidFill>
              </a:rPr>
              <a:t>A transpiler that silently approximates is a miscompiler. One that reports is a tool.</a:t>
            </a:r>
            <a:endParaRPr lang="en-US" sz="1900" dirty="0"/>
          </a:p>
        </p:txBody>
      </p:sp>
      <p:sp>
        <p:nvSpPr>
          <p:cNvPr id="21" name="Text 18"/>
          <p:cNvSpPr/>
          <p:nvPr/>
        </p:nvSpPr>
        <p:spPr>
          <a:xfrm>
            <a:off x="841248" y="5358384"/>
            <a:ext cx="10515600" cy="402336"/>
          </a:xfrm>
          <a:prstGeom prst="rect">
            <a:avLst/>
          </a:prstGeom>
          <a:noFill/>
          <a:ln/>
        </p:spPr>
        <p:txBody>
          <a:bodyPr wrap="square" lIns="0" tIns="0" rIns="0" bIns="0" rtlCol="0" anchor="ctr"/>
          <a:lstStyle/>
          <a:p>
            <a:pPr indent="0" marL="0">
              <a:lnSpc>
                <a:spcPts val="1400"/>
              </a:lnSpc>
              <a:buNone/>
            </a:pPr>
            <a:r>
              <a:rPr lang="en-US" sz="1150" dirty="0">
                <a:solidFill>
                  <a:srgbClr val="78350F"/>
                </a:solidFill>
              </a:rPr>
              <a:t>At Review 1 the pipeline is complete end to end, the equivalence claim is tested rather than asserted, and every place the translation is approximate is named by the compiler itself — with a line, a column and a mitigation.</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8040319" cy="566928"/>
          </a:xfrm>
          <a:prstGeom prst="rect">
            <a:avLst/>
          </a:prstGeom>
          <a:noFill/>
          <a:ln/>
        </p:spPr>
        <p:txBody>
          <a:bodyPr wrap="square" lIns="0" tIns="0" rIns="0" bIns="0" rtlCol="0" anchor="ctr"/>
          <a:lstStyle/>
          <a:p>
            <a:pPr indent="0" marL="0">
              <a:buNone/>
            </a:pPr>
            <a:r>
              <a:rPr lang="en-US" sz="2400" b="1" dirty="0">
                <a:solidFill>
                  <a:srgbClr val="0F172A"/>
                </a:solidFill>
              </a:rPr>
              <a:t>References</a:t>
            </a:r>
            <a:endParaRPr lang="en-US" sz="2400" dirty="0"/>
          </a:p>
        </p:txBody>
      </p:sp>
      <p:sp>
        <p:nvSpPr>
          <p:cNvPr id="3" name="Shape 1"/>
          <p:cNvSpPr/>
          <p:nvPr/>
        </p:nvSpPr>
        <p:spPr>
          <a:xfrm>
            <a:off x="8835847" y="310896"/>
            <a:ext cx="2788920" cy="310896"/>
          </a:xfrm>
          <a:prstGeom prst="roundRect">
            <a:avLst>
              <a:gd name="adj" fmla="val 50000"/>
            </a:avLst>
          </a:prstGeom>
          <a:solidFill>
            <a:srgbClr val="F1F5F9"/>
          </a:solidFill>
          <a:ln w="9525">
            <a:solidFill>
              <a:srgbClr val="E2E8F0"/>
            </a:solidFill>
            <a:prstDash val="solid"/>
          </a:ln>
        </p:spPr>
      </p:sp>
      <p:sp>
        <p:nvSpPr>
          <p:cNvPr id="4" name="Text 2"/>
          <p:cNvSpPr/>
          <p:nvPr/>
        </p:nvSpPr>
        <p:spPr>
          <a:xfrm>
            <a:off x="8835847" y="310896"/>
            <a:ext cx="2788920" cy="310896"/>
          </a:xfrm>
          <a:prstGeom prst="rect">
            <a:avLst/>
          </a:prstGeom>
          <a:noFill/>
          <a:ln/>
        </p:spPr>
        <p:txBody>
          <a:bodyPr wrap="square" lIns="0" tIns="0" rIns="0" bIns="0" rtlCol="0" anchor="ctr"/>
          <a:lstStyle/>
          <a:p>
            <a:pPr algn="ctr" indent="0" marL="0">
              <a:buNone/>
            </a:pPr>
            <a:r>
              <a:rPr lang="en-US" sz="900" b="1" spc="80" kern="0" dirty="0">
                <a:solidFill>
                  <a:srgbClr val="334155"/>
                </a:solidFill>
              </a:rPr>
              <a:t>ANY MEMBER</a:t>
            </a:r>
            <a:endParaRPr lang="en-US" sz="900" dirty="0"/>
          </a:p>
        </p:txBody>
      </p:sp>
      <p:sp>
        <p:nvSpPr>
          <p:cNvPr id="5" name="Text 3"/>
          <p:cNvSpPr/>
          <p:nvPr/>
        </p:nvSpPr>
        <p:spPr>
          <a:xfrm>
            <a:off x="11076127" y="6382512"/>
            <a:ext cx="548640" cy="274320"/>
          </a:xfrm>
          <a:prstGeom prst="rect">
            <a:avLst/>
          </a:prstGeom>
          <a:noFill/>
          <a:ln/>
        </p:spPr>
        <p:txBody>
          <a:bodyPr wrap="square" lIns="0" tIns="0" rIns="0" bIns="0" rtlCol="0" anchor="ctr"/>
          <a:lstStyle/>
          <a:p>
            <a:pPr algn="r" indent="0" marL="0">
              <a:buNone/>
            </a:pPr>
            <a:r>
              <a:rPr lang="en-US" sz="1000" dirty="0">
                <a:solidFill>
                  <a:srgbClr val="64748B"/>
                </a:solidFill>
              </a:rPr>
              <a:t>14</a:t>
            </a:r>
            <a:endParaRPr lang="en-US" sz="1000" dirty="0"/>
          </a:p>
        </p:txBody>
      </p:sp>
      <p:sp>
        <p:nvSpPr>
          <p:cNvPr id="6" name="Text 4"/>
          <p:cNvSpPr/>
          <p:nvPr/>
        </p:nvSpPr>
        <p:spPr>
          <a:xfrm>
            <a:off x="566928" y="6382512"/>
            <a:ext cx="5486400" cy="274320"/>
          </a:xfrm>
          <a:prstGeom prst="rect">
            <a:avLst/>
          </a:prstGeom>
          <a:noFill/>
          <a:ln/>
        </p:spPr>
        <p:txBody>
          <a:bodyPr wrap="square" lIns="0" tIns="0" rIns="0" bIns="0" rtlCol="0" anchor="ctr"/>
          <a:lstStyle/>
          <a:p>
            <a:pPr indent="0" marL="0">
              <a:buNone/>
            </a:pPr>
            <a:r>
              <a:rPr lang="en-US" sz="900" dirty="0">
                <a:solidFill>
                  <a:srgbClr val="94A3B8"/>
                </a:solidFill>
              </a:rPr>
              <a:t>PYTHIA  ·  BCSE307L Team 2  ·  Project A15</a:t>
            </a:r>
            <a:endParaRPr lang="en-US" sz="900" dirty="0"/>
          </a:p>
        </p:txBody>
      </p:sp>
      <p:sp>
        <p:nvSpPr>
          <p:cNvPr id="7" name="Text 5"/>
          <p:cNvSpPr/>
          <p:nvPr/>
        </p:nvSpPr>
        <p:spPr>
          <a:xfrm>
            <a:off x="566928" y="969264"/>
            <a:ext cx="457200" cy="329184"/>
          </a:xfrm>
          <a:prstGeom prst="rect">
            <a:avLst/>
          </a:prstGeom>
          <a:noFill/>
          <a:ln/>
        </p:spPr>
        <p:txBody>
          <a:bodyPr wrap="square" lIns="0" tIns="0" rIns="0" bIns="0" rtlCol="0" anchor="t"/>
          <a:lstStyle/>
          <a:p>
            <a:pPr indent="0" marL="0">
              <a:buNone/>
            </a:pPr>
            <a:r>
              <a:rPr lang="en-US" sz="1000" b="1" dirty="0">
                <a:solidFill>
                  <a:srgbClr val="B45309"/>
                </a:solidFill>
              </a:rPr>
              <a:t>[1]</a:t>
            </a:r>
            <a:endParaRPr lang="en-US" sz="1000" dirty="0"/>
          </a:p>
        </p:txBody>
      </p:sp>
      <p:sp>
        <p:nvSpPr>
          <p:cNvPr id="8" name="Text 6"/>
          <p:cNvSpPr/>
          <p:nvPr/>
        </p:nvSpPr>
        <p:spPr>
          <a:xfrm>
            <a:off x="1042416" y="969264"/>
            <a:ext cx="10582351" cy="329184"/>
          </a:xfrm>
          <a:prstGeom prst="rect">
            <a:avLst/>
          </a:prstGeom>
          <a:noFill/>
          <a:ln/>
        </p:spPr>
        <p:txBody>
          <a:bodyPr wrap="square" lIns="0" tIns="0" rIns="0" bIns="0" rtlCol="0" anchor="t"/>
          <a:lstStyle/>
          <a:p>
            <a:pPr indent="0" marL="0">
              <a:lnSpc>
                <a:spcPts val="1250"/>
              </a:lnSpc>
              <a:buNone/>
            </a:pPr>
            <a:r>
              <a:rPr lang="en-US" sz="1000" dirty="0">
                <a:solidFill>
                  <a:srgbClr val="334155"/>
                </a:solidFill>
              </a:rPr>
              <a:t>A. V. Aho, M. S. Lam, R. Sethi, J. D. Ullman. Compilers: Principles, Techniques, and Tools. 2nd ed., Pearson, 2006. — Ch. 2–6: lexical analysis, recursive-descent parsing, syntax-directed translation, type checking.</a:t>
            </a:r>
            <a:endParaRPr lang="en-US" sz="1000" dirty="0"/>
          </a:p>
        </p:txBody>
      </p:sp>
      <p:sp>
        <p:nvSpPr>
          <p:cNvPr id="9" name="Text 7"/>
          <p:cNvSpPr/>
          <p:nvPr/>
        </p:nvSpPr>
        <p:spPr>
          <a:xfrm>
            <a:off x="566928" y="1330452"/>
            <a:ext cx="457200" cy="329184"/>
          </a:xfrm>
          <a:prstGeom prst="rect">
            <a:avLst/>
          </a:prstGeom>
          <a:noFill/>
          <a:ln/>
        </p:spPr>
        <p:txBody>
          <a:bodyPr wrap="square" lIns="0" tIns="0" rIns="0" bIns="0" rtlCol="0" anchor="t"/>
          <a:lstStyle/>
          <a:p>
            <a:pPr indent="0" marL="0">
              <a:buNone/>
            </a:pPr>
            <a:r>
              <a:rPr lang="en-US" sz="1000" b="1" dirty="0">
                <a:solidFill>
                  <a:srgbClr val="B45309"/>
                </a:solidFill>
              </a:rPr>
              <a:t>[2]</a:t>
            </a:r>
            <a:endParaRPr lang="en-US" sz="1000" dirty="0"/>
          </a:p>
        </p:txBody>
      </p:sp>
      <p:sp>
        <p:nvSpPr>
          <p:cNvPr id="10" name="Text 8"/>
          <p:cNvSpPr/>
          <p:nvPr/>
        </p:nvSpPr>
        <p:spPr>
          <a:xfrm>
            <a:off x="1042416" y="1330452"/>
            <a:ext cx="10582351" cy="329184"/>
          </a:xfrm>
          <a:prstGeom prst="rect">
            <a:avLst/>
          </a:prstGeom>
          <a:noFill/>
          <a:ln/>
        </p:spPr>
        <p:txBody>
          <a:bodyPr wrap="square" lIns="0" tIns="0" rIns="0" bIns="0" rtlCol="0" anchor="t"/>
          <a:lstStyle/>
          <a:p>
            <a:pPr indent="0" marL="0">
              <a:lnSpc>
                <a:spcPts val="1250"/>
              </a:lnSpc>
              <a:buNone/>
            </a:pPr>
            <a:r>
              <a:rPr lang="en-US" sz="1000" dirty="0">
                <a:solidFill>
                  <a:srgbClr val="334155"/>
                </a:solidFill>
              </a:rPr>
              <a:t>B. C. Pierce. Types and Programming Languages. MIT Press, 2002. — subtyping and algorithmic typing.</a:t>
            </a:r>
            <a:endParaRPr lang="en-US" sz="1000" dirty="0"/>
          </a:p>
        </p:txBody>
      </p:sp>
      <p:sp>
        <p:nvSpPr>
          <p:cNvPr id="11" name="Text 9"/>
          <p:cNvSpPr/>
          <p:nvPr/>
        </p:nvSpPr>
        <p:spPr>
          <a:xfrm>
            <a:off x="566928" y="1691640"/>
            <a:ext cx="457200" cy="329184"/>
          </a:xfrm>
          <a:prstGeom prst="rect">
            <a:avLst/>
          </a:prstGeom>
          <a:noFill/>
          <a:ln/>
        </p:spPr>
        <p:txBody>
          <a:bodyPr wrap="square" lIns="0" tIns="0" rIns="0" bIns="0" rtlCol="0" anchor="t"/>
          <a:lstStyle/>
          <a:p>
            <a:pPr indent="0" marL="0">
              <a:buNone/>
            </a:pPr>
            <a:r>
              <a:rPr lang="en-US" sz="1000" b="1" dirty="0">
                <a:solidFill>
                  <a:srgbClr val="B45309"/>
                </a:solidFill>
              </a:rPr>
              <a:t>[3]</a:t>
            </a:r>
            <a:endParaRPr lang="en-US" sz="1000" dirty="0"/>
          </a:p>
        </p:txBody>
      </p:sp>
      <p:sp>
        <p:nvSpPr>
          <p:cNvPr id="12" name="Text 10"/>
          <p:cNvSpPr/>
          <p:nvPr/>
        </p:nvSpPr>
        <p:spPr>
          <a:xfrm>
            <a:off x="1042416" y="1691640"/>
            <a:ext cx="10582351" cy="329184"/>
          </a:xfrm>
          <a:prstGeom prst="rect">
            <a:avLst/>
          </a:prstGeom>
          <a:noFill/>
          <a:ln/>
        </p:spPr>
        <p:txBody>
          <a:bodyPr wrap="square" lIns="0" tIns="0" rIns="0" bIns="0" rtlCol="0" anchor="t"/>
          <a:lstStyle/>
          <a:p>
            <a:pPr indent="0" marL="0">
              <a:lnSpc>
                <a:spcPts val="1250"/>
              </a:lnSpc>
              <a:buNone/>
            </a:pPr>
            <a:r>
              <a:rPr lang="en-US" sz="1000" dirty="0">
                <a:solidFill>
                  <a:srgbClr val="334155"/>
                </a:solidFill>
              </a:rPr>
              <a:t>B. C. Pierce, D. N. Turner. “Local Type Inference.” ACM TOPLAS 22(1):1–44, 2000. — the bidirectional discipline used in typecheck.py.</a:t>
            </a:r>
            <a:endParaRPr lang="en-US" sz="1000" dirty="0"/>
          </a:p>
        </p:txBody>
      </p:sp>
      <p:sp>
        <p:nvSpPr>
          <p:cNvPr id="13" name="Text 11"/>
          <p:cNvSpPr/>
          <p:nvPr/>
        </p:nvSpPr>
        <p:spPr>
          <a:xfrm>
            <a:off x="566928" y="2052828"/>
            <a:ext cx="457200" cy="329184"/>
          </a:xfrm>
          <a:prstGeom prst="rect">
            <a:avLst/>
          </a:prstGeom>
          <a:noFill/>
          <a:ln/>
        </p:spPr>
        <p:txBody>
          <a:bodyPr wrap="square" lIns="0" tIns="0" rIns="0" bIns="0" rtlCol="0" anchor="t"/>
          <a:lstStyle/>
          <a:p>
            <a:pPr indent="0" marL="0">
              <a:buNone/>
            </a:pPr>
            <a:r>
              <a:rPr lang="en-US" sz="1000" b="1" dirty="0">
                <a:solidFill>
                  <a:srgbClr val="B45309"/>
                </a:solidFill>
              </a:rPr>
              <a:t>[4]</a:t>
            </a:r>
            <a:endParaRPr lang="en-US" sz="1000" dirty="0"/>
          </a:p>
        </p:txBody>
      </p:sp>
      <p:sp>
        <p:nvSpPr>
          <p:cNvPr id="14" name="Text 12"/>
          <p:cNvSpPr/>
          <p:nvPr/>
        </p:nvSpPr>
        <p:spPr>
          <a:xfrm>
            <a:off x="1042416" y="2052828"/>
            <a:ext cx="10582351" cy="329184"/>
          </a:xfrm>
          <a:prstGeom prst="rect">
            <a:avLst/>
          </a:prstGeom>
          <a:noFill/>
          <a:ln/>
        </p:spPr>
        <p:txBody>
          <a:bodyPr wrap="square" lIns="0" tIns="0" rIns="0" bIns="0" rtlCol="0" anchor="t"/>
          <a:lstStyle/>
          <a:p>
            <a:pPr indent="0" marL="0">
              <a:lnSpc>
                <a:spcPts val="1250"/>
              </a:lnSpc>
              <a:buNone/>
            </a:pPr>
            <a:r>
              <a:rPr lang="en-US" sz="1000" dirty="0">
                <a:solidFill>
                  <a:srgbClr val="334155"/>
                </a:solidFill>
              </a:rPr>
              <a:t>V. R. Pratt. “Top Down Operator Precedence.” POPL, pp. 41–51, 1973. — the expression parser.</a:t>
            </a:r>
            <a:endParaRPr lang="en-US" sz="1000" dirty="0"/>
          </a:p>
        </p:txBody>
      </p:sp>
      <p:sp>
        <p:nvSpPr>
          <p:cNvPr id="15" name="Text 13"/>
          <p:cNvSpPr/>
          <p:nvPr/>
        </p:nvSpPr>
        <p:spPr>
          <a:xfrm>
            <a:off x="566928" y="2414016"/>
            <a:ext cx="457200" cy="329184"/>
          </a:xfrm>
          <a:prstGeom prst="rect">
            <a:avLst/>
          </a:prstGeom>
          <a:noFill/>
          <a:ln/>
        </p:spPr>
        <p:txBody>
          <a:bodyPr wrap="square" lIns="0" tIns="0" rIns="0" bIns="0" rtlCol="0" anchor="t"/>
          <a:lstStyle/>
          <a:p>
            <a:pPr indent="0" marL="0">
              <a:buNone/>
            </a:pPr>
            <a:r>
              <a:rPr lang="en-US" sz="1000" b="1" dirty="0">
                <a:solidFill>
                  <a:srgbClr val="B45309"/>
                </a:solidFill>
              </a:rPr>
              <a:t>[5]</a:t>
            </a:r>
            <a:endParaRPr lang="en-US" sz="1000" dirty="0"/>
          </a:p>
        </p:txBody>
      </p:sp>
      <p:sp>
        <p:nvSpPr>
          <p:cNvPr id="16" name="Text 14"/>
          <p:cNvSpPr/>
          <p:nvPr/>
        </p:nvSpPr>
        <p:spPr>
          <a:xfrm>
            <a:off x="1042416" y="2414016"/>
            <a:ext cx="10582351" cy="329184"/>
          </a:xfrm>
          <a:prstGeom prst="rect">
            <a:avLst/>
          </a:prstGeom>
          <a:noFill/>
          <a:ln/>
        </p:spPr>
        <p:txBody>
          <a:bodyPr wrap="square" lIns="0" tIns="0" rIns="0" bIns="0" rtlCol="0" anchor="t"/>
          <a:lstStyle/>
          <a:p>
            <a:pPr indent="0" marL="0">
              <a:lnSpc>
                <a:spcPts val="1250"/>
              </a:lnSpc>
              <a:buNone/>
            </a:pPr>
            <a:r>
              <a:rPr lang="en-US" sz="1000" dirty="0">
                <a:solidFill>
                  <a:srgbClr val="334155"/>
                </a:solidFill>
              </a:rPr>
              <a:t>W. M. McKeeman. “Differential Testing for Software.” Digital Technical Journal 10(1):100–107, 1998. — the methodology behind tools/oracle.py.</a:t>
            </a:r>
            <a:endParaRPr lang="en-US" sz="1000" dirty="0"/>
          </a:p>
        </p:txBody>
      </p:sp>
      <p:sp>
        <p:nvSpPr>
          <p:cNvPr id="17" name="Text 15"/>
          <p:cNvSpPr/>
          <p:nvPr/>
        </p:nvSpPr>
        <p:spPr>
          <a:xfrm>
            <a:off x="566928" y="2775204"/>
            <a:ext cx="457200" cy="329184"/>
          </a:xfrm>
          <a:prstGeom prst="rect">
            <a:avLst/>
          </a:prstGeom>
          <a:noFill/>
          <a:ln/>
        </p:spPr>
        <p:txBody>
          <a:bodyPr wrap="square" lIns="0" tIns="0" rIns="0" bIns="0" rtlCol="0" anchor="t"/>
          <a:lstStyle/>
          <a:p>
            <a:pPr indent="0" marL="0">
              <a:buNone/>
            </a:pPr>
            <a:r>
              <a:rPr lang="en-US" sz="1000" b="1" dirty="0">
                <a:solidFill>
                  <a:srgbClr val="B45309"/>
                </a:solidFill>
              </a:rPr>
              <a:t>[6]</a:t>
            </a:r>
            <a:endParaRPr lang="en-US" sz="1000" dirty="0"/>
          </a:p>
        </p:txBody>
      </p:sp>
      <p:sp>
        <p:nvSpPr>
          <p:cNvPr id="18" name="Text 16"/>
          <p:cNvSpPr/>
          <p:nvPr/>
        </p:nvSpPr>
        <p:spPr>
          <a:xfrm>
            <a:off x="1042416" y="2775204"/>
            <a:ext cx="10582351" cy="329184"/>
          </a:xfrm>
          <a:prstGeom prst="rect">
            <a:avLst/>
          </a:prstGeom>
          <a:noFill/>
          <a:ln/>
        </p:spPr>
        <p:txBody>
          <a:bodyPr wrap="square" lIns="0" tIns="0" rIns="0" bIns="0" rtlCol="0" anchor="t"/>
          <a:lstStyle/>
          <a:p>
            <a:pPr indent="0" marL="0">
              <a:lnSpc>
                <a:spcPts val="1250"/>
              </a:lnSpc>
              <a:buNone/>
            </a:pPr>
            <a:r>
              <a:rPr lang="en-US" sz="1000" dirty="0">
                <a:solidFill>
                  <a:srgbClr val="334155"/>
                </a:solidFill>
              </a:rPr>
              <a:t>X. Yang, Y. Chen, E. Eide, J. Regehr. “Finding and Understanding Bugs in C Compilers.” PLDI, pp. 283–294, 2011. — Csmith; the model for the Review-2 generator.</a:t>
            </a:r>
            <a:endParaRPr lang="en-US" sz="1000" dirty="0"/>
          </a:p>
        </p:txBody>
      </p:sp>
      <p:sp>
        <p:nvSpPr>
          <p:cNvPr id="19" name="Text 17"/>
          <p:cNvSpPr/>
          <p:nvPr/>
        </p:nvSpPr>
        <p:spPr>
          <a:xfrm>
            <a:off x="566928" y="3136392"/>
            <a:ext cx="457200" cy="329184"/>
          </a:xfrm>
          <a:prstGeom prst="rect">
            <a:avLst/>
          </a:prstGeom>
          <a:noFill/>
          <a:ln/>
        </p:spPr>
        <p:txBody>
          <a:bodyPr wrap="square" lIns="0" tIns="0" rIns="0" bIns="0" rtlCol="0" anchor="t"/>
          <a:lstStyle/>
          <a:p>
            <a:pPr indent="0" marL="0">
              <a:buNone/>
            </a:pPr>
            <a:r>
              <a:rPr lang="en-US" sz="1000" b="1" dirty="0">
                <a:solidFill>
                  <a:srgbClr val="B45309"/>
                </a:solidFill>
              </a:rPr>
              <a:t>[7]</a:t>
            </a:r>
            <a:endParaRPr lang="en-US" sz="1000" dirty="0"/>
          </a:p>
        </p:txBody>
      </p:sp>
      <p:sp>
        <p:nvSpPr>
          <p:cNvPr id="20" name="Text 18"/>
          <p:cNvSpPr/>
          <p:nvPr/>
        </p:nvSpPr>
        <p:spPr>
          <a:xfrm>
            <a:off x="1042416" y="3136392"/>
            <a:ext cx="10582351" cy="329184"/>
          </a:xfrm>
          <a:prstGeom prst="rect">
            <a:avLst/>
          </a:prstGeom>
          <a:noFill/>
          <a:ln/>
        </p:spPr>
        <p:txBody>
          <a:bodyPr wrap="square" lIns="0" tIns="0" rIns="0" bIns="0" rtlCol="0" anchor="t"/>
          <a:lstStyle/>
          <a:p>
            <a:pPr indent="0" marL="0">
              <a:lnSpc>
                <a:spcPts val="1250"/>
              </a:lnSpc>
              <a:buNone/>
            </a:pPr>
            <a:r>
              <a:rPr lang="en-US" sz="1000" dirty="0">
                <a:solidFill>
                  <a:srgbClr val="334155"/>
                </a:solidFill>
              </a:rPr>
              <a:t>A. Pnueli, M. Siegel, E. Singerman. “Translation Validation.” TACAS, LNCS 1384, pp. 151–166, 1998.</a:t>
            </a:r>
            <a:endParaRPr lang="en-US" sz="1000" dirty="0"/>
          </a:p>
        </p:txBody>
      </p:sp>
      <p:sp>
        <p:nvSpPr>
          <p:cNvPr id="21" name="Text 19"/>
          <p:cNvSpPr/>
          <p:nvPr/>
        </p:nvSpPr>
        <p:spPr>
          <a:xfrm>
            <a:off x="566928" y="3497580"/>
            <a:ext cx="457200" cy="329184"/>
          </a:xfrm>
          <a:prstGeom prst="rect">
            <a:avLst/>
          </a:prstGeom>
          <a:noFill/>
          <a:ln/>
        </p:spPr>
        <p:txBody>
          <a:bodyPr wrap="square" lIns="0" tIns="0" rIns="0" bIns="0" rtlCol="0" anchor="t"/>
          <a:lstStyle/>
          <a:p>
            <a:pPr indent="0" marL="0">
              <a:buNone/>
            </a:pPr>
            <a:r>
              <a:rPr lang="en-US" sz="1000" b="1" dirty="0">
                <a:solidFill>
                  <a:srgbClr val="B45309"/>
                </a:solidFill>
              </a:rPr>
              <a:t>[8]</a:t>
            </a:r>
            <a:endParaRPr lang="en-US" sz="1000" dirty="0"/>
          </a:p>
        </p:txBody>
      </p:sp>
      <p:sp>
        <p:nvSpPr>
          <p:cNvPr id="22" name="Text 20"/>
          <p:cNvSpPr/>
          <p:nvPr/>
        </p:nvSpPr>
        <p:spPr>
          <a:xfrm>
            <a:off x="1042416" y="3497580"/>
            <a:ext cx="10582351" cy="329184"/>
          </a:xfrm>
          <a:prstGeom prst="rect">
            <a:avLst/>
          </a:prstGeom>
          <a:noFill/>
          <a:ln/>
        </p:spPr>
        <p:txBody>
          <a:bodyPr wrap="square" lIns="0" tIns="0" rIns="0" bIns="0" rtlCol="0" anchor="t"/>
          <a:lstStyle/>
          <a:p>
            <a:pPr indent="0" marL="0">
              <a:lnSpc>
                <a:spcPts val="1250"/>
              </a:lnSpc>
              <a:buNone/>
            </a:pPr>
            <a:r>
              <a:rPr lang="en-US" sz="1000" dirty="0">
                <a:solidFill>
                  <a:srgbClr val="334155"/>
                </a:solidFill>
              </a:rPr>
              <a:t>X. Leroy. “Formal Verification of a Realistic Compiler.” CACM 52(7):107–115, 2009. — CompCert.</a:t>
            </a:r>
            <a:endParaRPr lang="en-US" sz="1000" dirty="0"/>
          </a:p>
        </p:txBody>
      </p:sp>
      <p:sp>
        <p:nvSpPr>
          <p:cNvPr id="23" name="Text 21"/>
          <p:cNvSpPr/>
          <p:nvPr/>
        </p:nvSpPr>
        <p:spPr>
          <a:xfrm>
            <a:off x="566928" y="3858768"/>
            <a:ext cx="457200" cy="329184"/>
          </a:xfrm>
          <a:prstGeom prst="rect">
            <a:avLst/>
          </a:prstGeom>
          <a:noFill/>
          <a:ln/>
        </p:spPr>
        <p:txBody>
          <a:bodyPr wrap="square" lIns="0" tIns="0" rIns="0" bIns="0" rtlCol="0" anchor="t"/>
          <a:lstStyle/>
          <a:p>
            <a:pPr indent="0" marL="0">
              <a:buNone/>
            </a:pPr>
            <a:r>
              <a:rPr lang="en-US" sz="1000" b="1" dirty="0">
                <a:solidFill>
                  <a:srgbClr val="B45309"/>
                </a:solidFill>
              </a:rPr>
              <a:t>[9]</a:t>
            </a:r>
            <a:endParaRPr lang="en-US" sz="1000" dirty="0"/>
          </a:p>
        </p:txBody>
      </p:sp>
      <p:sp>
        <p:nvSpPr>
          <p:cNvPr id="24" name="Text 22"/>
          <p:cNvSpPr/>
          <p:nvPr/>
        </p:nvSpPr>
        <p:spPr>
          <a:xfrm>
            <a:off x="1042416" y="3858768"/>
            <a:ext cx="10582351" cy="329184"/>
          </a:xfrm>
          <a:prstGeom prst="rect">
            <a:avLst/>
          </a:prstGeom>
          <a:noFill/>
          <a:ln/>
        </p:spPr>
        <p:txBody>
          <a:bodyPr wrap="square" lIns="0" tIns="0" rIns="0" bIns="0" rtlCol="0" anchor="t"/>
          <a:lstStyle/>
          <a:p>
            <a:pPr indent="0" marL="0">
              <a:lnSpc>
                <a:spcPts val="1250"/>
              </a:lnSpc>
              <a:buNone/>
            </a:pPr>
            <a:r>
              <a:rPr lang="en-US" sz="1000" dirty="0">
                <a:solidFill>
                  <a:srgbClr val="334155"/>
                </a:solidFill>
              </a:rPr>
              <a:t>J. Chen et al. “A Survey of Compiler Testing.” ACM Computing Surveys 53(1), Art. 4, 2020.</a:t>
            </a:r>
            <a:endParaRPr lang="en-US" sz="1000" dirty="0"/>
          </a:p>
        </p:txBody>
      </p:sp>
      <p:sp>
        <p:nvSpPr>
          <p:cNvPr id="25" name="Text 23"/>
          <p:cNvSpPr/>
          <p:nvPr/>
        </p:nvSpPr>
        <p:spPr>
          <a:xfrm>
            <a:off x="566928" y="4219956"/>
            <a:ext cx="457200" cy="329184"/>
          </a:xfrm>
          <a:prstGeom prst="rect">
            <a:avLst/>
          </a:prstGeom>
          <a:noFill/>
          <a:ln/>
        </p:spPr>
        <p:txBody>
          <a:bodyPr wrap="square" lIns="0" tIns="0" rIns="0" bIns="0" rtlCol="0" anchor="t"/>
          <a:lstStyle/>
          <a:p>
            <a:pPr indent="0" marL="0">
              <a:buNone/>
            </a:pPr>
            <a:r>
              <a:rPr lang="en-US" sz="1000" b="1" dirty="0">
                <a:solidFill>
                  <a:srgbClr val="B45309"/>
                </a:solidFill>
              </a:rPr>
              <a:t>[10]</a:t>
            </a:r>
            <a:endParaRPr lang="en-US" sz="1000" dirty="0"/>
          </a:p>
        </p:txBody>
      </p:sp>
      <p:sp>
        <p:nvSpPr>
          <p:cNvPr id="26" name="Text 24"/>
          <p:cNvSpPr/>
          <p:nvPr/>
        </p:nvSpPr>
        <p:spPr>
          <a:xfrm>
            <a:off x="1042416" y="4219956"/>
            <a:ext cx="10582351" cy="329184"/>
          </a:xfrm>
          <a:prstGeom prst="rect">
            <a:avLst/>
          </a:prstGeom>
          <a:noFill/>
          <a:ln/>
        </p:spPr>
        <p:txBody>
          <a:bodyPr wrap="square" lIns="0" tIns="0" rIns="0" bIns="0" rtlCol="0" anchor="t"/>
          <a:lstStyle/>
          <a:p>
            <a:pPr indent="0" marL="0">
              <a:lnSpc>
                <a:spcPts val="1250"/>
              </a:lnSpc>
              <a:buNone/>
            </a:pPr>
            <a:r>
              <a:rPr lang="en-US" sz="1000" dirty="0">
                <a:solidFill>
                  <a:srgbClr val="334155"/>
                </a:solidFill>
              </a:rPr>
              <a:t>S. Behnel et al. “Cython: The Best of Both Worlds.” Computing in Science &amp; Engineering 13(2):31–39, 2011.</a:t>
            </a:r>
            <a:endParaRPr lang="en-US" sz="1000" dirty="0"/>
          </a:p>
        </p:txBody>
      </p:sp>
      <p:sp>
        <p:nvSpPr>
          <p:cNvPr id="27" name="Text 25"/>
          <p:cNvSpPr/>
          <p:nvPr/>
        </p:nvSpPr>
        <p:spPr>
          <a:xfrm>
            <a:off x="566928" y="4581144"/>
            <a:ext cx="457200" cy="329184"/>
          </a:xfrm>
          <a:prstGeom prst="rect">
            <a:avLst/>
          </a:prstGeom>
          <a:noFill/>
          <a:ln/>
        </p:spPr>
        <p:txBody>
          <a:bodyPr wrap="square" lIns="0" tIns="0" rIns="0" bIns="0" rtlCol="0" anchor="t"/>
          <a:lstStyle/>
          <a:p>
            <a:pPr indent="0" marL="0">
              <a:buNone/>
            </a:pPr>
            <a:r>
              <a:rPr lang="en-US" sz="1000" b="1" dirty="0">
                <a:solidFill>
                  <a:srgbClr val="B45309"/>
                </a:solidFill>
              </a:rPr>
              <a:t>[11]</a:t>
            </a:r>
            <a:endParaRPr lang="en-US" sz="1000" dirty="0"/>
          </a:p>
        </p:txBody>
      </p:sp>
      <p:sp>
        <p:nvSpPr>
          <p:cNvPr id="28" name="Text 26"/>
          <p:cNvSpPr/>
          <p:nvPr/>
        </p:nvSpPr>
        <p:spPr>
          <a:xfrm>
            <a:off x="1042416" y="4581144"/>
            <a:ext cx="10582351" cy="329184"/>
          </a:xfrm>
          <a:prstGeom prst="rect">
            <a:avLst/>
          </a:prstGeom>
          <a:noFill/>
          <a:ln/>
        </p:spPr>
        <p:txBody>
          <a:bodyPr wrap="square" lIns="0" tIns="0" rIns="0" bIns="0" rtlCol="0" anchor="t"/>
          <a:lstStyle/>
          <a:p>
            <a:pPr indent="0" marL="0">
              <a:lnSpc>
                <a:spcPts val="1250"/>
              </a:lnSpc>
              <a:buNone/>
            </a:pPr>
            <a:r>
              <a:rPr lang="en-US" sz="1000" dirty="0">
                <a:solidFill>
                  <a:srgbClr val="334155"/>
                </a:solidFill>
              </a:rPr>
              <a:t>A. Shajii et al. “Codon: A Compiler for High-Performance Pythonic Applications and DSLs.” CC, 2023.</a:t>
            </a:r>
            <a:endParaRPr lang="en-US" sz="1000" dirty="0"/>
          </a:p>
        </p:txBody>
      </p:sp>
      <p:sp>
        <p:nvSpPr>
          <p:cNvPr id="29" name="Text 27"/>
          <p:cNvSpPr/>
          <p:nvPr/>
        </p:nvSpPr>
        <p:spPr>
          <a:xfrm>
            <a:off x="566928" y="4942332"/>
            <a:ext cx="457200" cy="329184"/>
          </a:xfrm>
          <a:prstGeom prst="rect">
            <a:avLst/>
          </a:prstGeom>
          <a:noFill/>
          <a:ln/>
        </p:spPr>
        <p:txBody>
          <a:bodyPr wrap="square" lIns="0" tIns="0" rIns="0" bIns="0" rtlCol="0" anchor="t"/>
          <a:lstStyle/>
          <a:p>
            <a:pPr indent="0" marL="0">
              <a:buNone/>
            </a:pPr>
            <a:r>
              <a:rPr lang="en-US" sz="1000" b="1" dirty="0">
                <a:solidFill>
                  <a:srgbClr val="B45309"/>
                </a:solidFill>
              </a:rPr>
              <a:t>[12]</a:t>
            </a:r>
            <a:endParaRPr lang="en-US" sz="1000" dirty="0"/>
          </a:p>
        </p:txBody>
      </p:sp>
      <p:sp>
        <p:nvSpPr>
          <p:cNvPr id="30" name="Text 28"/>
          <p:cNvSpPr/>
          <p:nvPr/>
        </p:nvSpPr>
        <p:spPr>
          <a:xfrm>
            <a:off x="1042416" y="4942332"/>
            <a:ext cx="10582351" cy="329184"/>
          </a:xfrm>
          <a:prstGeom prst="rect">
            <a:avLst/>
          </a:prstGeom>
          <a:noFill/>
          <a:ln/>
        </p:spPr>
        <p:txBody>
          <a:bodyPr wrap="square" lIns="0" tIns="0" rIns="0" bIns="0" rtlCol="0" anchor="t"/>
          <a:lstStyle/>
          <a:p>
            <a:pPr indent="0" marL="0">
              <a:lnSpc>
                <a:spcPts val="1250"/>
              </a:lnSpc>
              <a:buNone/>
            </a:pPr>
            <a:r>
              <a:rPr lang="en-US" sz="1000" dirty="0">
                <a:solidFill>
                  <a:srgbClr val="334155"/>
                </a:solidFill>
              </a:rPr>
              <a:t>Python Software Foundation. The Python Language Reference 3.12 — §2.1.8 (indentation) and §6.7 (binary arithmetic) define the behaviour PYTHIA is checked against.</a:t>
            </a:r>
            <a:endParaRPr lang="en-US" sz="1000" dirty="0"/>
          </a:p>
        </p:txBody>
      </p:sp>
      <p:sp>
        <p:nvSpPr>
          <p:cNvPr id="31" name="Text 29"/>
          <p:cNvSpPr/>
          <p:nvPr/>
        </p:nvSpPr>
        <p:spPr>
          <a:xfrm>
            <a:off x="566928" y="5303520"/>
            <a:ext cx="457200" cy="329184"/>
          </a:xfrm>
          <a:prstGeom prst="rect">
            <a:avLst/>
          </a:prstGeom>
          <a:noFill/>
          <a:ln/>
        </p:spPr>
        <p:txBody>
          <a:bodyPr wrap="square" lIns="0" tIns="0" rIns="0" bIns="0" rtlCol="0" anchor="t"/>
          <a:lstStyle/>
          <a:p>
            <a:pPr indent="0" marL="0">
              <a:buNone/>
            </a:pPr>
            <a:r>
              <a:rPr lang="en-US" sz="1000" b="1" dirty="0">
                <a:solidFill>
                  <a:srgbClr val="B45309"/>
                </a:solidFill>
              </a:rPr>
              <a:t>[13]</a:t>
            </a:r>
            <a:endParaRPr lang="en-US" sz="1000" dirty="0"/>
          </a:p>
        </p:txBody>
      </p:sp>
      <p:sp>
        <p:nvSpPr>
          <p:cNvPr id="32" name="Text 30"/>
          <p:cNvSpPr/>
          <p:nvPr/>
        </p:nvSpPr>
        <p:spPr>
          <a:xfrm>
            <a:off x="1042416" y="5303520"/>
            <a:ext cx="10582351" cy="329184"/>
          </a:xfrm>
          <a:prstGeom prst="rect">
            <a:avLst/>
          </a:prstGeom>
          <a:noFill/>
          <a:ln/>
        </p:spPr>
        <p:txBody>
          <a:bodyPr wrap="square" lIns="0" tIns="0" rIns="0" bIns="0" rtlCol="0" anchor="t"/>
          <a:lstStyle/>
          <a:p>
            <a:pPr indent="0" marL="0">
              <a:lnSpc>
                <a:spcPts val="1250"/>
              </a:lnSpc>
              <a:buNone/>
            </a:pPr>
            <a:r>
              <a:rPr lang="en-US" sz="1000" dirty="0">
                <a:solidFill>
                  <a:srgbClr val="334155"/>
                </a:solidFill>
              </a:rPr>
              <a:t>ISO/IEC 9899:2011, Programming languages — C. §6.5.5 on division and remainder, where D2 and D3 originate.</a:t>
            </a:r>
            <a:endParaRPr lang="en-US" sz="1000" dirty="0"/>
          </a:p>
        </p:txBody>
      </p:sp>
      <p:sp>
        <p:nvSpPr>
          <p:cNvPr id="33" name="Text 31"/>
          <p:cNvSpPr/>
          <p:nvPr/>
        </p:nvSpPr>
        <p:spPr>
          <a:xfrm>
            <a:off x="566928" y="5664708"/>
            <a:ext cx="457200" cy="329184"/>
          </a:xfrm>
          <a:prstGeom prst="rect">
            <a:avLst/>
          </a:prstGeom>
          <a:noFill/>
          <a:ln/>
        </p:spPr>
        <p:txBody>
          <a:bodyPr wrap="square" lIns="0" tIns="0" rIns="0" bIns="0" rtlCol="0" anchor="t"/>
          <a:lstStyle/>
          <a:p>
            <a:pPr indent="0" marL="0">
              <a:buNone/>
            </a:pPr>
            <a:r>
              <a:rPr lang="en-US" sz="1000" b="1" dirty="0">
                <a:solidFill>
                  <a:srgbClr val="B45309"/>
                </a:solidFill>
              </a:rPr>
              <a:t>[14]</a:t>
            </a:r>
            <a:endParaRPr lang="en-US" sz="1000" dirty="0"/>
          </a:p>
        </p:txBody>
      </p:sp>
      <p:sp>
        <p:nvSpPr>
          <p:cNvPr id="34" name="Text 32"/>
          <p:cNvSpPr/>
          <p:nvPr/>
        </p:nvSpPr>
        <p:spPr>
          <a:xfrm>
            <a:off x="1042416" y="5664708"/>
            <a:ext cx="10582351" cy="329184"/>
          </a:xfrm>
          <a:prstGeom prst="rect">
            <a:avLst/>
          </a:prstGeom>
          <a:noFill/>
          <a:ln/>
        </p:spPr>
        <p:txBody>
          <a:bodyPr wrap="square" lIns="0" tIns="0" rIns="0" bIns="0" rtlCol="0" anchor="t"/>
          <a:lstStyle/>
          <a:p>
            <a:pPr indent="0" marL="0">
              <a:lnSpc>
                <a:spcPts val="1250"/>
              </a:lnSpc>
              <a:buNone/>
            </a:pPr>
            <a:r>
              <a:rPr lang="en-US" sz="1000" dirty="0">
                <a:solidFill>
                  <a:srgbClr val="334155"/>
                </a:solidFill>
              </a:rPr>
              <a:t>GNU Project. GCC Manual — Statement Expressions and Typeof. The two extensions used at the three emission sites.</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8040319" cy="566928"/>
          </a:xfrm>
          <a:prstGeom prst="rect">
            <a:avLst/>
          </a:prstGeom>
          <a:noFill/>
          <a:ln/>
        </p:spPr>
        <p:txBody>
          <a:bodyPr wrap="square" lIns="0" tIns="0" rIns="0" bIns="0" rtlCol="0" anchor="ctr"/>
          <a:lstStyle/>
          <a:p>
            <a:pPr indent="0" marL="0">
              <a:buNone/>
            </a:pPr>
            <a:r>
              <a:rPr lang="en-US" sz="2400" b="1" dirty="0">
                <a:solidFill>
                  <a:srgbClr val="0F172A"/>
                </a:solidFill>
              </a:rPr>
              <a:t>Backup — PySub grammar and diagnostics</a:t>
            </a:r>
            <a:endParaRPr lang="en-US" sz="2400" dirty="0"/>
          </a:p>
        </p:txBody>
      </p:sp>
      <p:sp>
        <p:nvSpPr>
          <p:cNvPr id="3" name="Shape 1"/>
          <p:cNvSpPr/>
          <p:nvPr/>
        </p:nvSpPr>
        <p:spPr>
          <a:xfrm>
            <a:off x="8835847" y="310896"/>
            <a:ext cx="2788920" cy="310896"/>
          </a:xfrm>
          <a:prstGeom prst="roundRect">
            <a:avLst>
              <a:gd name="adj" fmla="val 50000"/>
            </a:avLst>
          </a:prstGeom>
          <a:solidFill>
            <a:srgbClr val="F1F5F9"/>
          </a:solidFill>
          <a:ln w="9525">
            <a:solidFill>
              <a:srgbClr val="E2E8F0"/>
            </a:solidFill>
            <a:prstDash val="solid"/>
          </a:ln>
        </p:spPr>
      </p:sp>
      <p:sp>
        <p:nvSpPr>
          <p:cNvPr id="4" name="Text 2"/>
          <p:cNvSpPr/>
          <p:nvPr/>
        </p:nvSpPr>
        <p:spPr>
          <a:xfrm>
            <a:off x="8835847" y="310896"/>
            <a:ext cx="2788920" cy="310896"/>
          </a:xfrm>
          <a:prstGeom prst="rect">
            <a:avLst/>
          </a:prstGeom>
          <a:noFill/>
          <a:ln/>
        </p:spPr>
        <p:txBody>
          <a:bodyPr wrap="square" lIns="0" tIns="0" rIns="0" bIns="0" rtlCol="0" anchor="ctr"/>
          <a:lstStyle/>
          <a:p>
            <a:pPr algn="ctr" indent="0" marL="0">
              <a:buNone/>
            </a:pPr>
            <a:r>
              <a:rPr lang="en-US" sz="900" b="1" spc="80" kern="0" dirty="0">
                <a:solidFill>
                  <a:srgbClr val="334155"/>
                </a:solidFill>
              </a:rPr>
              <a:t>BACKUP</a:t>
            </a:r>
            <a:endParaRPr lang="en-US" sz="900" dirty="0"/>
          </a:p>
        </p:txBody>
      </p:sp>
      <p:sp>
        <p:nvSpPr>
          <p:cNvPr id="5" name="Text 3"/>
          <p:cNvSpPr/>
          <p:nvPr/>
        </p:nvSpPr>
        <p:spPr>
          <a:xfrm>
            <a:off x="11076127" y="6382512"/>
            <a:ext cx="548640" cy="274320"/>
          </a:xfrm>
          <a:prstGeom prst="rect">
            <a:avLst/>
          </a:prstGeom>
          <a:noFill/>
          <a:ln/>
        </p:spPr>
        <p:txBody>
          <a:bodyPr wrap="square" lIns="0" tIns="0" rIns="0" bIns="0" rtlCol="0" anchor="ctr"/>
          <a:lstStyle/>
          <a:p>
            <a:pPr algn="r" indent="0" marL="0">
              <a:buNone/>
            </a:pPr>
            <a:r>
              <a:rPr lang="en-US" sz="1000" dirty="0">
                <a:solidFill>
                  <a:srgbClr val="64748B"/>
                </a:solidFill>
              </a:rPr>
              <a:t>15</a:t>
            </a:r>
            <a:endParaRPr lang="en-US" sz="1000" dirty="0"/>
          </a:p>
        </p:txBody>
      </p:sp>
      <p:sp>
        <p:nvSpPr>
          <p:cNvPr id="6" name="Text 4"/>
          <p:cNvSpPr/>
          <p:nvPr/>
        </p:nvSpPr>
        <p:spPr>
          <a:xfrm>
            <a:off x="566928" y="6382512"/>
            <a:ext cx="5486400" cy="274320"/>
          </a:xfrm>
          <a:prstGeom prst="rect">
            <a:avLst/>
          </a:prstGeom>
          <a:noFill/>
          <a:ln/>
        </p:spPr>
        <p:txBody>
          <a:bodyPr wrap="square" lIns="0" tIns="0" rIns="0" bIns="0" rtlCol="0" anchor="ctr"/>
          <a:lstStyle/>
          <a:p>
            <a:pPr indent="0" marL="0">
              <a:buNone/>
            </a:pPr>
            <a:r>
              <a:rPr lang="en-US" sz="900" dirty="0">
                <a:solidFill>
                  <a:srgbClr val="94A3B8"/>
                </a:solidFill>
              </a:rPr>
              <a:t>PYTHIA  ·  BCSE307L Team 2  ·  Project A15</a:t>
            </a:r>
            <a:endParaRPr lang="en-US" sz="900" dirty="0"/>
          </a:p>
        </p:txBody>
      </p:sp>
      <p:sp>
        <p:nvSpPr>
          <p:cNvPr id="7" name="Shape 5"/>
          <p:cNvSpPr/>
          <p:nvPr/>
        </p:nvSpPr>
        <p:spPr>
          <a:xfrm>
            <a:off x="566928" y="950976"/>
            <a:ext cx="5486400" cy="4846320"/>
          </a:xfrm>
          <a:prstGeom prst="roundRect">
            <a:avLst>
              <a:gd name="adj" fmla="val 1132"/>
            </a:avLst>
          </a:prstGeom>
          <a:solidFill>
            <a:srgbClr val="0F172A"/>
          </a:solidFill>
          <a:ln w="12700">
            <a:solidFill>
              <a:srgbClr val="333333"/>
            </a:solidFill>
            <a:prstDash val="solid"/>
          </a:ln>
        </p:spPr>
      </p:sp>
      <p:sp>
        <p:nvSpPr>
          <p:cNvPr id="8" name="Text 6"/>
          <p:cNvSpPr/>
          <p:nvPr/>
        </p:nvSpPr>
        <p:spPr>
          <a:xfrm>
            <a:off x="768096" y="1078992"/>
            <a:ext cx="5120640" cy="4572000"/>
          </a:xfrm>
          <a:prstGeom prst="rect">
            <a:avLst/>
          </a:prstGeom>
          <a:noFill/>
          <a:ln/>
        </p:spPr>
        <p:txBody>
          <a:bodyPr wrap="square" lIns="0" tIns="0" rIns="0" bIns="0" rtlCol="0" anchor="t"/>
          <a:lstStyle/>
          <a:p>
            <a:pPr indent="0" marL="0">
              <a:lnSpc>
                <a:spcPts val="1150"/>
              </a:lnSpc>
              <a:buNone/>
            </a:pPr>
            <a:r>
              <a:rPr lang="en-US" sz="850" dirty="0">
                <a:solidFill>
                  <a:srgbClr val="64748B"/>
                </a:solidFill>
              </a:rPr>
              <a:t>(* PySub v0.1 — 41 productions, docs/grammar.ebnf *)
</a:t>
            </a:r>
            <a:pPr indent="0" marL="0">
              <a:lnSpc>
                <a:spcPts val="1150"/>
              </a:lnSpc>
              <a:buNone/>
            </a:pPr>
            <a:r>
              <a:rPr lang="en-US" sz="850" dirty="0">
                <a:solidFill>
                  <a:srgbClr val="E2E8F0"/>
                </a:solidFill>
              </a:rPr>
              <a:t>module      = { NEWLINE | funcdef | statement } EOF ;
funcdef     = "def" NAME "(" [params] ")" ["-&gt;" type] ":" block ;
param       = NAME ":" type ;
type        = "int" | "float" | "bool" | "str" | "None"
            | "list" "[" type "]" ;
block       = NEWLINE INDENT statement { statement } DEDENT ;
if_stmt     = "if" expr ":" block { "elif" expr ":" block }
              [ "else" ":" block ] ;
for_stmt    = "for" NAME "in" ( range_call | expr ) ":" block ;
annassign   = NAME ":" type "=" expr NEWLINE ;
</a:t>
            </a:r>
            <a:pPr indent="0" marL="0">
              <a:lnSpc>
                <a:spcPts val="1150"/>
              </a:lnSpc>
              <a:buNone/>
            </a:pPr>
            <a:r>
              <a:rPr lang="en-US" sz="850" dirty="0">
                <a:solidFill>
                  <a:srgbClr val="7DD3FC"/>
                </a:solidFill>
              </a:rPr>
              <a:t>(* Expressions: precedence climbing.  Binding powers,
   loosest to tightest:
   or(1) &lt; and(2) &lt; cmp(4) &lt; +,-(6) &lt; *,/,//,%(8) &lt; **(12, R) *)
</a:t>
            </a:r>
            <a:pPr indent="0" marL="0">
              <a:lnSpc>
                <a:spcPts val="1150"/>
              </a:lnSpc>
              <a:buNone/>
            </a:pPr>
            <a:r>
              <a:rPr lang="en-US" sz="850" dirty="0">
                <a:solidFill>
                  <a:srgbClr val="E2E8F0"/>
                </a:solidFill>
              </a:rPr>
              <a:t>power       = unary [ "**" power ] ;
unary       = ( "-" | "+" | "not" ) unary | postfix ;
postfix     = atom { "[" expr "]" | "." NAME "(" [arglist] ")" } ;
</a:t>
            </a:r>
            <a:pPr indent="0" marL="0">
              <a:lnSpc>
                <a:spcPts val="1150"/>
              </a:lnSpc>
              <a:buNone/>
            </a:pPr>
            <a:r>
              <a:rPr lang="en-US" sz="850" dirty="0">
                <a:solidFill>
                  <a:srgbClr val="64748B"/>
                </a:solidFill>
              </a:rPr>
              <a:t>(* INDENT / DEDENT are synthesised by the scanner from</a:t>
            </a:r>
            <a:endParaRPr lang="en-US" sz="850" dirty="0"/>
          </a:p>
          <a:p>
            <a:pPr indent="0" marL="0">
              <a:lnSpc>
                <a:spcPts val="1150"/>
              </a:lnSpc>
              <a:buNone/>
            </a:pPr>
            <a:r>
              <a:rPr lang="en-US" sz="850" dirty="0">
                <a:solidFill>
                  <a:srgbClr val="64748B"/>
                </a:solidFill>
              </a:rPr>
              <a:t>   leading whitespace.  Blank and comment-only lines carry</a:t>
            </a:r>
            <a:endParaRPr lang="en-US" sz="850" dirty="0"/>
          </a:p>
          <a:p>
            <a:pPr indent="0" marL="0">
              <a:lnSpc>
                <a:spcPts val="1150"/>
              </a:lnSpc>
              <a:buNone/>
            </a:pPr>
            <a:r>
              <a:rPr lang="en-US" sz="850" dirty="0">
                <a:solidFill>
                  <a:srgbClr val="64748B"/>
                </a:solidFill>
              </a:rPr>
              <a:t>   no layout meaning; ( ) and [ ] suppress it entirely. *)</a:t>
            </a:r>
            <a:endParaRPr lang="en-US" sz="850" dirty="0"/>
          </a:p>
        </p:txBody>
      </p:sp>
      <p:sp>
        <p:nvSpPr>
          <p:cNvPr id="9" name="Text 7"/>
          <p:cNvSpPr/>
          <p:nvPr/>
        </p:nvSpPr>
        <p:spPr>
          <a:xfrm>
            <a:off x="6327648" y="950976"/>
            <a:ext cx="5303520" cy="274320"/>
          </a:xfrm>
          <a:prstGeom prst="rect">
            <a:avLst/>
          </a:prstGeom>
          <a:noFill/>
          <a:ln/>
        </p:spPr>
        <p:txBody>
          <a:bodyPr wrap="square" lIns="0" tIns="0" rIns="0" bIns="0" rtlCol="0" anchor="ctr"/>
          <a:lstStyle/>
          <a:p>
            <a:pPr indent="0" marL="0">
              <a:buNone/>
            </a:pPr>
            <a:r>
              <a:rPr lang="en-US" sz="1300" b="1" dirty="0">
                <a:solidFill>
                  <a:srgbClr val="0F172A"/>
                </a:solidFill>
              </a:rPr>
              <a:t>Diagnostics carry a position and a caret</a:t>
            </a:r>
            <a:endParaRPr lang="en-US" sz="1300" dirty="0"/>
          </a:p>
        </p:txBody>
      </p:sp>
      <p:sp>
        <p:nvSpPr>
          <p:cNvPr id="10" name="Shape 8"/>
          <p:cNvSpPr/>
          <p:nvPr/>
        </p:nvSpPr>
        <p:spPr>
          <a:xfrm>
            <a:off x="6327648" y="1280160"/>
            <a:ext cx="5294376" cy="1371600"/>
          </a:xfrm>
          <a:prstGeom prst="roundRect">
            <a:avLst>
              <a:gd name="adj" fmla="val 4000"/>
            </a:avLst>
          </a:prstGeom>
          <a:solidFill>
            <a:srgbClr val="0F172A"/>
          </a:solidFill>
          <a:ln w="12700">
            <a:solidFill>
              <a:srgbClr val="333333"/>
            </a:solidFill>
            <a:prstDash val="solid"/>
          </a:ln>
        </p:spPr>
      </p:sp>
      <p:sp>
        <p:nvSpPr>
          <p:cNvPr id="11" name="Text 9"/>
          <p:cNvSpPr/>
          <p:nvPr/>
        </p:nvSpPr>
        <p:spPr>
          <a:xfrm>
            <a:off x="6510528" y="1389888"/>
            <a:ext cx="4937760" cy="1152144"/>
          </a:xfrm>
          <a:prstGeom prst="rect">
            <a:avLst/>
          </a:prstGeom>
          <a:noFill/>
          <a:ln/>
        </p:spPr>
        <p:txBody>
          <a:bodyPr wrap="square" lIns="0" tIns="0" rIns="0" bIns="0" rtlCol="0" anchor="t"/>
          <a:lstStyle/>
          <a:p>
            <a:pPr indent="0" marL="0">
              <a:lnSpc>
                <a:spcPts val="1200"/>
              </a:lnSpc>
              <a:buNone/>
            </a:pPr>
            <a:r>
              <a:rPr lang="en-US" sz="900" dirty="0">
                <a:solidFill>
                  <a:srgbClr val="7DD3FC"/>
                </a:solidFill>
              </a:rPr>
              <a:t>$ python3 -m pythia.cli tests/negative/n02_badarg.py
</a:t>
            </a:r>
            <a:pPr indent="0" marL="0">
              <a:lnSpc>
                <a:spcPts val="1200"/>
              </a:lnSpc>
              <a:buNone/>
            </a:pPr>
            <a:r>
              <a:rPr lang="en-US" sz="900" dirty="0">
                <a:solidFill>
                  <a:srgbClr val="E2E8F0"/>
                </a:solidFill>
              </a:rPr>
              <a:t>n02_badarg.py:4:14: </a:t>
            </a:r>
            <a:pPr indent="0" marL="0">
              <a:lnSpc>
                <a:spcPts val="1200"/>
              </a:lnSpc>
              <a:buNone/>
            </a:pPr>
            <a:r>
              <a:rPr lang="en-US" sz="900" dirty="0">
                <a:solidFill>
                  <a:srgbClr val="FCA5A5"/>
                </a:solidFill>
              </a:rPr>
              <a:t>TypeError: argument 1 of double():
    expected int, found str
</a:t>
            </a:r>
            <a:pPr indent="0" marL="0">
              <a:lnSpc>
                <a:spcPts val="1200"/>
              </a:lnSpc>
              <a:buNone/>
            </a:pPr>
            <a:r>
              <a:rPr lang="en-US" sz="900" dirty="0">
                <a:solidFill>
                  <a:srgbClr val="E2E8F0"/>
                </a:solidFill>
              </a:rPr>
              <a:t>    print(double("seven"))
                 ^
</a:t>
            </a:r>
            <a:pPr indent="0" marL="0">
              <a:lnSpc>
                <a:spcPts val="1200"/>
              </a:lnSpc>
              <a:buNone/>
            </a:pPr>
            <a:r>
              <a:rPr lang="en-US" sz="900" dirty="0">
                <a:solidFill>
                  <a:srgbClr val="64748B"/>
                </a:solidFill>
              </a:rPr>
              <a:t>1 error(s); no output written.</a:t>
            </a:r>
            <a:endParaRPr lang="en-US" sz="900" dirty="0"/>
          </a:p>
        </p:txBody>
      </p:sp>
      <p:sp>
        <p:nvSpPr>
          <p:cNvPr id="12" name="Text 10"/>
          <p:cNvSpPr/>
          <p:nvPr/>
        </p:nvSpPr>
        <p:spPr>
          <a:xfrm>
            <a:off x="6327648" y="2798064"/>
            <a:ext cx="5303520" cy="274320"/>
          </a:xfrm>
          <a:prstGeom prst="rect">
            <a:avLst/>
          </a:prstGeom>
          <a:noFill/>
          <a:ln/>
        </p:spPr>
        <p:txBody>
          <a:bodyPr wrap="square" lIns="0" tIns="0" rIns="0" bIns="0" rtlCol="0" anchor="ctr"/>
          <a:lstStyle/>
          <a:p>
            <a:pPr indent="0" marL="0">
              <a:buNone/>
            </a:pPr>
            <a:r>
              <a:rPr lang="en-US" sz="1300" b="1" dirty="0">
                <a:solidFill>
                  <a:srgbClr val="0F172A"/>
                </a:solidFill>
              </a:rPr>
              <a:t>The negative suite tests messages, not just rejection</a:t>
            </a:r>
            <a:endParaRPr lang="en-US" sz="1300" dirty="0"/>
          </a:p>
        </p:txBody>
      </p:sp>
      <p:sp>
        <p:nvSpPr>
          <p:cNvPr id="13" name="Text 11"/>
          <p:cNvSpPr/>
          <p:nvPr/>
        </p:nvSpPr>
        <p:spPr>
          <a:xfrm>
            <a:off x="6327648" y="3108960"/>
            <a:ext cx="5294376" cy="548640"/>
          </a:xfrm>
          <a:prstGeom prst="rect">
            <a:avLst/>
          </a:prstGeom>
          <a:noFill/>
          <a:ln/>
        </p:spPr>
        <p:txBody>
          <a:bodyPr wrap="square" lIns="0" tIns="0" rIns="0" bIns="0" rtlCol="0" anchor="ctr"/>
          <a:lstStyle/>
          <a:p>
            <a:pPr indent="0" marL="0">
              <a:lnSpc>
                <a:spcPts val="1350"/>
              </a:lnSpc>
              <a:buNone/>
            </a:pPr>
            <a:r>
              <a:rPr lang="en-US" sz="1050" dirty="0">
                <a:solidFill>
                  <a:srgbClr val="334155"/>
                </a:solidFill>
              </a:rPr>
              <a:t>Each of the 12 negative programs carries an # expect: marker naming the diagnostic it must provoke. A checker that rejects everything would pass a rejection-only test; it fails this one.</a:t>
            </a:r>
            <a:endParaRPr lang="en-US" sz="1050" dirty="0"/>
          </a:p>
        </p:txBody>
      </p:sp>
      <p:sp>
        <p:nvSpPr>
          <p:cNvPr id="14" name="Text 12"/>
          <p:cNvSpPr/>
          <p:nvPr/>
        </p:nvSpPr>
        <p:spPr>
          <a:xfrm>
            <a:off x="6327648" y="3694176"/>
            <a:ext cx="5294376" cy="1280160"/>
          </a:xfrm>
          <a:prstGeom prst="rect">
            <a:avLst/>
          </a:prstGeom>
          <a:noFill/>
          <a:ln/>
        </p:spPr>
        <p:txBody>
          <a:bodyPr wrap="square" lIns="0" tIns="0" rIns="0" bIns="0" rtlCol="0" anchor="ctr"/>
          <a:lstStyle/>
          <a:p>
            <a:pPr marL="342900" indent="-342900">
              <a:lnSpc>
                <a:spcPts val="1600"/>
              </a:lnSpc>
              <a:spcAft>
                <a:spcPts val="400"/>
              </a:spcAft>
              <a:buSzPct val="100000"/>
              <a:buChar char="•"/>
            </a:pPr>
            <a:r>
              <a:rPr lang="en-US" sz="1050" dirty="0">
                <a:solidFill>
                  <a:srgbClr val="334155"/>
                </a:solidFill>
              </a:rPr>
              <a:t>type rebinding · wrong argument type · undefined name</a:t>
            </a:r>
            <a:endParaRPr lang="en-US" sz="1050" dirty="0"/>
          </a:p>
          <a:p>
            <a:pPr marL="342900" indent="-342900">
              <a:lnSpc>
                <a:spcPts val="1600"/>
              </a:lnSpc>
              <a:spcAft>
                <a:spcPts val="400"/>
              </a:spcAft>
              <a:buSzPct val="100000"/>
              <a:buChar char="•"/>
            </a:pPr>
            <a:r>
              <a:rPr lang="en-US" sz="1050" dirty="0">
                <a:solidFill>
                  <a:srgbClr val="334155"/>
                </a:solidFill>
              </a:rPr>
              <a:t>wrong return type · heterogeneous list literal</a:t>
            </a:r>
            <a:endParaRPr lang="en-US" sz="1050" dirty="0"/>
          </a:p>
          <a:p>
            <a:pPr marL="342900" indent="-342900">
              <a:lnSpc>
                <a:spcPts val="1600"/>
              </a:lnSpc>
              <a:spcAft>
                <a:spcPts val="400"/>
              </a:spcAft>
              <a:buSzPct val="100000"/>
              <a:buChar char="•"/>
            </a:pPr>
            <a:r>
              <a:rPr lang="en-US" sz="1050" dirty="0">
                <a:solidFill>
                  <a:srgbClr val="334155"/>
                </a:solidFill>
              </a:rPr>
              <a:t>missing return on a path · unannotated empty list</a:t>
            </a:r>
            <a:endParaRPr lang="en-US" sz="1050" dirty="0"/>
          </a:p>
          <a:p>
            <a:pPr marL="342900" indent="-342900">
              <a:lnSpc>
                <a:spcPts val="1600"/>
              </a:lnSpc>
              <a:spcAft>
                <a:spcPts val="400"/>
              </a:spcAft>
              <a:buSzPct val="100000"/>
              <a:buChar char="•"/>
            </a:pPr>
            <a:r>
              <a:rPr lang="en-US" sz="1050" dirty="0">
                <a:solidFill>
                  <a:srgbClr val="334155"/>
                </a:solidFill>
              </a:rPr>
              <a:t>wrong arity · non-int index · str item assignment</a:t>
            </a:r>
            <a:endParaRPr lang="en-US" sz="1050" dirty="0"/>
          </a:p>
          <a:p>
            <a:pPr marL="342900" indent="-342900">
              <a:lnSpc>
                <a:spcPts val="1600"/>
              </a:lnSpc>
              <a:spcAft>
                <a:spcPts val="400"/>
              </a:spcAft>
              <a:buSzPct val="100000"/>
              <a:buChar char="•"/>
            </a:pPr>
            <a:r>
              <a:rPr lang="en-US" sz="1050" dirty="0">
                <a:solidFill>
                  <a:srgbClr val="334155"/>
                </a:solidFill>
              </a:rPr>
              <a:t>incomparable types · break outside a loop</a:t>
            </a:r>
            <a:endParaRPr lang="en-US" sz="1050" dirty="0"/>
          </a:p>
        </p:txBody>
      </p:sp>
      <p:sp>
        <p:nvSpPr>
          <p:cNvPr id="15" name="Shape 13"/>
          <p:cNvSpPr/>
          <p:nvPr/>
        </p:nvSpPr>
        <p:spPr>
          <a:xfrm>
            <a:off x="6327648" y="5029200"/>
            <a:ext cx="5294376" cy="768096"/>
          </a:xfrm>
          <a:prstGeom prst="roundRect">
            <a:avLst>
              <a:gd name="adj" fmla="val 9524"/>
            </a:avLst>
          </a:prstGeom>
          <a:solidFill>
            <a:srgbClr val="F1F5F9"/>
          </a:solidFill>
          <a:ln w="9525">
            <a:solidFill>
              <a:srgbClr val="E2E8F0"/>
            </a:solidFill>
            <a:prstDash val="solid"/>
          </a:ln>
        </p:spPr>
      </p:sp>
      <p:sp>
        <p:nvSpPr>
          <p:cNvPr id="16" name="Text 14"/>
          <p:cNvSpPr/>
          <p:nvPr/>
        </p:nvSpPr>
        <p:spPr>
          <a:xfrm>
            <a:off x="6528816" y="5166360"/>
            <a:ext cx="4892040" cy="502920"/>
          </a:xfrm>
          <a:prstGeom prst="rect">
            <a:avLst/>
          </a:prstGeom>
          <a:noFill/>
          <a:ln/>
        </p:spPr>
        <p:txBody>
          <a:bodyPr wrap="square" lIns="0" tIns="0" rIns="0" bIns="0" rtlCol="0" anchor="t"/>
          <a:lstStyle/>
          <a:p>
            <a:pPr indent="0" marL="0">
              <a:lnSpc>
                <a:spcPts val="1300"/>
              </a:lnSpc>
              <a:buNone/>
            </a:pPr>
            <a:r>
              <a:rPr lang="en-US" sz="1050" dirty="0">
                <a:solidFill>
                  <a:srgbClr val="334155"/>
                </a:solidFill>
              </a:rPr>
              <a:t>One rule governs the suite: a divergence discovered by hand becomes a test before it becomes a fix. That is what keeps the equivalence percentage meaningful over twelve weeks.</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8040319" cy="566928"/>
          </a:xfrm>
          <a:prstGeom prst="rect">
            <a:avLst/>
          </a:prstGeom>
          <a:noFill/>
          <a:ln/>
        </p:spPr>
        <p:txBody>
          <a:bodyPr wrap="square" lIns="0" tIns="0" rIns="0" bIns="0" rtlCol="0" anchor="ctr"/>
          <a:lstStyle/>
          <a:p>
            <a:pPr indent="0" marL="0">
              <a:buNone/>
            </a:pPr>
            <a:r>
              <a:rPr lang="en-US" sz="2400" b="1" dirty="0">
                <a:solidFill>
                  <a:srgbClr val="0F172A"/>
                </a:solidFill>
              </a:rPr>
              <a:t>Backup — full oracle output and fidelity report</a:t>
            </a:r>
            <a:endParaRPr lang="en-US" sz="2400" dirty="0"/>
          </a:p>
        </p:txBody>
      </p:sp>
      <p:sp>
        <p:nvSpPr>
          <p:cNvPr id="3" name="Shape 1"/>
          <p:cNvSpPr/>
          <p:nvPr/>
        </p:nvSpPr>
        <p:spPr>
          <a:xfrm>
            <a:off x="8835847" y="310896"/>
            <a:ext cx="2788920" cy="310896"/>
          </a:xfrm>
          <a:prstGeom prst="roundRect">
            <a:avLst>
              <a:gd name="adj" fmla="val 50000"/>
            </a:avLst>
          </a:prstGeom>
          <a:solidFill>
            <a:srgbClr val="F1F5F9"/>
          </a:solidFill>
          <a:ln w="9525">
            <a:solidFill>
              <a:srgbClr val="E2E8F0"/>
            </a:solidFill>
            <a:prstDash val="solid"/>
          </a:ln>
        </p:spPr>
      </p:sp>
      <p:sp>
        <p:nvSpPr>
          <p:cNvPr id="4" name="Text 2"/>
          <p:cNvSpPr/>
          <p:nvPr/>
        </p:nvSpPr>
        <p:spPr>
          <a:xfrm>
            <a:off x="8835847" y="310896"/>
            <a:ext cx="2788920" cy="310896"/>
          </a:xfrm>
          <a:prstGeom prst="rect">
            <a:avLst/>
          </a:prstGeom>
          <a:noFill/>
          <a:ln/>
        </p:spPr>
        <p:txBody>
          <a:bodyPr wrap="square" lIns="0" tIns="0" rIns="0" bIns="0" rtlCol="0" anchor="ctr"/>
          <a:lstStyle/>
          <a:p>
            <a:pPr algn="ctr" indent="0" marL="0">
              <a:buNone/>
            </a:pPr>
            <a:r>
              <a:rPr lang="en-US" sz="900" b="1" spc="80" kern="0" dirty="0">
                <a:solidFill>
                  <a:srgbClr val="334155"/>
                </a:solidFill>
              </a:rPr>
              <a:t>BACKUP</a:t>
            </a:r>
            <a:endParaRPr lang="en-US" sz="900" dirty="0"/>
          </a:p>
        </p:txBody>
      </p:sp>
      <p:sp>
        <p:nvSpPr>
          <p:cNvPr id="5" name="Text 3"/>
          <p:cNvSpPr/>
          <p:nvPr/>
        </p:nvSpPr>
        <p:spPr>
          <a:xfrm>
            <a:off x="11076127" y="6382512"/>
            <a:ext cx="548640" cy="274320"/>
          </a:xfrm>
          <a:prstGeom prst="rect">
            <a:avLst/>
          </a:prstGeom>
          <a:noFill/>
          <a:ln/>
        </p:spPr>
        <p:txBody>
          <a:bodyPr wrap="square" lIns="0" tIns="0" rIns="0" bIns="0" rtlCol="0" anchor="ctr"/>
          <a:lstStyle/>
          <a:p>
            <a:pPr algn="r" indent="0" marL="0">
              <a:buNone/>
            </a:pPr>
            <a:r>
              <a:rPr lang="en-US" sz="1000" dirty="0">
                <a:solidFill>
                  <a:srgbClr val="64748B"/>
                </a:solidFill>
              </a:rPr>
              <a:t>16</a:t>
            </a:r>
            <a:endParaRPr lang="en-US" sz="1000" dirty="0"/>
          </a:p>
        </p:txBody>
      </p:sp>
      <p:sp>
        <p:nvSpPr>
          <p:cNvPr id="6" name="Text 4"/>
          <p:cNvSpPr/>
          <p:nvPr/>
        </p:nvSpPr>
        <p:spPr>
          <a:xfrm>
            <a:off x="566928" y="6382512"/>
            <a:ext cx="5486400" cy="274320"/>
          </a:xfrm>
          <a:prstGeom prst="rect">
            <a:avLst/>
          </a:prstGeom>
          <a:noFill/>
          <a:ln/>
        </p:spPr>
        <p:txBody>
          <a:bodyPr wrap="square" lIns="0" tIns="0" rIns="0" bIns="0" rtlCol="0" anchor="ctr"/>
          <a:lstStyle/>
          <a:p>
            <a:pPr indent="0" marL="0">
              <a:buNone/>
            </a:pPr>
            <a:r>
              <a:rPr lang="en-US" sz="900" dirty="0">
                <a:solidFill>
                  <a:srgbClr val="94A3B8"/>
                </a:solidFill>
              </a:rPr>
              <a:t>PYTHIA  ·  BCSE307L Team 2  ·  Project A15</a:t>
            </a:r>
            <a:endParaRPr lang="en-US" sz="900" dirty="0"/>
          </a:p>
        </p:txBody>
      </p:sp>
      <p:sp>
        <p:nvSpPr>
          <p:cNvPr id="7" name="Shape 5"/>
          <p:cNvSpPr/>
          <p:nvPr/>
        </p:nvSpPr>
        <p:spPr>
          <a:xfrm>
            <a:off x="566928" y="950976"/>
            <a:ext cx="5486400" cy="4846320"/>
          </a:xfrm>
          <a:prstGeom prst="roundRect">
            <a:avLst>
              <a:gd name="adj" fmla="val 1132"/>
            </a:avLst>
          </a:prstGeom>
          <a:solidFill>
            <a:srgbClr val="0F172A"/>
          </a:solidFill>
          <a:ln w="12700">
            <a:solidFill>
              <a:srgbClr val="333333"/>
            </a:solidFill>
            <a:prstDash val="solid"/>
          </a:ln>
        </p:spPr>
      </p:sp>
      <p:sp>
        <p:nvSpPr>
          <p:cNvPr id="8" name="Text 6"/>
          <p:cNvSpPr/>
          <p:nvPr/>
        </p:nvSpPr>
        <p:spPr>
          <a:xfrm>
            <a:off x="768096" y="1078992"/>
            <a:ext cx="5120640" cy="4572000"/>
          </a:xfrm>
          <a:prstGeom prst="rect">
            <a:avLst/>
          </a:prstGeom>
          <a:noFill/>
          <a:ln/>
        </p:spPr>
        <p:txBody>
          <a:bodyPr wrap="square" lIns="0" tIns="0" rIns="0" bIns="0" rtlCol="0" anchor="t"/>
          <a:lstStyle/>
          <a:p>
            <a:pPr indent="0" marL="0">
              <a:lnSpc>
                <a:spcPts val="1180"/>
              </a:lnSpc>
              <a:buNone/>
            </a:pPr>
            <a:r>
              <a:rPr lang="en-US" sz="880" dirty="0">
                <a:solidFill>
                  <a:srgbClr val="7DD3FC"/>
                </a:solidFill>
              </a:rPr>
              <a:t>$ python3 tools/oracle.py
</a:t>
            </a:r>
            <a:pPr indent="0" marL="0">
              <a:lnSpc>
                <a:spcPts val="1180"/>
              </a:lnSpc>
              <a:buNone/>
            </a:pPr>
            <a:r>
              <a:rPr lang="en-US" sz="880" dirty="0">
                <a:solidFill>
                  <a:srgbClr val="64748B"/>
                </a:solidFill>
              </a:rPr>
              <a:t>PYTHIA DIFFERENTIAL ORACLE
(CPython 3.12  vs  PYTHIA -&gt; C -&gt; cc -O2)
</a:t>
            </a:r>
            <a:pPr indent="0" marL="0">
              <a:lnSpc>
                <a:spcPts val="1180"/>
              </a:lnSpc>
              <a:buNone/>
            </a:pPr>
            <a:r>
              <a:rPr lang="en-US" sz="880" dirty="0">
                <a:solidFill>
                  <a:srgbClr val="94A3B8"/>
                </a:solidFill>
              </a:rPr>
              <a:t>PROGRAM              CPython   PYTHIA  SPEEDUP  RESULT
</a:t>
            </a:r>
            <a:pPr indent="0" marL="0">
              <a:lnSpc>
                <a:spcPts val="1180"/>
              </a:lnSpc>
              <a:buNone/>
            </a:pPr>
            <a:r>
              <a:rPr lang="en-US" sz="880" dirty="0">
                <a:solidFill>
                  <a:srgbClr val="E2E8F0"/>
                </a:solidFill>
              </a:rPr>
              <a:t>t01_arith.py           21.5m     1.9m    11.0x  PASS
t02_lists.py           20.0m     3.1m     6.4x  PASS
t03_strings.py         18.7m     1.9m    10.0x  PASS
t04_control.py         19.9m     1.9m    10.8x  PASS
t05_floats.py          19.4m     1.9m    10.4x  PASS
t06_boolops.py         18.4m     1.8m    10.2x  PASS
t07_bubble.py          17.5m     2.3m     7.5x  PASS
t08_nested.py          25.3m     3.1m     8.1x  PASS
t09_sieve.py           92.8m     8.4m    11.1x  PASS
</a:t>
            </a:r>
            <a:pPr indent="0" marL="0">
              <a:lnSpc>
                <a:spcPts val="1180"/>
              </a:lnSpc>
              <a:buNone/>
            </a:pPr>
            <a:r>
              <a:rPr lang="en-US" sz="880" dirty="0">
                <a:solidFill>
                  <a:srgbClr val="F59E0B"/>
                </a:solidFill>
              </a:rPr>
              <a:t>t10_collatz.py       1508.8m   299.9m     5.0x  PASS
</a:t>
            </a:r>
            <a:pPr indent="0" marL="0">
              <a:lnSpc>
                <a:spcPts val="1180"/>
              </a:lnSpc>
              <a:buNone/>
            </a:pPr>
            <a:r>
              <a:rPr lang="en-US" sz="880" dirty="0">
                <a:solidFill>
                  <a:srgbClr val="E2E8F0"/>
                </a:solidFill>
              </a:rPr>
              <a:t>t11_matmul.py         168.4m    12.1m    14.0x  PASS
t12_err_index.py       18.1m     1.8m    10.3x  PASS
t13_err_zerodiv.py     19.9m     2.8m     7.0x  PASS
t14_edges.py           18.4m     1.9m     9.8x  PASS
</a:t>
            </a:r>
            <a:pPr indent="0" marL="0">
              <a:lnSpc>
                <a:spcPts val="1180"/>
              </a:lnSpc>
              <a:buNone/>
            </a:pPr>
            <a:r>
              <a:rPr lang="en-US" sz="880" dirty="0">
                <a:solidFill>
                  <a:srgbClr val="86EFAC"/>
                </a:solidFill>
              </a:rPr>
              <a:t>SUMMARY</a:t>
            </a:r>
            <a:endParaRPr lang="en-US" sz="880" dirty="0"/>
          </a:p>
          <a:p>
            <a:pPr indent="0" marL="0">
              <a:lnSpc>
                <a:spcPts val="1180"/>
              </a:lnSpc>
              <a:buNone/>
            </a:pPr>
            <a:r>
              <a:rPr lang="en-US" sz="880" dirty="0">
                <a:solidFill>
                  <a:srgbClr val="86EFAC"/>
                </a:solidFill>
              </a:rPr>
              <a:t>  semantic equivalence : 14/14 (100.0%)</a:t>
            </a:r>
            <a:endParaRPr lang="en-US" sz="880" dirty="0"/>
          </a:p>
          <a:p>
            <a:pPr indent="0" marL="0">
              <a:lnSpc>
                <a:spcPts val="1180"/>
              </a:lnSpc>
              <a:buNone/>
            </a:pPr>
            <a:r>
              <a:rPr lang="en-US" sz="880" dirty="0">
                <a:solidFill>
                  <a:srgbClr val="86EFAC"/>
                </a:solidFill>
              </a:rPr>
              <a:t>  type-checker recall  : 12/12 (100.0%)</a:t>
            </a:r>
            <a:endParaRPr lang="en-US" sz="880" dirty="0"/>
          </a:p>
          <a:p>
            <a:pPr indent="0" marL="0">
              <a:lnSpc>
                <a:spcPts val="1180"/>
              </a:lnSpc>
              <a:buNone/>
            </a:pPr>
            <a:r>
              <a:rPr lang="en-US" sz="880" dirty="0">
                <a:solidFill>
                  <a:srgbClr val="86EFAC"/>
                </a:solidFill>
              </a:rPr>
              <a:t>  median speedup       : 9.4x  (3.3x – 13.8x)</a:t>
            </a:r>
            <a:endParaRPr lang="en-US" sz="880" dirty="0"/>
          </a:p>
          <a:p>
            <a:pPr indent="0" marL="0">
              <a:lnSpc>
                <a:spcPts val="1180"/>
              </a:lnSpc>
              <a:buNone/>
            </a:pPr>
            <a:r>
              <a:rPr lang="en-US" sz="880" dirty="0">
                <a:solidFill>
                  <a:srgbClr val="86EFAC"/>
                </a:solidFill>
              </a:rPr>
              <a:t>  fidelity notes       : 123 across the suite</a:t>
            </a:r>
            <a:endParaRPr lang="en-US" sz="880" dirty="0"/>
          </a:p>
        </p:txBody>
      </p:sp>
      <p:sp>
        <p:nvSpPr>
          <p:cNvPr id="9" name="Text 7"/>
          <p:cNvSpPr/>
          <p:nvPr/>
        </p:nvSpPr>
        <p:spPr>
          <a:xfrm>
            <a:off x="566928" y="5870448"/>
            <a:ext cx="5486400" cy="329184"/>
          </a:xfrm>
          <a:prstGeom prst="rect">
            <a:avLst/>
          </a:prstGeom>
          <a:noFill/>
          <a:ln/>
        </p:spPr>
        <p:txBody>
          <a:bodyPr wrap="square" lIns="0" tIns="0" rIns="0" bIns="0" rtlCol="0" anchor="ctr"/>
          <a:lstStyle/>
          <a:p>
            <a:pPr indent="0" marL="0">
              <a:buNone/>
            </a:pPr>
            <a:r>
              <a:rPr lang="en-US" sz="950" i="1" dirty="0">
                <a:solidFill>
                  <a:srgbClr val="64748B"/>
                </a:solidFill>
              </a:rPr>
              <a:t>t12 and t13 verify exception parity — IndexError and ZeroDivisionError are raised by the binary exactly where CPython raises them.</a:t>
            </a:r>
            <a:endParaRPr lang="en-US" sz="950" dirty="0"/>
          </a:p>
        </p:txBody>
      </p:sp>
      <p:sp>
        <p:nvSpPr>
          <p:cNvPr id="10" name="Text 8"/>
          <p:cNvSpPr/>
          <p:nvPr/>
        </p:nvSpPr>
        <p:spPr>
          <a:xfrm>
            <a:off x="6327648" y="950976"/>
            <a:ext cx="5303520" cy="274320"/>
          </a:xfrm>
          <a:prstGeom prst="rect">
            <a:avLst/>
          </a:prstGeom>
          <a:noFill/>
          <a:ln/>
        </p:spPr>
        <p:txBody>
          <a:bodyPr wrap="square" lIns="0" tIns="0" rIns="0" bIns="0" rtlCol="0" anchor="ctr"/>
          <a:lstStyle/>
          <a:p>
            <a:pPr indent="0" marL="0">
              <a:buNone/>
            </a:pPr>
            <a:r>
              <a:rPr lang="en-US" sz="1300" b="1" dirty="0">
                <a:solidFill>
                  <a:srgbClr val="0F172A"/>
                </a:solidFill>
              </a:rPr>
              <a:t>Semantic Fidelity Report — generated, not written</a:t>
            </a:r>
            <a:endParaRPr lang="en-US" sz="1300" dirty="0"/>
          </a:p>
        </p:txBody>
      </p:sp>
      <p:sp>
        <p:nvSpPr>
          <p:cNvPr id="11" name="Shape 9"/>
          <p:cNvSpPr/>
          <p:nvPr/>
        </p:nvSpPr>
        <p:spPr>
          <a:xfrm>
            <a:off x="6327648" y="1280160"/>
            <a:ext cx="5294376" cy="3200400"/>
          </a:xfrm>
          <a:prstGeom prst="roundRect">
            <a:avLst>
              <a:gd name="adj" fmla="val 1714"/>
            </a:avLst>
          </a:prstGeom>
          <a:solidFill>
            <a:srgbClr val="0F172A"/>
          </a:solidFill>
          <a:ln w="12700">
            <a:solidFill>
              <a:srgbClr val="333333"/>
            </a:solidFill>
            <a:prstDash val="solid"/>
          </a:ln>
        </p:spPr>
      </p:sp>
      <p:sp>
        <p:nvSpPr>
          <p:cNvPr id="12" name="Text 10"/>
          <p:cNvSpPr/>
          <p:nvPr/>
        </p:nvSpPr>
        <p:spPr>
          <a:xfrm>
            <a:off x="6510528" y="1389888"/>
            <a:ext cx="4937760" cy="2980944"/>
          </a:xfrm>
          <a:prstGeom prst="rect">
            <a:avLst/>
          </a:prstGeom>
          <a:noFill/>
          <a:ln/>
        </p:spPr>
        <p:txBody>
          <a:bodyPr wrap="square" lIns="0" tIns="0" rIns="0" bIns="0" rtlCol="0" anchor="t"/>
          <a:lstStyle/>
          <a:p>
            <a:pPr indent="0" marL="0">
              <a:lnSpc>
                <a:spcPts val="1120"/>
              </a:lnSpc>
              <a:buNone/>
            </a:pPr>
            <a:r>
              <a:rPr lang="en-US" sz="860" dirty="0">
                <a:solidFill>
                  <a:srgbClr val="7DD3FC"/>
                </a:solidFill>
              </a:rPr>
              <a:t>$ python3 -m pythia.cli t01_arith.py --fidelity
</a:t>
            </a:r>
            <a:pPr indent="0" marL="0">
              <a:lnSpc>
                <a:spcPts val="1120"/>
              </a:lnSpc>
              <a:buNone/>
            </a:pPr>
            <a:r>
              <a:rPr lang="en-US" sz="860" dirty="0">
                <a:solidFill>
                  <a:srgbClr val="86EFAC"/>
                </a:solidFill>
              </a:rPr>
              <a:t>SEMANTIC FIDELITY REPORT
  12 exact   6 guarded   2 divergent
</a:t>
            </a:r>
            <a:pPr indent="0" marL="0">
              <a:lnSpc>
                <a:spcPts val="1120"/>
              </a:lnSpc>
              <a:buNone/>
            </a:pPr>
            <a:r>
              <a:rPr lang="en-US" sz="860" dirty="0">
                <a:solidFill>
                  <a:srgbClr val="F59E0B"/>
                </a:solidFill>
              </a:rPr>
              <a:t>3:19: [EXACT] D2 floor-division rounding
</a:t>
            </a:r>
            <a:pPr indent="0" marL="0">
              <a:lnSpc>
                <a:spcPts val="1120"/>
              </a:lnSpc>
              <a:buNone/>
            </a:pPr>
            <a:r>
              <a:rPr lang="en-US" sz="860" dirty="0">
                <a:solidFill>
                  <a:srgbClr val="CBD5E1"/>
                </a:solidFill>
              </a:rPr>
              <a:t>    Python floors toward -inf; C truncates toward
    zero, so -7 // 2 is -4 in Python and -3 in C.
    mitigation: py_floordiv_i64; exact.
</a:t>
            </a:r>
            <a:pPr indent="0" marL="0">
              <a:lnSpc>
                <a:spcPts val="1120"/>
              </a:lnSpc>
              <a:buNone/>
            </a:pPr>
            <a:r>
              <a:rPr lang="en-US" sz="860" dirty="0">
                <a:solidFill>
                  <a:srgbClr val="F59E0B"/>
                </a:solidFill>
              </a:rPr>
              <a:t>3:27: [EXACT] D3 modulo sign convention
</a:t>
            </a:r>
            <a:pPr indent="0" marL="0">
              <a:lnSpc>
                <a:spcPts val="1120"/>
              </a:lnSpc>
              <a:buNone/>
            </a:pPr>
            <a:r>
              <a:rPr lang="en-US" sz="860" dirty="0">
                <a:solidFill>
                  <a:srgbClr val="CBD5E1"/>
                </a:solidFill>
              </a:rPr>
              <a:t>    In Python the sign of % follows the divisor;
    in C it follows the dividend, so -7 % 2 is 1
    in Python and -1 in C.
    mitigation: py_mod_i64; exact.
</a:t>
            </a:r>
            <a:pPr indent="0" marL="0">
              <a:lnSpc>
                <a:spcPts val="1120"/>
              </a:lnSpc>
              <a:buNone/>
            </a:pPr>
            <a:r>
              <a:rPr lang="en-US" sz="860" dirty="0">
                <a:solidFill>
                  <a:srgbClr val="F59E0B"/>
                </a:solidFill>
              </a:rPr>
              <a:t>3:34: [EXACT] D4 true division yields float
</a:t>
            </a:r>
            <a:pPr indent="0" marL="0">
              <a:lnSpc>
                <a:spcPts val="1120"/>
              </a:lnSpc>
              <a:buNone/>
            </a:pPr>
            <a:r>
              <a:rPr lang="en-US" sz="860" dirty="0">
                <a:solidFill>
                  <a:srgbClr val="CBD5E1"/>
                </a:solidFill>
              </a:rPr>
              <a:t>    mitigation: operands widened to double;</a:t>
            </a:r>
            <a:endParaRPr lang="en-US" sz="860" dirty="0"/>
          </a:p>
          <a:p>
            <a:pPr indent="0" marL="0">
              <a:lnSpc>
                <a:spcPts val="1120"/>
              </a:lnSpc>
              <a:buNone/>
            </a:pPr>
            <a:r>
              <a:rPr lang="en-US" sz="860" dirty="0">
                <a:solidFill>
                  <a:srgbClr val="CBD5E1"/>
                </a:solidFill>
              </a:rPr>
              <a:t>    ZeroDivisionError preserved.</a:t>
            </a:r>
            <a:endParaRPr lang="en-US" sz="860" dirty="0"/>
          </a:p>
        </p:txBody>
      </p:sp>
      <p:sp>
        <p:nvSpPr>
          <p:cNvPr id="13" name="Shape 11"/>
          <p:cNvSpPr/>
          <p:nvPr/>
        </p:nvSpPr>
        <p:spPr>
          <a:xfrm>
            <a:off x="6327648" y="4608576"/>
            <a:ext cx="5294376" cy="1188720"/>
          </a:xfrm>
          <a:prstGeom prst="roundRect">
            <a:avLst>
              <a:gd name="adj" fmla="val 6154"/>
            </a:avLst>
          </a:prstGeom>
          <a:solidFill>
            <a:srgbClr val="FFFBEB"/>
          </a:solidFill>
          <a:ln w="9525">
            <a:solidFill>
              <a:srgbClr val="FDE68A"/>
            </a:solidFill>
            <a:prstDash val="solid"/>
          </a:ln>
        </p:spPr>
      </p:sp>
      <p:sp>
        <p:nvSpPr>
          <p:cNvPr id="14" name="Text 12"/>
          <p:cNvSpPr/>
          <p:nvPr/>
        </p:nvSpPr>
        <p:spPr>
          <a:xfrm>
            <a:off x="6528816" y="4745736"/>
            <a:ext cx="4892040" cy="219456"/>
          </a:xfrm>
          <a:prstGeom prst="rect">
            <a:avLst/>
          </a:prstGeom>
          <a:noFill/>
          <a:ln/>
        </p:spPr>
        <p:txBody>
          <a:bodyPr wrap="square" lIns="0" tIns="0" rIns="0" bIns="0" rtlCol="0" anchor="ctr"/>
          <a:lstStyle/>
          <a:p>
            <a:pPr indent="0" marL="0">
              <a:buNone/>
            </a:pPr>
            <a:r>
              <a:rPr lang="en-US" sz="950" b="1" spc="90" kern="0" dirty="0">
                <a:solidFill>
                  <a:srgbClr val="B45309"/>
                </a:solidFill>
              </a:rPr>
              <a:t>WHY IT LIVES IN THE COMPILER</a:t>
            </a:r>
            <a:endParaRPr lang="en-US" sz="950" dirty="0"/>
          </a:p>
        </p:txBody>
      </p:sp>
      <p:sp>
        <p:nvSpPr>
          <p:cNvPr id="15" name="Text 13"/>
          <p:cNvSpPr/>
          <p:nvPr/>
        </p:nvSpPr>
        <p:spPr>
          <a:xfrm>
            <a:off x="6528816" y="4983480"/>
            <a:ext cx="4892040" cy="685800"/>
          </a:xfrm>
          <a:prstGeom prst="rect">
            <a:avLst/>
          </a:prstGeom>
          <a:noFill/>
          <a:ln/>
        </p:spPr>
        <p:txBody>
          <a:bodyPr wrap="square" lIns="0" tIns="0" rIns="0" bIns="0" rtlCol="0" anchor="t"/>
          <a:lstStyle/>
          <a:p>
            <a:pPr indent="0" marL="0">
              <a:lnSpc>
                <a:spcPts val="1350"/>
              </a:lnSpc>
              <a:buNone/>
            </a:pPr>
            <a:r>
              <a:rPr lang="en-US" sz="1050" dirty="0">
                <a:solidFill>
                  <a:srgbClr val="334155"/>
                </a:solidFill>
              </a:rPr>
              <a:t>A hand-written divergence list goes stale the moment the emitter changes. This one is regenerated from the program being compiled, so it cannot describe a translation that no longer happens.</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PYTHIA — Review 1</dc:title>
  <dc:subject>PptxGenJS Presentation</dc:subject>
  <dc:creator>BCSE307L Team 2</dc:creator>
  <cp:lastModifiedBy>BCSE307L Team 2</cp:lastModifiedBy>
  <cp:revision>1</cp:revision>
  <dcterms:created xsi:type="dcterms:W3CDTF">2026-08-03T11:39:56Z</dcterms:created>
  <dcterms:modified xsi:type="dcterms:W3CDTF">2026-08-03T11:39:56Z</dcterms:modified>
</cp:coreProperties>
</file>